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Roboto Mon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ono-bold.fntdata"/><Relationship Id="rId25" Type="http://schemas.openxmlformats.org/officeDocument/2006/relationships/font" Target="fonts/RobotoMono-regular.fntdata"/><Relationship Id="rId28" Type="http://schemas.openxmlformats.org/officeDocument/2006/relationships/font" Target="fonts/RobotoMono-boldItalic.fntdata"/><Relationship Id="rId27" Type="http://schemas.openxmlformats.org/officeDocument/2006/relationships/font" Target="fonts/RobotoMon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reproducible-builds.org/docs/definition/"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napshot.debian.org/"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8f0307dd1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8f0307dd1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299af1d47b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g299af1d47b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99af1d47b4_0_6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99af1d47b4_0_6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99af1d47b4_0_6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99af1d47b4_0_6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lego x-wing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know where I am going to build my lego X-wing - The kitchen table. It is the same table I build all my models on. I sit in the same seat with the same mat in front of 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box is sealed so I know everything in it is what I need to build the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take out the instructions. They were sealed in the box so I know they are the right instructions.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take out the bag of parts. Again sealed in the box. The bag has the signature from Quality Assurance tech #12. I know the parts are right because I trust QA tech #12 and I know it is their signature </a:t>
            </a:r>
            <a:r>
              <a:rPr lang="en"/>
              <a:t>because</a:t>
            </a:r>
            <a:r>
              <a:rPr lang="en"/>
              <a:t> I have seen it before.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a:t>
            </a:r>
            <a:r>
              <a:rPr lang="en"/>
              <a:t>follow</a:t>
            </a:r>
            <a:r>
              <a:rPr lang="en"/>
              <a:t> the instructions and build the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When I am done I </a:t>
            </a:r>
            <a:r>
              <a:rPr lang="en"/>
              <a:t>disassemble</a:t>
            </a:r>
            <a:r>
              <a:rPr lang="en"/>
              <a:t> the model put all the parts and instructions back in the box… a week later I pull the box off the shelf to build it again. I am at the table in my same seat with my same mat and dump the contents of the box on the table.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have no QA tech signature because the bag was thrown out. My sibling needed some parts for their build so they nabbed a few bricks. And in the process they switched the </a:t>
            </a:r>
            <a:r>
              <a:rPr lang="en"/>
              <a:t>series</a:t>
            </a:r>
            <a:r>
              <a:rPr lang="en"/>
              <a:t> 9 instructions and put the series 7 in the box.</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I have to snag some parts from my Death Star and wing the build because I don’t have instructions…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99af1d47b4_0_8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99af1d47b4_0_8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Debian definition of “reproducible builds” in </a:t>
            </a:r>
            <a:r>
              <a:rPr lang="en" u="sng">
                <a:solidFill>
                  <a:schemeClr val="hlink"/>
                </a:solidFill>
                <a:hlinkClick r:id="rId2"/>
              </a:rPr>
              <a:t>reproducible-builds.org initiative 2</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build is reproducible if given the same source code, build environment, and build instructions, any party can recreate bit-by-bit identical copies of all specified artifacts.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The relevant attributes of the build environment, the build instructions, and the source code as well as the expected reproducible artifacts are defined by the authors or distributors.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The artifacts of a build are the parts of the build results that are the desired primary output.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99af1d47b4_0_7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99af1d47b4_0_7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Reproducible builds ensure the integrity of software by focusing on determinism.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Determinism means that every aspect of the build process is predictable and consistent.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When software builds are deterministic, it becomes exceedingly difficult for attackers to introduce subtle changes or vulnerabilities during the compilation and distribution process.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Any unauthorized modifications would be immediately apparent because the binaries would differ from the expected, legitimate ones.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99af1d47b4_0_7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99af1d47b4_0_7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Basic determinism: Doing a full build of the same source code in the same directory on the same machine produces exactly the same output every time, in the sense that a content hash of the final build artifacts and of all intermediate files does not change.</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Incremental basic determinism: Like basic determinism, but the output binaries also don’t change in partial rebuilds. In build systems that track file modification times to decide when to rebuild, this means for example that updating the modification time on a C++ source file (without doing any actual changes) and rebuilding will produce the same output as a full build.</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Local determinism: Like incremental basic determinism, but builds are also independent of the name of the build directory. Builds of the same source code on the same machine produce exactly the same output every time, independent of the location of the source checkout directory or the build directory</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Universal determinism: Like 3, but builds are also independent of the machine the build runs on. Everybody that checks out the project at a given revision into any directory and builds it following the build instructions ends up with exactly the same bits in the build output.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99af1d47b4_0_7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99af1d47b4_0_7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The build environment itself.</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Variations in toolchain versions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Variations in dynamic linked libraries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Variations in configurations enabled/disabled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Timestamps.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Injected during the build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Injected after the build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Generated during the build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Files.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Encoding, ordering, permissions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Locale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Build environments with different Locale settings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Dependencies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Getting latest is not conducive to reproducibility</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Randomness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Unsorted data structures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Find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Never trust python sorting… etc.</a:t>
            </a:r>
            <a:endParaRPr>
              <a:solidFill>
                <a:schemeClr val="dk1"/>
              </a:solidFill>
            </a:endParaRPr>
          </a:p>
          <a:p>
            <a:pPr indent="0" lvl="0" marL="0" rtl="0" algn="l">
              <a:lnSpc>
                <a:spcPct val="115000"/>
              </a:lnSpc>
              <a:spcBef>
                <a:spcPts val="0"/>
              </a:spcBef>
              <a:spcAft>
                <a:spcPts val="0"/>
              </a:spcAft>
              <a:buNone/>
            </a:pPr>
            <a:r>
              <a:rPr lang="en">
                <a:solidFill>
                  <a:schemeClr val="dk1"/>
                </a:solidFill>
              </a:rPr>
              <a:t>Packaging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Timestamps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Host info</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Locale</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99af1d47b4_0_7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99af1d47b4_0_7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Are your builds repeatable?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Are your environments immutable?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Is your </a:t>
            </a:r>
            <a:r>
              <a:rPr lang="en"/>
              <a:t>source available and verifiable?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9ab992185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9ab992185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Define the Build Environment:</a:t>
            </a:r>
            <a:endParaRPr/>
          </a:p>
          <a:p>
            <a:pPr indent="0" lvl="0" marL="0" rtl="0" algn="l">
              <a:lnSpc>
                <a:spcPct val="115000"/>
              </a:lnSpc>
              <a:spcBef>
                <a:spcPts val="1200"/>
              </a:spcBef>
              <a:spcAft>
                <a:spcPts val="0"/>
              </a:spcAft>
              <a:buClr>
                <a:schemeClr val="dk1"/>
              </a:buClr>
              <a:buSzPts val="1100"/>
              <a:buFont typeface="Arial"/>
              <a:buNone/>
            </a:pPr>
            <a:r>
              <a:rPr lang="en"/>
              <a:t>It's crucial to have a clear definition of the build environment. Users should be capable of reconstructing the build environment as closely as possible to the original setup, ensuring that the output matches the original. This definition can be established in advance or documented during the build process.</a:t>
            </a:r>
            <a:endParaRPr/>
          </a:p>
          <a:p>
            <a:pPr indent="0" lvl="0" marL="0" rtl="0" algn="l">
              <a:lnSpc>
                <a:spcPct val="115000"/>
              </a:lnSpc>
              <a:spcBef>
                <a:spcPts val="1200"/>
              </a:spcBef>
              <a:spcAft>
                <a:spcPts val="0"/>
              </a:spcAft>
              <a:buClr>
                <a:schemeClr val="dk1"/>
              </a:buClr>
              <a:buSzPts val="1100"/>
              <a:buFont typeface="Arial"/>
              <a:buNone/>
            </a:pPr>
            <a:r>
              <a:rPr lang="en"/>
              <a:t>Distribute the Build Environment:</a:t>
            </a:r>
            <a:endParaRPr/>
          </a:p>
          <a:p>
            <a:pPr indent="0" lvl="0" marL="0" rtl="0" algn="l">
              <a:lnSpc>
                <a:spcPct val="115000"/>
              </a:lnSpc>
              <a:spcBef>
                <a:spcPts val="1200"/>
              </a:spcBef>
              <a:spcAft>
                <a:spcPts val="0"/>
              </a:spcAft>
              <a:buClr>
                <a:schemeClr val="dk1"/>
              </a:buClr>
              <a:buSzPts val="1100"/>
              <a:buFont typeface="Arial"/>
              <a:buNone/>
            </a:pPr>
            <a:r>
              <a:rPr lang="en"/>
              <a:t>Users need access to information about the build environment to successfully replicate the build. Ideally, this description should be easily understood by both humans and automated systems, and it should be stored in a version control system like Git for easy retrieval and sharing.</a:t>
            </a:r>
            <a:endParaRPr/>
          </a:p>
          <a:p>
            <a:pPr indent="0" lvl="0" marL="0" rtl="0" algn="l">
              <a:lnSpc>
                <a:spcPct val="115000"/>
              </a:lnSpc>
              <a:spcBef>
                <a:spcPts val="1200"/>
              </a:spcBef>
              <a:spcAft>
                <a:spcPts val="0"/>
              </a:spcAft>
              <a:buClr>
                <a:schemeClr val="dk1"/>
              </a:buClr>
              <a:buSzPts val="1100"/>
              <a:buFont typeface="Arial"/>
              <a:buNone/>
            </a:pPr>
            <a:r>
              <a:rPr lang="en"/>
              <a:t>Provide the Comparison Protocol:</a:t>
            </a:r>
            <a:endParaRPr/>
          </a:p>
          <a:p>
            <a:pPr indent="0" lvl="0" marL="0" rtl="0" algn="l">
              <a:lnSpc>
                <a:spcPct val="115000"/>
              </a:lnSpc>
              <a:spcBef>
                <a:spcPts val="1200"/>
              </a:spcBef>
              <a:spcAft>
                <a:spcPts val="0"/>
              </a:spcAft>
              <a:buClr>
                <a:schemeClr val="dk1"/>
              </a:buClr>
              <a:buSzPts val="1100"/>
              <a:buFont typeface="Arial"/>
              <a:buNone/>
            </a:pPr>
            <a:r>
              <a:rPr lang="en"/>
              <a:t>To ensure the reproducibility of builds, users should have a straightforward method for recreating the build environment, obtaining the source code, conducting the build, and comparing the outcomes. The comparison protocol should be user-friendly and ideally involve simple methods like comparing bytes or cryptographic hash values, making it both easy to perform and comprehend.</a:t>
            </a:r>
            <a:endParaRPr/>
          </a:p>
          <a:p>
            <a:pPr indent="0" lvl="0" marL="0" rtl="0" algn="l">
              <a:spcBef>
                <a:spcPts val="12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299af1d47b4_0_7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299af1d47b4_0_7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Infrastructure as Code and gitOps, using manifests checked into an SCM system to ensure deployments can be reproduced.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Containerize the toolchains, immutable is good. Have known good containers. Dockerfiles are not enough.</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Pin your versions. For everything. Tools, OS, compiler, source, etc…</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Record versions, types, variables for your build environment, tools, inputs, processes, and results. SHA512 and Cryptographic Signatures are your friends.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Hermetic builds, don’t rely on the network during builds. Vendor your dependencies.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Remove randomness from the resulting binary. Do not inject timestamps, signatures, or random data into the binaries during or after the build process. Sometimes it is unavoidable as transitive dependencies do not play by your rules.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99af1d47b4_0_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99af1d47b4_0_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In Debian’s buildd system binaries are built twice and compared against each other.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Build </a:t>
            </a:r>
            <a:r>
              <a:rPr lang="en">
                <a:solidFill>
                  <a:schemeClr val="dk1"/>
                </a:solidFill>
              </a:rPr>
              <a:t>environment</a:t>
            </a:r>
            <a:r>
              <a:rPr lang="en">
                <a:solidFill>
                  <a:schemeClr val="dk1"/>
                </a:solidFill>
              </a:rPr>
              <a:t> is well defined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Build instructions are part of the packaging tools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Build environment information is captured in a .buildinfo file that is cryptographically signed and stored separate from the binary. </a:t>
            </a:r>
            <a:endParaRPr>
              <a:solidFill>
                <a:schemeClr val="dk1"/>
              </a:solidFill>
            </a:endParaRPr>
          </a:p>
          <a:p>
            <a:pPr indent="-298450" lvl="0" marL="457200" rtl="0" algn="l">
              <a:lnSpc>
                <a:spcPct val="115000"/>
              </a:lnSpc>
              <a:spcBef>
                <a:spcPts val="0"/>
              </a:spcBef>
              <a:spcAft>
                <a:spcPts val="0"/>
              </a:spcAft>
              <a:buSzPts val="1100"/>
              <a:buChar char="●"/>
            </a:pPr>
            <a:r>
              <a:rPr lang="en">
                <a:solidFill>
                  <a:schemeClr val="dk1"/>
                </a:solidFill>
              </a:rPr>
              <a:t>Archived source tar balls are available at </a:t>
            </a:r>
            <a:r>
              <a:rPr lang="en" u="sng">
                <a:solidFill>
                  <a:srgbClr val="1155CC"/>
                </a:solidFill>
                <a:hlinkClick r:id="rId2">
                  <a:extLst>
                    <a:ext uri="{A12FA001-AC4F-418D-AE19-62706E023703}">
                      <ahyp:hlinkClr val="tx"/>
                    </a:ext>
                  </a:extLst>
                </a:hlinkClick>
              </a:rPr>
              <a:t>http://snapshot.debian.org/</a:t>
            </a:r>
            <a:r>
              <a:rPr lang="en">
                <a:solidFill>
                  <a:schemeClr val="dk1"/>
                </a:solidFill>
              </a:rPr>
              <a:t> (and other locations).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Fedora can’t do reproducible builds by the Debian definition because the technology makes it impossible.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Signatures are embedded in the rpm.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Resulting rebuilds outside of the original build system (where the signing key is present) are always missing the signature.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Timestamps are injected in </a:t>
            </a:r>
            <a:r>
              <a:rPr lang="en">
                <a:solidFill>
                  <a:schemeClr val="dk1"/>
                </a:solidFill>
              </a:rPr>
              <a:t>several</a:t>
            </a:r>
            <a:r>
              <a:rPr lang="en">
                <a:solidFill>
                  <a:schemeClr val="dk1"/>
                </a:solidFill>
              </a:rPr>
              <a:t> places during the builds </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Another issue that prevents reproducible builds by the definition I gave earlier is the presence of </a:t>
            </a:r>
            <a:r>
              <a:rPr i="1" lang="en">
                <a:solidFill>
                  <a:srgbClr val="188038"/>
                </a:solidFill>
                <a:latin typeface="Roboto Mono"/>
                <a:ea typeface="Roboto Mono"/>
                <a:cs typeface="Roboto Mono"/>
                <a:sym typeface="Roboto Mono"/>
              </a:rPr>
              <a:t>BUILDTIME</a:t>
            </a:r>
            <a:r>
              <a:rPr lang="en">
                <a:solidFill>
                  <a:schemeClr val="dk1"/>
                </a:solidFill>
              </a:rPr>
              <a:t> and </a:t>
            </a:r>
            <a:r>
              <a:rPr i="1" lang="en">
                <a:solidFill>
                  <a:srgbClr val="188038"/>
                </a:solidFill>
                <a:latin typeface="Roboto Mono"/>
                <a:ea typeface="Roboto Mono"/>
                <a:cs typeface="Roboto Mono"/>
                <a:sym typeface="Roboto Mono"/>
              </a:rPr>
              <a:t>BUILDHOST</a:t>
            </a:r>
            <a:r>
              <a:rPr lang="en">
                <a:solidFill>
                  <a:schemeClr val="dk1"/>
                </a:solidFill>
              </a:rPr>
              <a:t> in the rpm header. Both are pulled from the build environment when they are built. BUILDTIME is almost always guaranteed to be different.</a:t>
            </a:r>
            <a:endParaRPr>
              <a:solidFill>
                <a:schemeClr val="dk1"/>
              </a:solidFill>
            </a:endParaRPr>
          </a:p>
          <a:p>
            <a:pPr indent="0" lvl="0" marL="0" rtl="0" algn="l">
              <a:lnSpc>
                <a:spcPct val="115000"/>
              </a:lnSpc>
              <a:spcBef>
                <a:spcPts val="1200"/>
              </a:spcBef>
              <a:spcAft>
                <a:spcPts val="0"/>
              </a:spcAft>
              <a:buNone/>
            </a:pPr>
            <a:r>
              <a:rPr lang="en">
                <a:solidFill>
                  <a:schemeClr val="dk1"/>
                </a:solidFill>
              </a:rPr>
              <a:t>Another field that can be affected is </a:t>
            </a:r>
            <a:r>
              <a:rPr i="1" lang="en">
                <a:solidFill>
                  <a:srgbClr val="188038"/>
                </a:solidFill>
                <a:latin typeface="Roboto Mono"/>
                <a:ea typeface="Roboto Mono"/>
                <a:cs typeface="Roboto Mono"/>
                <a:sym typeface="Roboto Mono"/>
              </a:rPr>
              <a:t>SOURCEPACKAGEID</a:t>
            </a:r>
            <a:r>
              <a:rPr lang="en">
                <a:solidFill>
                  <a:schemeClr val="dk1"/>
                </a:solidFill>
              </a:rPr>
              <a:t> is different because </a:t>
            </a:r>
            <a:r>
              <a:rPr i="1" lang="en">
                <a:solidFill>
                  <a:srgbClr val="188038"/>
                </a:solidFill>
                <a:latin typeface="Roboto Mono"/>
                <a:ea typeface="Roboto Mono"/>
                <a:cs typeface="Roboto Mono"/>
                <a:sym typeface="Roboto Mono"/>
              </a:rPr>
              <a:t>BUILDTIME</a:t>
            </a:r>
            <a:r>
              <a:rPr lang="en">
                <a:solidFill>
                  <a:schemeClr val="dk1"/>
                </a:solidFill>
              </a:rPr>
              <a:t> and other fields were different in the rebuilt srpm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Debian goes through a lot of work to make their builds reproducible. The .buildinfo allows rebuilders to use the exact toolchain versions that were used during the initial build. They try and remove the randomness from the built binary.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Debian introduced a fix for the timestamp injection issue during rebuilds. The SOURCE_DATE_EPOCH for a package can be set during build time so that any timestamps in the build process match the original timestamp.</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Fedora’s packaging technology definitely throws a monkey wrench in the ability to do reproducible builds.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99af1d47b4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99af1d47b4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Fedora rpms are built in a well-defined environment.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 Koji build system uses a tool called mock to build rpms.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As part of the process mock uses systemd-nspawn to start a build in an isolated container, that in turn installs packages using dnf.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Koji records the build environment during the build.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Koji can provide that list using the getBuildrootListing() call.</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Fedora build bits are stored in git repos and have tools like fedpkg that make retrieving the source for a build easy. You still need a lot of build environment context to do a reproducible build.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Outside of fedpkg RPMs have Source RPMs that provide the </a:t>
            </a:r>
            <a:r>
              <a:rPr i="1" lang="en">
                <a:solidFill>
                  <a:schemeClr val="dk1"/>
                </a:solidFill>
              </a:rPr>
              <a:t>source code</a:t>
            </a:r>
            <a:r>
              <a:rPr lang="en">
                <a:solidFill>
                  <a:schemeClr val="dk1"/>
                </a:solidFill>
              </a:rPr>
              <a:t>, </a:t>
            </a:r>
            <a:r>
              <a:rPr i="1" lang="en">
                <a:solidFill>
                  <a:schemeClr val="dk1"/>
                </a:solidFill>
              </a:rPr>
              <a:t>build instructions, and dependent list </a:t>
            </a:r>
            <a:r>
              <a:rPr lang="en">
                <a:solidFill>
                  <a:schemeClr val="dk1"/>
                </a:solidFill>
              </a:rPr>
              <a:t>one would need as the input to reproduce the build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If we exclude the known fields in an RPM that will differ from the original we could do a pretty fair comparison of the payload that should be the same.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So with a looser definition of reproducible Fedora maybe has a case for reproducibility.</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Debian has had struggles with their own definition lately.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Recently Debian announced that kernel modules will be signed with an ephemeral key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Makes reproducible builds by the Debian definition impossible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No better solution exists but they have some plans (if you want to contribute)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Kernel modules will be signed with an ephemeral key</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 modules will not longer be signed using the Secure Boot CA like the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EFI kernel image itself.  Instead a key will be created during the build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and thrown away after.</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Yes, this will make the build unreproducible, but no better solution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currently exists.  There are some plans, but no-one is working on them.</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If a suitable replacement shows up, we can always switch to that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solution.</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df0cf1d5a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df0cf1d5a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Ideally we would have multiple pipelines build the same source code. We would then compare the results and they match.</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t>This covers several scenarios.</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t>The source are not compromised.</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t>The inputs are not compromised.</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t>The instructions are not compromised.</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t>The environment is not compromised.</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99af1d47b4_0_7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99af1d47b4_0_7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99af1d47b4_0_7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99af1d47b4_0_7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99af1d47b4_0_8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99af1d47b4_0_8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99af1d47b4_0_8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99af1d47b4_0_8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de4e47ca2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de4e47ca2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reproducible-builds.org/docs/definition/"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1" Type="http://schemas.openxmlformats.org/officeDocument/2006/relationships/hyperlink" Target="https://salsa.debian.org/reproducible-builds/debian-verification-build-experiment" TargetMode="External"/><Relationship Id="rId10" Type="http://schemas.openxmlformats.org/officeDocument/2006/relationships/hyperlink" Target="https://diffoscope.org/" TargetMode="External"/><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reproducible-builds.org" TargetMode="External"/><Relationship Id="rId4" Type="http://schemas.openxmlformats.org/officeDocument/2006/relationships/hyperlink" Target="https://lists.debian.org/debian-release/2023/09/msg00625.html" TargetMode="External"/><Relationship Id="rId9" Type="http://schemas.openxmlformats.org/officeDocument/2006/relationships/hyperlink" Target="https://discussion.fedoraproject.org/t/report-from-the-reproducible-builds-hackfest-during-flock-2023/87469" TargetMode="External"/><Relationship Id="rId5" Type="http://schemas.openxmlformats.org/officeDocument/2006/relationships/hyperlink" Target="https://lists.reproducible-builds.org/pipermail/rb-general/2023-September/003076.html" TargetMode="External"/><Relationship Id="rId6" Type="http://schemas.openxmlformats.org/officeDocument/2006/relationships/hyperlink" Target="https://buildinfos.debian.net/ftp-master.debian.org/buildinfo/2023/09/16/" TargetMode="External"/><Relationship Id="rId7" Type="http://schemas.openxmlformats.org/officeDocument/2006/relationships/hyperlink" Target="https://fossa.com/blog/three-pillars-reproducible-builds/" TargetMode="External"/><Relationship Id="rId8" Type="http://schemas.openxmlformats.org/officeDocument/2006/relationships/hyperlink" Target="https://blog.llvm.org/2019/11/deterministic-builds-with-clang-and-lld.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4"/>
          <p:cNvSpPr txBox="1"/>
          <p:nvPr>
            <p:ph type="ctrTitle"/>
          </p:nvPr>
        </p:nvSpPr>
        <p:spPr>
          <a:xfrm>
            <a:off x="311708" y="73510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solidFill>
                  <a:schemeClr val="lt1"/>
                </a:solidFill>
              </a:rPr>
              <a:t>Reproducible Builds</a:t>
            </a:r>
            <a:endParaRPr>
              <a:solidFill>
                <a:schemeClr val="lt1"/>
              </a:solidFill>
            </a:endParaRPr>
          </a:p>
        </p:txBody>
      </p:sp>
      <p:sp>
        <p:nvSpPr>
          <p:cNvPr id="59" name="Google Shape;59;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lt1"/>
                </a:solidFill>
              </a:rPr>
              <a:t>Robots recreate Electric Sheep</a:t>
            </a:r>
            <a:endParaRPr>
              <a:solidFill>
                <a:schemeClr val="lt1"/>
              </a:solidFill>
            </a:endParaRPr>
          </a:p>
        </p:txBody>
      </p:sp>
      <p:sp>
        <p:nvSpPr>
          <p:cNvPr id="60" name="Google Shape;60;p14"/>
          <p:cNvSpPr txBox="1"/>
          <p:nvPr/>
        </p:nvSpPr>
        <p:spPr>
          <a:xfrm>
            <a:off x="5732675" y="3720900"/>
            <a:ext cx="2028000" cy="7926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Brett Smith</a:t>
            </a:r>
            <a:endParaRPr/>
          </a:p>
          <a:p>
            <a:pPr indent="0" lvl="0" marL="0" rtl="0" algn="l">
              <a:spcBef>
                <a:spcPts val="0"/>
              </a:spcBef>
              <a:spcAft>
                <a:spcPts val="0"/>
              </a:spcAft>
              <a:buNone/>
            </a:pPr>
            <a:r>
              <a:rPr lang="en"/>
              <a:t>xbcsmith@gmail.com</a:t>
            </a:r>
            <a:endParaRPr/>
          </a:p>
          <a:p>
            <a:pPr indent="0" lvl="0" marL="0" rtl="0" algn="l">
              <a:spcBef>
                <a:spcPts val="0"/>
              </a:spcBef>
              <a:spcAft>
                <a:spcPts val="0"/>
              </a:spcAft>
              <a:buNone/>
            </a:pPr>
            <a:r>
              <a:rPr lang="en"/>
              <a:t>20240405</a:t>
            </a:r>
            <a:endParaRPr sz="2800">
              <a:solidFill>
                <a:srgbClr val="9900FF"/>
              </a:solidFill>
            </a:endParaRPr>
          </a:p>
        </p:txBody>
      </p:sp>
      <p:pic>
        <p:nvPicPr>
          <p:cNvPr id="61" name="Google Shape;61;p14"/>
          <p:cNvPicPr preferRelativeResize="0"/>
          <p:nvPr/>
        </p:nvPicPr>
        <p:blipFill>
          <a:blip r:embed="rId3">
            <a:alphaModFix/>
          </a:blip>
          <a:stretch>
            <a:fillRect/>
          </a:stretch>
        </p:blipFill>
        <p:spPr>
          <a:xfrm>
            <a:off x="7628770" y="3090897"/>
            <a:ext cx="1449327" cy="2052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112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Introduction to Secure Supply Chain</a:t>
            </a:r>
            <a:endParaRPr>
              <a:solidFill>
                <a:schemeClr val="lt1"/>
              </a:solidFill>
            </a:endParaRPr>
          </a:p>
        </p:txBody>
      </p:sp>
      <p:sp>
        <p:nvSpPr>
          <p:cNvPr id="67" name="Google Shape;67;p15"/>
          <p:cNvSpPr txBox="1"/>
          <p:nvPr>
            <p:ph idx="1" type="body"/>
          </p:nvPr>
        </p:nvSpPr>
        <p:spPr>
          <a:xfrm>
            <a:off x="311700" y="820150"/>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solidFill>
                  <a:schemeClr val="lt1"/>
                </a:solidFill>
              </a:rPr>
              <a:t>Define a Secure Supply Chain:</a:t>
            </a:r>
            <a:endParaRPr>
              <a:solidFill>
                <a:schemeClr val="lt1"/>
              </a:solidFill>
            </a:endParaRPr>
          </a:p>
          <a:p>
            <a:pPr indent="0" lvl="0" marL="0" rtl="0" algn="l">
              <a:spcBef>
                <a:spcPts val="1200"/>
              </a:spcBef>
              <a:spcAft>
                <a:spcPts val="0"/>
              </a:spcAft>
              <a:buNone/>
            </a:pPr>
            <a:r>
              <a:rPr lang="en">
                <a:solidFill>
                  <a:schemeClr val="lt1"/>
                </a:solidFill>
              </a:rPr>
              <a:t> A secure supply chain, in the context of software, encompasses the end-to-end process through which software is developed, tested, and delivered to end-users or customers. It includes all the steps from initial code development to distribution and maintenance.</a:t>
            </a:r>
            <a:endParaRPr>
              <a:solidFill>
                <a:schemeClr val="lt1"/>
              </a:solidFill>
            </a:endParaRPr>
          </a:p>
          <a:p>
            <a:pPr indent="0" lvl="0" marL="0" rtl="0" algn="l">
              <a:spcBef>
                <a:spcPts val="1200"/>
              </a:spcBef>
              <a:spcAft>
                <a:spcPts val="0"/>
              </a:spcAft>
              <a:buNone/>
            </a:pPr>
            <a:r>
              <a:rPr lang="en">
                <a:solidFill>
                  <a:schemeClr val="lt1"/>
                </a:solidFill>
              </a:rPr>
              <a:t>Importance of Supply Chain Security:</a:t>
            </a:r>
            <a:endParaRPr>
              <a:solidFill>
                <a:schemeClr val="lt1"/>
              </a:solidFill>
            </a:endParaRPr>
          </a:p>
          <a:p>
            <a:pPr indent="0" lvl="0" marL="0" rtl="0" algn="l">
              <a:spcBef>
                <a:spcPts val="1200"/>
              </a:spcBef>
              <a:spcAft>
                <a:spcPts val="0"/>
              </a:spcAft>
              <a:buNone/>
            </a:pPr>
            <a:r>
              <a:rPr lang="en">
                <a:solidFill>
                  <a:schemeClr val="lt1"/>
                </a:solidFill>
              </a:rPr>
              <a:t>The security of the software supply chain is vital because it directly impacts the safety and reliability of the software products that we use daily. A breach or vulnerability in the supply chain can have far-reaching consequences, from data breaches to system failures.</a:t>
            </a:r>
            <a:endParaRPr>
              <a:solidFill>
                <a:schemeClr val="lt1"/>
              </a:solidFill>
            </a:endParaRPr>
          </a:p>
          <a:p>
            <a:pPr indent="0" lvl="0" marL="0" rtl="0" algn="l">
              <a:spcBef>
                <a:spcPts val="1200"/>
              </a:spcBef>
              <a:spcAft>
                <a:spcPts val="0"/>
              </a:spcAft>
              <a:buNone/>
            </a:pPr>
            <a:r>
              <a:rPr lang="en">
                <a:solidFill>
                  <a:schemeClr val="lt1"/>
                </a:solidFill>
              </a:rPr>
              <a:t>The Role of Software in Supply Chains:</a:t>
            </a:r>
            <a:endParaRPr>
              <a:solidFill>
                <a:schemeClr val="lt1"/>
              </a:solidFill>
            </a:endParaRPr>
          </a:p>
          <a:p>
            <a:pPr indent="0" lvl="0" marL="0" rtl="0" algn="l">
              <a:spcBef>
                <a:spcPts val="1200"/>
              </a:spcBef>
              <a:spcAft>
                <a:spcPts val="1200"/>
              </a:spcAft>
              <a:buNone/>
            </a:pPr>
            <a:r>
              <a:rPr lang="en">
                <a:solidFill>
                  <a:schemeClr val="lt1"/>
                </a:solidFill>
              </a:rPr>
              <a:t>It's crucial to understand that software is not only a component within the supply chain; it often controls and orchestrates the entire process. From managing inventory in manufacturing to coordinating logistics in transportation, software is an integral part of modern supply chains.</a:t>
            </a:r>
            <a:endParaRPr>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1148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What are Reproducible Builds?</a:t>
            </a:r>
            <a:endParaRPr>
              <a:solidFill>
                <a:schemeClr val="lt1"/>
              </a:solidFill>
            </a:endParaRPr>
          </a:p>
        </p:txBody>
      </p:sp>
      <p:sp>
        <p:nvSpPr>
          <p:cNvPr id="73" name="Google Shape;73;p16"/>
          <p:cNvSpPr txBox="1"/>
          <p:nvPr>
            <p:ph idx="1" type="body"/>
          </p:nvPr>
        </p:nvSpPr>
        <p:spPr>
          <a:xfrm>
            <a:off x="311700" y="817575"/>
            <a:ext cx="8520600" cy="34164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b="1" lang="en">
                <a:solidFill>
                  <a:schemeClr val="lt1"/>
                </a:solidFill>
              </a:rPr>
              <a:t>Lego X-Wing fighter</a:t>
            </a:r>
            <a:endParaRPr b="1">
              <a:solidFill>
                <a:schemeClr val="lt1"/>
              </a:solidFill>
            </a:endParaRPr>
          </a:p>
          <a:p>
            <a:pPr indent="0" lvl="0" marL="0" rtl="0" algn="l">
              <a:spcBef>
                <a:spcPts val="1200"/>
              </a:spcBef>
              <a:spcAft>
                <a:spcPts val="0"/>
              </a:spcAft>
              <a:buNone/>
            </a:pPr>
            <a:r>
              <a:rPr b="1" lang="en">
                <a:solidFill>
                  <a:schemeClr val="lt1"/>
                </a:solidFill>
              </a:rPr>
              <a:t>Process:</a:t>
            </a:r>
            <a:endParaRPr b="1">
              <a:solidFill>
                <a:schemeClr val="lt1"/>
              </a:solidFill>
            </a:endParaRPr>
          </a:p>
          <a:p>
            <a:pPr indent="-342900" lvl="0" marL="457200" rtl="0" algn="l">
              <a:spcBef>
                <a:spcPts val="1200"/>
              </a:spcBef>
              <a:spcAft>
                <a:spcPts val="0"/>
              </a:spcAft>
              <a:buClr>
                <a:schemeClr val="lt1"/>
              </a:buClr>
              <a:buSzPts val="1800"/>
              <a:buAutoNum type="arabicPeriod"/>
            </a:pPr>
            <a:r>
              <a:rPr b="1" lang="en">
                <a:solidFill>
                  <a:schemeClr val="lt1"/>
                </a:solidFill>
              </a:rPr>
              <a:t>Setup the place to build the kit</a:t>
            </a:r>
            <a:endParaRPr b="1">
              <a:solidFill>
                <a:schemeClr val="lt1"/>
              </a:solidFill>
            </a:endParaRPr>
          </a:p>
          <a:p>
            <a:pPr indent="-342900" lvl="0" marL="457200" rtl="0" algn="l">
              <a:spcBef>
                <a:spcPts val="0"/>
              </a:spcBef>
              <a:spcAft>
                <a:spcPts val="0"/>
              </a:spcAft>
              <a:buClr>
                <a:schemeClr val="lt1"/>
              </a:buClr>
              <a:buSzPts val="1800"/>
              <a:buAutoNum type="arabicPeriod"/>
            </a:pPr>
            <a:r>
              <a:rPr b="1" lang="en">
                <a:solidFill>
                  <a:schemeClr val="lt1"/>
                </a:solidFill>
              </a:rPr>
              <a:t>Use the parts from the kit</a:t>
            </a:r>
            <a:endParaRPr b="1">
              <a:solidFill>
                <a:schemeClr val="lt1"/>
              </a:solidFill>
            </a:endParaRPr>
          </a:p>
          <a:p>
            <a:pPr indent="-342900" lvl="0" marL="457200" rtl="0" algn="l">
              <a:spcBef>
                <a:spcPts val="0"/>
              </a:spcBef>
              <a:spcAft>
                <a:spcPts val="0"/>
              </a:spcAft>
              <a:buClr>
                <a:schemeClr val="lt1"/>
              </a:buClr>
              <a:buSzPts val="1800"/>
              <a:buAutoNum type="arabicPeriod"/>
            </a:pPr>
            <a:r>
              <a:rPr b="1" lang="en">
                <a:solidFill>
                  <a:schemeClr val="lt1"/>
                </a:solidFill>
              </a:rPr>
              <a:t>Follow the assembly instructions from the kit</a:t>
            </a:r>
            <a:endParaRPr b="1">
              <a:solidFill>
                <a:schemeClr val="lt1"/>
              </a:solidFill>
            </a:endParaRPr>
          </a:p>
          <a:p>
            <a:pPr indent="0" lvl="0" marL="0" rtl="0" algn="l">
              <a:spcBef>
                <a:spcPts val="1200"/>
              </a:spcBef>
              <a:spcAft>
                <a:spcPts val="0"/>
              </a:spcAft>
              <a:buNone/>
            </a:pPr>
            <a:r>
              <a:rPr b="1" lang="en">
                <a:solidFill>
                  <a:schemeClr val="lt1"/>
                </a:solidFill>
              </a:rPr>
              <a:t>Results:</a:t>
            </a:r>
            <a:endParaRPr b="1">
              <a:solidFill>
                <a:schemeClr val="lt1"/>
              </a:solidFill>
            </a:endParaRPr>
          </a:p>
          <a:p>
            <a:pPr indent="0" lvl="0" marL="457200" rtl="0" algn="l">
              <a:spcBef>
                <a:spcPts val="1200"/>
              </a:spcBef>
              <a:spcAft>
                <a:spcPts val="0"/>
              </a:spcAft>
              <a:buNone/>
            </a:pPr>
            <a:r>
              <a:rPr b="1" lang="en">
                <a:solidFill>
                  <a:schemeClr val="lt1"/>
                </a:solidFill>
              </a:rPr>
              <a:t>You get the exact same X-Wing fighter Lego </a:t>
            </a:r>
            <a:r>
              <a:rPr b="1" lang="en">
                <a:solidFill>
                  <a:schemeClr val="lt1"/>
                </a:solidFill>
              </a:rPr>
              <a:t>intended</a:t>
            </a:r>
            <a:r>
              <a:rPr b="1" lang="en">
                <a:solidFill>
                  <a:schemeClr val="lt1"/>
                </a:solidFill>
              </a:rPr>
              <a:t> you to get. </a:t>
            </a:r>
            <a:endParaRPr b="1">
              <a:solidFill>
                <a:schemeClr val="lt1"/>
              </a:solidFill>
            </a:endParaRPr>
          </a:p>
          <a:p>
            <a:pPr indent="0" lvl="0" marL="0" rtl="0" algn="l">
              <a:spcBef>
                <a:spcPts val="1200"/>
              </a:spcBef>
              <a:spcAft>
                <a:spcPts val="1200"/>
              </a:spcAft>
              <a:buNone/>
            </a:pPr>
            <a:r>
              <a:t/>
            </a:r>
            <a:endParaRPr>
              <a:solidFill>
                <a:schemeClr val="lt1"/>
              </a:solidFill>
            </a:endParaRPr>
          </a:p>
        </p:txBody>
      </p:sp>
      <p:pic>
        <p:nvPicPr>
          <p:cNvPr id="74" name="Google Shape;74;p16"/>
          <p:cNvPicPr preferRelativeResize="0"/>
          <p:nvPr/>
        </p:nvPicPr>
        <p:blipFill>
          <a:blip r:embed="rId3">
            <a:alphaModFix/>
          </a:blip>
          <a:stretch>
            <a:fillRect/>
          </a:stretch>
        </p:blipFill>
        <p:spPr>
          <a:xfrm>
            <a:off x="6797725" y="265350"/>
            <a:ext cx="2346275" cy="3080223"/>
          </a:xfrm>
          <a:prstGeom prst="rect">
            <a:avLst/>
          </a:prstGeom>
          <a:noFill/>
          <a:ln>
            <a:noFill/>
          </a:ln>
        </p:spPr>
      </p:pic>
      <p:pic>
        <p:nvPicPr>
          <p:cNvPr id="75" name="Google Shape;75;p16"/>
          <p:cNvPicPr preferRelativeResize="0"/>
          <p:nvPr/>
        </p:nvPicPr>
        <p:blipFill>
          <a:blip r:embed="rId4">
            <a:alphaModFix/>
          </a:blip>
          <a:stretch>
            <a:fillRect/>
          </a:stretch>
        </p:blipFill>
        <p:spPr>
          <a:xfrm>
            <a:off x="199500" y="-156375"/>
            <a:ext cx="1634876" cy="16348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1180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When is a build reproducible?</a:t>
            </a:r>
            <a:endParaRPr>
              <a:solidFill>
                <a:schemeClr val="lt1"/>
              </a:solidFill>
            </a:endParaRPr>
          </a:p>
        </p:txBody>
      </p:sp>
      <p:sp>
        <p:nvSpPr>
          <p:cNvPr id="81" name="Google Shape;81;p17"/>
          <p:cNvSpPr txBox="1"/>
          <p:nvPr>
            <p:ph idx="1" type="body"/>
          </p:nvPr>
        </p:nvSpPr>
        <p:spPr>
          <a:xfrm>
            <a:off x="311700" y="7970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lt1"/>
                </a:solidFill>
              </a:rPr>
              <a:t>The Debian d</a:t>
            </a:r>
            <a:r>
              <a:rPr lang="en">
                <a:solidFill>
                  <a:schemeClr val="lt1"/>
                </a:solidFill>
              </a:rPr>
              <a:t>efinition of “reproducible builds” in </a:t>
            </a:r>
            <a:r>
              <a:rPr lang="en" u="sng">
                <a:solidFill>
                  <a:schemeClr val="lt1"/>
                </a:solidFill>
                <a:hlinkClick r:id="rId3">
                  <a:extLst>
                    <a:ext uri="{A12FA001-AC4F-418D-AE19-62706E023703}">
                      <ahyp:hlinkClr val="tx"/>
                    </a:ext>
                  </a:extLst>
                </a:hlinkClick>
              </a:rPr>
              <a:t>reproducible-builds.org initiative 2</a:t>
            </a:r>
            <a:r>
              <a:rPr lang="en">
                <a:solidFill>
                  <a:schemeClr val="lt1"/>
                </a:solidFill>
              </a:rPr>
              <a:t>:</a:t>
            </a:r>
            <a:endParaRPr>
              <a:solidFill>
                <a:schemeClr val="lt1"/>
              </a:solidFill>
            </a:endParaRPr>
          </a:p>
          <a:p>
            <a:pPr indent="0" lvl="0" marL="0" rtl="0" algn="l">
              <a:spcBef>
                <a:spcPts val="1200"/>
              </a:spcBef>
              <a:spcAft>
                <a:spcPts val="0"/>
              </a:spcAft>
              <a:buNone/>
            </a:pPr>
            <a:r>
              <a:rPr lang="en">
                <a:solidFill>
                  <a:schemeClr val="lt1"/>
                </a:solidFill>
              </a:rPr>
              <a:t>A build is reproducible if given the same source code, build environment, and build instructions, any party can recreate bit-by-bit identical copies of all specified artifacts.</a:t>
            </a:r>
            <a:endParaRPr>
              <a:solidFill>
                <a:schemeClr val="lt1"/>
              </a:solidFill>
            </a:endParaRPr>
          </a:p>
          <a:p>
            <a:pPr indent="0" lvl="0" marL="0" rtl="0" algn="l">
              <a:spcBef>
                <a:spcPts val="1200"/>
              </a:spcBef>
              <a:spcAft>
                <a:spcPts val="1200"/>
              </a:spcAft>
              <a:buNone/>
            </a:pPr>
            <a:r>
              <a:rPr lang="en">
                <a:solidFill>
                  <a:schemeClr val="lt1"/>
                </a:solidFill>
              </a:rPr>
              <a:t>The relevant attributes of the build environment, the build instructions, and the source code as well as the expected reproducible artifacts are defined by the authors or distributors. The artifacts of a build are the parts of the build results that are the desired primary output.</a:t>
            </a:r>
            <a:endParaRPr>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1228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highlight>
                  <a:schemeClr val="dk1"/>
                </a:highlight>
              </a:rPr>
              <a:t>How do</a:t>
            </a:r>
            <a:r>
              <a:rPr lang="en">
                <a:solidFill>
                  <a:schemeClr val="lt1"/>
                </a:solidFill>
                <a:highlight>
                  <a:schemeClr val="dk1"/>
                </a:highlight>
              </a:rPr>
              <a:t> Reproducible Builds Ensure Integrity</a:t>
            </a:r>
            <a:r>
              <a:rPr lang="en">
                <a:solidFill>
                  <a:schemeClr val="lt1"/>
                </a:solidFill>
                <a:highlight>
                  <a:schemeClr val="dk1"/>
                </a:highlight>
              </a:rPr>
              <a:t>?</a:t>
            </a:r>
            <a:endParaRPr>
              <a:solidFill>
                <a:schemeClr val="lt1"/>
              </a:solidFill>
              <a:highlight>
                <a:schemeClr val="dk1"/>
              </a:highlight>
            </a:endParaRPr>
          </a:p>
        </p:txBody>
      </p:sp>
      <p:sp>
        <p:nvSpPr>
          <p:cNvPr id="87" name="Google Shape;87;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400">
                <a:solidFill>
                  <a:schemeClr val="lt1"/>
                </a:solidFill>
                <a:highlight>
                  <a:schemeClr val="dk1"/>
                </a:highlight>
              </a:rPr>
              <a:t>Determinism</a:t>
            </a:r>
            <a:endParaRPr sz="2400">
              <a:solidFill>
                <a:schemeClr val="lt1"/>
              </a:solidFill>
              <a:highlight>
                <a:schemeClr val="dk1"/>
              </a:highlight>
            </a:endParaRPr>
          </a:p>
          <a:p>
            <a:pPr indent="0" lvl="0" marL="0" rtl="0" algn="ctr">
              <a:spcBef>
                <a:spcPts val="1200"/>
              </a:spcBef>
              <a:spcAft>
                <a:spcPts val="0"/>
              </a:spcAft>
              <a:buNone/>
            </a:pPr>
            <a:r>
              <a:rPr lang="en" sz="2400">
                <a:solidFill>
                  <a:schemeClr val="lt1"/>
                </a:solidFill>
                <a:highlight>
                  <a:schemeClr val="dk1"/>
                </a:highlight>
              </a:rPr>
              <a:t>Build Process that is Predictable and Consistent</a:t>
            </a:r>
            <a:endParaRPr sz="2400">
              <a:solidFill>
                <a:schemeClr val="lt1"/>
              </a:solidFill>
              <a:highlight>
                <a:schemeClr val="dk1"/>
              </a:highlight>
            </a:endParaRPr>
          </a:p>
          <a:p>
            <a:pPr indent="0" lvl="0" marL="0" rtl="0" algn="ctr">
              <a:spcBef>
                <a:spcPts val="1200"/>
              </a:spcBef>
              <a:spcAft>
                <a:spcPts val="0"/>
              </a:spcAft>
              <a:buNone/>
            </a:pPr>
            <a:r>
              <a:rPr lang="en" sz="2400">
                <a:solidFill>
                  <a:schemeClr val="lt1"/>
                </a:solidFill>
                <a:highlight>
                  <a:schemeClr val="dk1"/>
                </a:highlight>
              </a:rPr>
              <a:t>Difficult to introduce changes or </a:t>
            </a:r>
            <a:r>
              <a:rPr lang="en" sz="2400">
                <a:solidFill>
                  <a:schemeClr val="lt1"/>
                </a:solidFill>
                <a:highlight>
                  <a:schemeClr val="dk1"/>
                </a:highlight>
              </a:rPr>
              <a:t>vulnerabilities</a:t>
            </a:r>
            <a:r>
              <a:rPr lang="en" sz="2400">
                <a:solidFill>
                  <a:schemeClr val="lt1"/>
                </a:solidFill>
                <a:highlight>
                  <a:schemeClr val="dk1"/>
                </a:highlight>
              </a:rPr>
              <a:t> to the process</a:t>
            </a:r>
            <a:endParaRPr sz="2400">
              <a:solidFill>
                <a:schemeClr val="lt1"/>
              </a:solidFill>
              <a:highlight>
                <a:schemeClr val="dk1"/>
              </a:highlight>
            </a:endParaRPr>
          </a:p>
          <a:p>
            <a:pPr indent="0" lvl="0" marL="0" rtl="0" algn="ctr">
              <a:spcBef>
                <a:spcPts val="1200"/>
              </a:spcBef>
              <a:spcAft>
                <a:spcPts val="0"/>
              </a:spcAft>
              <a:buNone/>
            </a:pPr>
            <a:r>
              <a:rPr lang="en" sz="2400">
                <a:solidFill>
                  <a:schemeClr val="lt1"/>
                </a:solidFill>
                <a:highlight>
                  <a:schemeClr val="dk1"/>
                </a:highlight>
              </a:rPr>
              <a:t>Unauthorized modifications are </a:t>
            </a:r>
            <a:r>
              <a:rPr lang="en" sz="2400">
                <a:solidFill>
                  <a:schemeClr val="lt1"/>
                </a:solidFill>
                <a:highlight>
                  <a:schemeClr val="dk1"/>
                </a:highlight>
              </a:rPr>
              <a:t>immediately</a:t>
            </a:r>
            <a:r>
              <a:rPr lang="en" sz="2400">
                <a:solidFill>
                  <a:schemeClr val="lt1"/>
                </a:solidFill>
                <a:highlight>
                  <a:schemeClr val="dk1"/>
                </a:highlight>
              </a:rPr>
              <a:t> apparent</a:t>
            </a:r>
            <a:endParaRPr sz="2400">
              <a:solidFill>
                <a:schemeClr val="lt1"/>
              </a:solidFill>
              <a:highlight>
                <a:schemeClr val="dk1"/>
              </a:highlight>
            </a:endParaRPr>
          </a:p>
          <a:p>
            <a:pPr indent="0" lvl="0" marL="0" rtl="0" algn="l">
              <a:spcBef>
                <a:spcPts val="1200"/>
              </a:spcBef>
              <a:spcAft>
                <a:spcPts val="0"/>
              </a:spcAft>
              <a:buNone/>
            </a:pPr>
            <a:r>
              <a:t/>
            </a:r>
            <a:endParaRPr b="1">
              <a:solidFill>
                <a:schemeClr val="lt1"/>
              </a:solidFill>
              <a:highlight>
                <a:schemeClr val="dk1"/>
              </a:highlight>
            </a:endParaRPr>
          </a:p>
          <a:p>
            <a:pPr indent="0" lvl="0" marL="0" rtl="0" algn="l">
              <a:spcBef>
                <a:spcPts val="1200"/>
              </a:spcBef>
              <a:spcAft>
                <a:spcPts val="1200"/>
              </a:spcAft>
              <a:buNone/>
            </a:pPr>
            <a:r>
              <a:t/>
            </a:r>
            <a:endParaRPr>
              <a:solidFill>
                <a:schemeClr val="lt1"/>
              </a:solidFill>
              <a:highlight>
                <a:schemeClr val="dk1"/>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1148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Levels of Deterministic Builds</a:t>
            </a:r>
            <a:endParaRPr>
              <a:solidFill>
                <a:schemeClr val="lt1"/>
              </a:solidFill>
            </a:endParaRPr>
          </a:p>
        </p:txBody>
      </p:sp>
      <p:sp>
        <p:nvSpPr>
          <p:cNvPr id="93" name="Google Shape;93;p19"/>
          <p:cNvSpPr txBox="1"/>
          <p:nvPr>
            <p:ph idx="1" type="body"/>
          </p:nvPr>
        </p:nvSpPr>
        <p:spPr>
          <a:xfrm>
            <a:off x="1103975" y="1032750"/>
            <a:ext cx="3207600" cy="36645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600">
                <a:solidFill>
                  <a:schemeClr val="lt1"/>
                </a:solidFill>
              </a:rPr>
              <a:t>Basic determinism: </a:t>
            </a:r>
            <a:endParaRPr sz="1600">
              <a:solidFill>
                <a:schemeClr val="lt1"/>
              </a:solidFill>
            </a:endParaRPr>
          </a:p>
          <a:p>
            <a:pPr indent="-330200" lvl="0" marL="457200" rtl="0" algn="l">
              <a:spcBef>
                <a:spcPts val="1200"/>
              </a:spcBef>
              <a:spcAft>
                <a:spcPts val="0"/>
              </a:spcAft>
              <a:buClr>
                <a:schemeClr val="lt1"/>
              </a:buClr>
              <a:buSzPts val="1600"/>
              <a:buChar char="●"/>
            </a:pPr>
            <a:r>
              <a:rPr lang="en" sz="1600">
                <a:solidFill>
                  <a:schemeClr val="lt1"/>
                </a:solidFill>
              </a:rPr>
              <a:t>full build</a:t>
            </a:r>
            <a:endParaRPr sz="1600">
              <a:solidFill>
                <a:schemeClr val="lt1"/>
              </a:solidFill>
            </a:endParaRPr>
          </a:p>
          <a:p>
            <a:pPr indent="-330200" lvl="0" marL="457200" rtl="0" algn="l">
              <a:spcBef>
                <a:spcPts val="0"/>
              </a:spcBef>
              <a:spcAft>
                <a:spcPts val="0"/>
              </a:spcAft>
              <a:buClr>
                <a:schemeClr val="lt1"/>
              </a:buClr>
              <a:buSzPts val="1600"/>
              <a:buChar char="●"/>
            </a:pPr>
            <a:r>
              <a:rPr lang="en" sz="1600">
                <a:solidFill>
                  <a:schemeClr val="lt1"/>
                </a:solidFill>
              </a:rPr>
              <a:t>same source code</a:t>
            </a:r>
            <a:endParaRPr sz="1600">
              <a:solidFill>
                <a:schemeClr val="lt1"/>
              </a:solidFill>
            </a:endParaRPr>
          </a:p>
          <a:p>
            <a:pPr indent="-330200" lvl="0" marL="457200" rtl="0" algn="l">
              <a:spcBef>
                <a:spcPts val="0"/>
              </a:spcBef>
              <a:spcAft>
                <a:spcPts val="0"/>
              </a:spcAft>
              <a:buClr>
                <a:schemeClr val="lt1"/>
              </a:buClr>
              <a:buSzPts val="1600"/>
              <a:buChar char="●"/>
            </a:pPr>
            <a:r>
              <a:rPr lang="en" sz="1600">
                <a:solidFill>
                  <a:schemeClr val="lt1"/>
                </a:solidFill>
              </a:rPr>
              <a:t>same directory</a:t>
            </a:r>
            <a:endParaRPr sz="1600">
              <a:solidFill>
                <a:schemeClr val="lt1"/>
              </a:solidFill>
            </a:endParaRPr>
          </a:p>
          <a:p>
            <a:pPr indent="-330200" lvl="0" marL="457200" rtl="0" algn="l">
              <a:spcBef>
                <a:spcPts val="0"/>
              </a:spcBef>
              <a:spcAft>
                <a:spcPts val="0"/>
              </a:spcAft>
              <a:buClr>
                <a:schemeClr val="lt1"/>
              </a:buClr>
              <a:buSzPts val="1600"/>
              <a:buChar char="●"/>
            </a:pPr>
            <a:r>
              <a:rPr lang="en" sz="1600">
                <a:solidFill>
                  <a:schemeClr val="lt1"/>
                </a:solidFill>
              </a:rPr>
              <a:t>same machine</a:t>
            </a:r>
            <a:endParaRPr sz="1600">
              <a:solidFill>
                <a:schemeClr val="lt1"/>
              </a:solidFill>
            </a:endParaRPr>
          </a:p>
          <a:p>
            <a:pPr indent="0" lvl="0" marL="0" rtl="0" algn="l">
              <a:spcBef>
                <a:spcPts val="1200"/>
              </a:spcBef>
              <a:spcAft>
                <a:spcPts val="0"/>
              </a:spcAft>
              <a:buNone/>
            </a:pPr>
            <a:r>
              <a:rPr lang="en" sz="1600">
                <a:solidFill>
                  <a:schemeClr val="lt1"/>
                </a:solidFill>
              </a:rPr>
              <a:t>Incremental determinism: </a:t>
            </a:r>
            <a:endParaRPr sz="1600">
              <a:solidFill>
                <a:schemeClr val="lt1"/>
              </a:solidFill>
            </a:endParaRPr>
          </a:p>
          <a:p>
            <a:pPr indent="-330200" lvl="0" marL="457200" rtl="0" algn="l">
              <a:spcBef>
                <a:spcPts val="1200"/>
              </a:spcBef>
              <a:spcAft>
                <a:spcPts val="0"/>
              </a:spcAft>
              <a:buClr>
                <a:schemeClr val="lt1"/>
              </a:buClr>
              <a:buSzPts val="1600"/>
              <a:buChar char="●"/>
            </a:pPr>
            <a:r>
              <a:rPr lang="en" sz="1600">
                <a:solidFill>
                  <a:schemeClr val="lt1"/>
                </a:solidFill>
              </a:rPr>
              <a:t>partial rebuild</a:t>
            </a:r>
            <a:endParaRPr sz="1600">
              <a:solidFill>
                <a:schemeClr val="lt1"/>
              </a:solidFill>
            </a:endParaRPr>
          </a:p>
          <a:p>
            <a:pPr indent="-330200" lvl="0" marL="457200" rtl="0" algn="l">
              <a:spcBef>
                <a:spcPts val="0"/>
              </a:spcBef>
              <a:spcAft>
                <a:spcPts val="0"/>
              </a:spcAft>
              <a:buClr>
                <a:schemeClr val="lt1"/>
              </a:buClr>
              <a:buSzPts val="1600"/>
              <a:buChar char="●"/>
            </a:pPr>
            <a:r>
              <a:rPr lang="en" sz="1600">
                <a:solidFill>
                  <a:schemeClr val="lt1"/>
                </a:solidFill>
              </a:rPr>
              <a:t>same source code</a:t>
            </a:r>
            <a:endParaRPr sz="1600">
              <a:solidFill>
                <a:schemeClr val="lt1"/>
              </a:solidFill>
            </a:endParaRPr>
          </a:p>
          <a:p>
            <a:pPr indent="-330200" lvl="0" marL="457200" rtl="0" algn="l">
              <a:spcBef>
                <a:spcPts val="0"/>
              </a:spcBef>
              <a:spcAft>
                <a:spcPts val="0"/>
              </a:spcAft>
              <a:buClr>
                <a:schemeClr val="lt1"/>
              </a:buClr>
              <a:buSzPts val="1600"/>
              <a:buChar char="●"/>
            </a:pPr>
            <a:r>
              <a:rPr lang="en" sz="1600">
                <a:solidFill>
                  <a:schemeClr val="lt1"/>
                </a:solidFill>
              </a:rPr>
              <a:t>same directory</a:t>
            </a:r>
            <a:endParaRPr sz="1600">
              <a:solidFill>
                <a:schemeClr val="lt1"/>
              </a:solidFill>
            </a:endParaRPr>
          </a:p>
          <a:p>
            <a:pPr indent="-330200" lvl="0" marL="457200" rtl="0" algn="l">
              <a:spcBef>
                <a:spcPts val="0"/>
              </a:spcBef>
              <a:spcAft>
                <a:spcPts val="0"/>
              </a:spcAft>
              <a:buClr>
                <a:schemeClr val="lt1"/>
              </a:buClr>
              <a:buSzPts val="1600"/>
              <a:buChar char="●"/>
            </a:pPr>
            <a:r>
              <a:rPr lang="en" sz="1600">
                <a:solidFill>
                  <a:schemeClr val="lt1"/>
                </a:solidFill>
              </a:rPr>
              <a:t>same machine </a:t>
            </a:r>
            <a:endParaRPr sz="1600">
              <a:solidFill>
                <a:schemeClr val="lt1"/>
              </a:solidFill>
            </a:endParaRPr>
          </a:p>
          <a:p>
            <a:pPr indent="0" lvl="0" marL="0" rtl="0" algn="l">
              <a:spcBef>
                <a:spcPts val="1200"/>
              </a:spcBef>
              <a:spcAft>
                <a:spcPts val="1200"/>
              </a:spcAft>
              <a:buNone/>
            </a:pPr>
            <a:r>
              <a:t/>
            </a:r>
            <a:endParaRPr>
              <a:solidFill>
                <a:schemeClr val="lt1"/>
              </a:solidFill>
            </a:endParaRPr>
          </a:p>
        </p:txBody>
      </p:sp>
      <p:sp>
        <p:nvSpPr>
          <p:cNvPr id="94" name="Google Shape;94;p19"/>
          <p:cNvSpPr txBox="1"/>
          <p:nvPr>
            <p:ph idx="2" type="body"/>
          </p:nvPr>
        </p:nvSpPr>
        <p:spPr>
          <a:xfrm>
            <a:off x="4832400" y="1032750"/>
            <a:ext cx="3403500" cy="36645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600">
                <a:solidFill>
                  <a:schemeClr val="lt1"/>
                </a:solidFill>
              </a:rPr>
              <a:t>Local determinism: </a:t>
            </a:r>
            <a:endParaRPr sz="1600">
              <a:solidFill>
                <a:schemeClr val="lt1"/>
              </a:solidFill>
            </a:endParaRPr>
          </a:p>
          <a:p>
            <a:pPr indent="-330200" lvl="0" marL="457200" rtl="0" algn="l">
              <a:spcBef>
                <a:spcPts val="1200"/>
              </a:spcBef>
              <a:spcAft>
                <a:spcPts val="0"/>
              </a:spcAft>
              <a:buClr>
                <a:schemeClr val="lt1"/>
              </a:buClr>
              <a:buSzPts val="1600"/>
              <a:buChar char="●"/>
            </a:pPr>
            <a:r>
              <a:rPr lang="en" sz="1600">
                <a:solidFill>
                  <a:schemeClr val="lt1"/>
                </a:solidFill>
              </a:rPr>
              <a:t>full build</a:t>
            </a:r>
            <a:endParaRPr sz="1600">
              <a:solidFill>
                <a:schemeClr val="lt1"/>
              </a:solidFill>
            </a:endParaRPr>
          </a:p>
          <a:p>
            <a:pPr indent="-330200" lvl="0" marL="457200" rtl="0" algn="l">
              <a:spcBef>
                <a:spcPts val="0"/>
              </a:spcBef>
              <a:spcAft>
                <a:spcPts val="0"/>
              </a:spcAft>
              <a:buClr>
                <a:schemeClr val="lt1"/>
              </a:buClr>
              <a:buSzPts val="1600"/>
              <a:buChar char="●"/>
            </a:pPr>
            <a:r>
              <a:rPr lang="en" sz="1600">
                <a:solidFill>
                  <a:schemeClr val="lt1"/>
                </a:solidFill>
              </a:rPr>
              <a:t>same source code</a:t>
            </a:r>
            <a:endParaRPr sz="1600">
              <a:solidFill>
                <a:schemeClr val="lt1"/>
              </a:solidFill>
            </a:endParaRPr>
          </a:p>
          <a:p>
            <a:pPr indent="-330200" lvl="0" marL="457200" rtl="0" algn="l">
              <a:spcBef>
                <a:spcPts val="0"/>
              </a:spcBef>
              <a:spcAft>
                <a:spcPts val="0"/>
              </a:spcAft>
              <a:buClr>
                <a:schemeClr val="lt1"/>
              </a:buClr>
              <a:buSzPts val="1600"/>
              <a:buChar char="●"/>
            </a:pPr>
            <a:r>
              <a:rPr lang="en" sz="1600">
                <a:solidFill>
                  <a:schemeClr val="lt1"/>
                </a:solidFill>
              </a:rPr>
              <a:t>any directory</a:t>
            </a:r>
            <a:endParaRPr sz="1600">
              <a:solidFill>
                <a:schemeClr val="lt1"/>
              </a:solidFill>
            </a:endParaRPr>
          </a:p>
          <a:p>
            <a:pPr indent="-330200" lvl="0" marL="457200" rtl="0" algn="l">
              <a:spcBef>
                <a:spcPts val="0"/>
              </a:spcBef>
              <a:spcAft>
                <a:spcPts val="0"/>
              </a:spcAft>
              <a:buClr>
                <a:schemeClr val="lt1"/>
              </a:buClr>
              <a:buSzPts val="1600"/>
              <a:buChar char="●"/>
            </a:pPr>
            <a:r>
              <a:rPr lang="en" sz="1600">
                <a:solidFill>
                  <a:schemeClr val="lt1"/>
                </a:solidFill>
              </a:rPr>
              <a:t>same machine </a:t>
            </a:r>
            <a:endParaRPr sz="1600">
              <a:solidFill>
                <a:schemeClr val="lt1"/>
              </a:solidFill>
            </a:endParaRPr>
          </a:p>
          <a:p>
            <a:pPr indent="0" lvl="0" marL="0" rtl="0" algn="l">
              <a:spcBef>
                <a:spcPts val="1200"/>
              </a:spcBef>
              <a:spcAft>
                <a:spcPts val="0"/>
              </a:spcAft>
              <a:buNone/>
            </a:pPr>
            <a:r>
              <a:rPr lang="en" sz="1600">
                <a:solidFill>
                  <a:schemeClr val="lt1"/>
                </a:solidFill>
              </a:rPr>
              <a:t>Universal determinism: </a:t>
            </a:r>
            <a:endParaRPr sz="1600">
              <a:solidFill>
                <a:schemeClr val="lt1"/>
              </a:solidFill>
            </a:endParaRPr>
          </a:p>
          <a:p>
            <a:pPr indent="-330200" lvl="0" marL="457200" rtl="0" algn="l">
              <a:spcBef>
                <a:spcPts val="1200"/>
              </a:spcBef>
              <a:spcAft>
                <a:spcPts val="0"/>
              </a:spcAft>
              <a:buClr>
                <a:schemeClr val="lt1"/>
              </a:buClr>
              <a:buSzPts val="1600"/>
              <a:buChar char="●"/>
            </a:pPr>
            <a:r>
              <a:rPr lang="en" sz="1600">
                <a:solidFill>
                  <a:schemeClr val="lt1"/>
                </a:solidFill>
              </a:rPr>
              <a:t>full build</a:t>
            </a:r>
            <a:endParaRPr sz="1600">
              <a:solidFill>
                <a:schemeClr val="lt1"/>
              </a:solidFill>
            </a:endParaRPr>
          </a:p>
          <a:p>
            <a:pPr indent="-330200" lvl="0" marL="457200" rtl="0" algn="l">
              <a:spcBef>
                <a:spcPts val="0"/>
              </a:spcBef>
              <a:spcAft>
                <a:spcPts val="0"/>
              </a:spcAft>
              <a:buClr>
                <a:schemeClr val="lt1"/>
              </a:buClr>
              <a:buSzPts val="1600"/>
              <a:buChar char="●"/>
            </a:pPr>
            <a:r>
              <a:rPr lang="en" sz="1600">
                <a:solidFill>
                  <a:schemeClr val="lt1"/>
                </a:solidFill>
              </a:rPr>
              <a:t>same source code</a:t>
            </a:r>
            <a:endParaRPr sz="1600">
              <a:solidFill>
                <a:schemeClr val="lt1"/>
              </a:solidFill>
            </a:endParaRPr>
          </a:p>
          <a:p>
            <a:pPr indent="-330200" lvl="0" marL="457200" rtl="0" algn="l">
              <a:spcBef>
                <a:spcPts val="0"/>
              </a:spcBef>
              <a:spcAft>
                <a:spcPts val="0"/>
              </a:spcAft>
              <a:buClr>
                <a:schemeClr val="lt1"/>
              </a:buClr>
              <a:buSzPts val="1600"/>
              <a:buChar char="●"/>
            </a:pPr>
            <a:r>
              <a:rPr lang="en" sz="1600">
                <a:solidFill>
                  <a:schemeClr val="lt1"/>
                </a:solidFill>
              </a:rPr>
              <a:t>any directory</a:t>
            </a:r>
            <a:endParaRPr sz="1600">
              <a:solidFill>
                <a:schemeClr val="lt1"/>
              </a:solidFill>
            </a:endParaRPr>
          </a:p>
          <a:p>
            <a:pPr indent="-330200" lvl="0" marL="457200" rtl="0" algn="l">
              <a:spcBef>
                <a:spcPts val="0"/>
              </a:spcBef>
              <a:spcAft>
                <a:spcPts val="0"/>
              </a:spcAft>
              <a:buClr>
                <a:schemeClr val="lt1"/>
              </a:buClr>
              <a:buSzPts val="1600"/>
              <a:buChar char="●"/>
            </a:pPr>
            <a:r>
              <a:rPr lang="en" sz="1600">
                <a:solidFill>
                  <a:schemeClr val="lt1"/>
                </a:solidFill>
              </a:rPr>
              <a:t>any machine the build runs on.</a:t>
            </a:r>
            <a:endParaRPr sz="1600">
              <a:solidFill>
                <a:schemeClr val="lt1"/>
              </a:solidFill>
            </a:endParaRPr>
          </a:p>
        </p:txBody>
      </p:sp>
      <p:sp>
        <p:nvSpPr>
          <p:cNvPr id="95" name="Google Shape;95;p19"/>
          <p:cNvSpPr txBox="1"/>
          <p:nvPr/>
        </p:nvSpPr>
        <p:spPr>
          <a:xfrm>
            <a:off x="0" y="687500"/>
            <a:ext cx="91440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
                <a:solidFill>
                  <a:schemeClr val="lt1"/>
                </a:solidFill>
              </a:rPr>
              <a:t>Deterministic builds produces exactly the same output every time.</a:t>
            </a:r>
            <a:endParaRPr sz="1800">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1227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Things that wreck reproducible builds</a:t>
            </a:r>
            <a:endParaRPr>
              <a:solidFill>
                <a:schemeClr val="lt1"/>
              </a:solidFill>
            </a:endParaRPr>
          </a:p>
        </p:txBody>
      </p:sp>
      <p:sp>
        <p:nvSpPr>
          <p:cNvPr id="101" name="Google Shape;101;p20"/>
          <p:cNvSpPr txBox="1"/>
          <p:nvPr>
            <p:ph idx="1" type="body"/>
          </p:nvPr>
        </p:nvSpPr>
        <p:spPr>
          <a:xfrm>
            <a:off x="311700" y="813950"/>
            <a:ext cx="8520600" cy="3688800"/>
          </a:xfrm>
          <a:prstGeom prst="rect">
            <a:avLst/>
          </a:prstGeom>
        </p:spPr>
        <p:txBody>
          <a:bodyPr anchorCtr="0" anchor="t" bIns="91425" lIns="91425" spcFirstLastPara="1" rIns="91425" wrap="square" tIns="91425">
            <a:noAutofit/>
          </a:bodyPr>
          <a:lstStyle/>
          <a:p>
            <a:pPr indent="457200" lvl="0" marL="2286000" rtl="0" algn="l">
              <a:lnSpc>
                <a:spcPct val="100000"/>
              </a:lnSpc>
              <a:spcBef>
                <a:spcPts val="0"/>
              </a:spcBef>
              <a:spcAft>
                <a:spcPts val="0"/>
              </a:spcAft>
              <a:buNone/>
            </a:pPr>
            <a:r>
              <a:rPr lang="en" sz="2400">
                <a:solidFill>
                  <a:schemeClr val="lt1"/>
                </a:solidFill>
              </a:rPr>
              <a:t>Build Environment</a:t>
            </a:r>
            <a:endParaRPr sz="2400">
              <a:solidFill>
                <a:schemeClr val="lt1"/>
              </a:solidFill>
            </a:endParaRPr>
          </a:p>
          <a:p>
            <a:pPr indent="457200" lvl="0" marL="0" rtl="0" algn="l">
              <a:lnSpc>
                <a:spcPct val="100000"/>
              </a:lnSpc>
              <a:spcBef>
                <a:spcPts val="1200"/>
              </a:spcBef>
              <a:spcAft>
                <a:spcPts val="0"/>
              </a:spcAft>
              <a:buNone/>
            </a:pPr>
            <a:r>
              <a:rPr lang="en" sz="2400">
                <a:solidFill>
                  <a:schemeClr val="lt1"/>
                </a:solidFill>
              </a:rPr>
              <a:t>Timestamps</a:t>
            </a:r>
            <a:endParaRPr sz="2400">
              <a:solidFill>
                <a:schemeClr val="lt1"/>
              </a:solidFill>
            </a:endParaRPr>
          </a:p>
          <a:p>
            <a:pPr indent="457200" lvl="0" marL="1371600" rtl="0" algn="l">
              <a:lnSpc>
                <a:spcPct val="100000"/>
              </a:lnSpc>
              <a:spcBef>
                <a:spcPts val="1200"/>
              </a:spcBef>
              <a:spcAft>
                <a:spcPts val="0"/>
              </a:spcAft>
              <a:buNone/>
            </a:pPr>
            <a:r>
              <a:rPr lang="en" sz="2400">
                <a:solidFill>
                  <a:schemeClr val="lt1"/>
                </a:solidFill>
              </a:rPr>
              <a:t>     Files                     Networks</a:t>
            </a:r>
            <a:endParaRPr sz="2400">
              <a:solidFill>
                <a:schemeClr val="lt1"/>
              </a:solidFill>
            </a:endParaRPr>
          </a:p>
          <a:p>
            <a:pPr indent="457200" lvl="0" marL="2743200" rtl="0" algn="l">
              <a:lnSpc>
                <a:spcPct val="100000"/>
              </a:lnSpc>
              <a:spcBef>
                <a:spcPts val="1200"/>
              </a:spcBef>
              <a:spcAft>
                <a:spcPts val="0"/>
              </a:spcAft>
              <a:buNone/>
            </a:pPr>
            <a:r>
              <a:rPr lang="en" sz="2400">
                <a:solidFill>
                  <a:schemeClr val="lt1"/>
                </a:solidFill>
              </a:rPr>
              <a:t>Locale</a:t>
            </a:r>
            <a:endParaRPr sz="2400">
              <a:solidFill>
                <a:schemeClr val="lt1"/>
              </a:solidFill>
            </a:endParaRPr>
          </a:p>
          <a:p>
            <a:pPr indent="457200" lvl="0" marL="3657600" rtl="0" algn="l">
              <a:lnSpc>
                <a:spcPct val="100000"/>
              </a:lnSpc>
              <a:spcBef>
                <a:spcPts val="1200"/>
              </a:spcBef>
              <a:spcAft>
                <a:spcPts val="0"/>
              </a:spcAft>
              <a:buNone/>
            </a:pPr>
            <a:r>
              <a:rPr lang="en" sz="2400">
                <a:solidFill>
                  <a:schemeClr val="lt1"/>
                </a:solidFill>
              </a:rPr>
              <a:t>Dependencies</a:t>
            </a:r>
            <a:endParaRPr sz="2400">
              <a:solidFill>
                <a:schemeClr val="lt1"/>
              </a:solidFill>
            </a:endParaRPr>
          </a:p>
          <a:p>
            <a:pPr indent="457200" lvl="0" marL="457200" rtl="0" algn="l">
              <a:lnSpc>
                <a:spcPct val="100000"/>
              </a:lnSpc>
              <a:spcBef>
                <a:spcPts val="1200"/>
              </a:spcBef>
              <a:spcAft>
                <a:spcPts val="0"/>
              </a:spcAft>
              <a:buNone/>
            </a:pPr>
            <a:r>
              <a:rPr lang="en" sz="2400">
                <a:solidFill>
                  <a:schemeClr val="lt1"/>
                </a:solidFill>
              </a:rPr>
              <a:t>Randomness</a:t>
            </a:r>
            <a:endParaRPr sz="2400">
              <a:solidFill>
                <a:schemeClr val="lt1"/>
              </a:solidFill>
            </a:endParaRPr>
          </a:p>
          <a:p>
            <a:pPr indent="457200" lvl="0" marL="5486400" rtl="0" algn="l">
              <a:spcBef>
                <a:spcPts val="1200"/>
              </a:spcBef>
              <a:spcAft>
                <a:spcPts val="0"/>
              </a:spcAft>
              <a:buNone/>
            </a:pPr>
            <a:r>
              <a:rPr lang="en" sz="2400">
                <a:solidFill>
                  <a:schemeClr val="lt1"/>
                </a:solidFill>
              </a:rPr>
              <a:t>Packaging</a:t>
            </a:r>
            <a:endParaRPr sz="2400">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1180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Pillars of </a:t>
            </a:r>
            <a:r>
              <a:rPr lang="en">
                <a:solidFill>
                  <a:schemeClr val="lt1"/>
                </a:solidFill>
              </a:rPr>
              <a:t>Reproducible</a:t>
            </a:r>
            <a:r>
              <a:rPr lang="en">
                <a:solidFill>
                  <a:schemeClr val="lt1"/>
                </a:solidFill>
              </a:rPr>
              <a:t> Builds</a:t>
            </a:r>
            <a:endParaRPr>
              <a:solidFill>
                <a:schemeClr val="lt1"/>
              </a:solidFill>
            </a:endParaRPr>
          </a:p>
        </p:txBody>
      </p:sp>
      <p:sp>
        <p:nvSpPr>
          <p:cNvPr id="107" name="Google Shape;107;p21"/>
          <p:cNvSpPr txBox="1"/>
          <p:nvPr>
            <p:ph idx="1" type="body"/>
          </p:nvPr>
        </p:nvSpPr>
        <p:spPr>
          <a:xfrm>
            <a:off x="2536500" y="1133650"/>
            <a:ext cx="4071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1100">
              <a:solidFill>
                <a:schemeClr val="lt1"/>
              </a:solidFill>
            </a:endParaRPr>
          </a:p>
          <a:p>
            <a:pPr indent="0" lvl="0" marL="0" rtl="0" algn="l">
              <a:spcBef>
                <a:spcPts val="0"/>
              </a:spcBef>
              <a:spcAft>
                <a:spcPts val="0"/>
              </a:spcAft>
              <a:buNone/>
            </a:pPr>
            <a:r>
              <a:t/>
            </a:r>
            <a:endParaRPr sz="1100">
              <a:solidFill>
                <a:schemeClr val="lt1"/>
              </a:solidFill>
            </a:endParaRPr>
          </a:p>
          <a:p>
            <a:pPr indent="-381000" lvl="0" marL="457200" rtl="0" algn="l">
              <a:spcBef>
                <a:spcPts val="0"/>
              </a:spcBef>
              <a:spcAft>
                <a:spcPts val="0"/>
              </a:spcAft>
              <a:buClr>
                <a:schemeClr val="lt1"/>
              </a:buClr>
              <a:buSzPts val="2400"/>
              <a:buChar char="●"/>
            </a:pPr>
            <a:r>
              <a:rPr lang="en" sz="2400">
                <a:solidFill>
                  <a:schemeClr val="lt1"/>
                </a:solidFill>
              </a:rPr>
              <a:t>Repeatable builds</a:t>
            </a:r>
            <a:endParaRPr sz="2400">
              <a:solidFill>
                <a:schemeClr val="lt1"/>
              </a:solidFill>
            </a:endParaRPr>
          </a:p>
          <a:p>
            <a:pPr indent="-381000" lvl="0" marL="457200" rtl="0" algn="l">
              <a:spcBef>
                <a:spcPts val="0"/>
              </a:spcBef>
              <a:spcAft>
                <a:spcPts val="0"/>
              </a:spcAft>
              <a:buClr>
                <a:schemeClr val="lt1"/>
              </a:buClr>
              <a:buSzPts val="2400"/>
              <a:buChar char="●"/>
            </a:pPr>
            <a:r>
              <a:rPr lang="en" sz="2400">
                <a:solidFill>
                  <a:schemeClr val="lt1"/>
                </a:solidFill>
              </a:rPr>
              <a:t>Immutable environments</a:t>
            </a:r>
            <a:endParaRPr sz="2400">
              <a:solidFill>
                <a:schemeClr val="lt1"/>
              </a:solidFill>
            </a:endParaRPr>
          </a:p>
          <a:p>
            <a:pPr indent="-381000" lvl="0" marL="457200" rtl="0" algn="l">
              <a:spcBef>
                <a:spcPts val="0"/>
              </a:spcBef>
              <a:spcAft>
                <a:spcPts val="0"/>
              </a:spcAft>
              <a:buClr>
                <a:schemeClr val="lt1"/>
              </a:buClr>
              <a:buSzPts val="2400"/>
              <a:buChar char="●"/>
            </a:pPr>
            <a:r>
              <a:rPr lang="en" sz="2400">
                <a:solidFill>
                  <a:schemeClr val="lt1"/>
                </a:solidFill>
              </a:rPr>
              <a:t>Source availability</a:t>
            </a:r>
            <a:endParaRPr sz="24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311700" y="1180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Deterministic Build System</a:t>
            </a:r>
            <a:endParaRPr>
              <a:solidFill>
                <a:schemeClr val="lt1"/>
              </a:solidFill>
            </a:endParaRPr>
          </a:p>
        </p:txBody>
      </p:sp>
      <p:sp>
        <p:nvSpPr>
          <p:cNvPr id="113" name="Google Shape;113;p22"/>
          <p:cNvSpPr txBox="1"/>
          <p:nvPr>
            <p:ph idx="1" type="body"/>
          </p:nvPr>
        </p:nvSpPr>
        <p:spPr>
          <a:xfrm>
            <a:off x="1279350" y="1486025"/>
            <a:ext cx="6585300" cy="3416400"/>
          </a:xfrm>
          <a:prstGeom prst="rect">
            <a:avLst/>
          </a:prstGeom>
        </p:spPr>
        <p:txBody>
          <a:bodyPr anchorCtr="0" anchor="t" bIns="91425" lIns="91425" spcFirstLastPara="1" rIns="91425" wrap="square" tIns="91425">
            <a:normAutofit/>
          </a:bodyPr>
          <a:lstStyle/>
          <a:p>
            <a:pPr indent="0" lvl="0" marL="914400" rtl="0" algn="l">
              <a:spcBef>
                <a:spcPts val="0"/>
              </a:spcBef>
              <a:spcAft>
                <a:spcPts val="0"/>
              </a:spcAft>
              <a:buNone/>
            </a:pPr>
            <a:r>
              <a:rPr lang="en" sz="2900">
                <a:solidFill>
                  <a:schemeClr val="lt1"/>
                </a:solidFill>
              </a:rPr>
              <a:t>Define the Build Environment</a:t>
            </a:r>
            <a:endParaRPr sz="2900">
              <a:solidFill>
                <a:schemeClr val="lt1"/>
              </a:solidFill>
            </a:endParaRPr>
          </a:p>
          <a:p>
            <a:pPr indent="0" lvl="0" marL="914400" rtl="0" algn="l">
              <a:spcBef>
                <a:spcPts val="1200"/>
              </a:spcBef>
              <a:spcAft>
                <a:spcPts val="0"/>
              </a:spcAft>
              <a:buNone/>
            </a:pPr>
            <a:r>
              <a:rPr lang="en" sz="2900">
                <a:solidFill>
                  <a:schemeClr val="lt1"/>
                </a:solidFill>
              </a:rPr>
              <a:t>Distribute the Build Environment</a:t>
            </a:r>
            <a:endParaRPr sz="2900">
              <a:solidFill>
                <a:schemeClr val="lt1"/>
              </a:solidFill>
            </a:endParaRPr>
          </a:p>
          <a:p>
            <a:pPr indent="0" lvl="0" marL="914400" rtl="0" algn="l">
              <a:spcBef>
                <a:spcPts val="1200"/>
              </a:spcBef>
              <a:spcAft>
                <a:spcPts val="1200"/>
              </a:spcAft>
              <a:buNone/>
            </a:pPr>
            <a:r>
              <a:rPr lang="en" sz="2900">
                <a:solidFill>
                  <a:schemeClr val="lt1"/>
                </a:solidFill>
              </a:rPr>
              <a:t>Provide the Comparison Protocol</a:t>
            </a:r>
            <a:endParaRPr sz="2900">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1180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Things we can do to make builds reproducible</a:t>
            </a:r>
            <a:endParaRPr>
              <a:solidFill>
                <a:schemeClr val="lt1"/>
              </a:solidFill>
            </a:endParaRPr>
          </a:p>
        </p:txBody>
      </p:sp>
      <p:sp>
        <p:nvSpPr>
          <p:cNvPr id="119" name="Google Shape;119;p23"/>
          <p:cNvSpPr txBox="1"/>
          <p:nvPr>
            <p:ph idx="1" type="body"/>
          </p:nvPr>
        </p:nvSpPr>
        <p:spPr>
          <a:xfrm>
            <a:off x="1734150" y="877425"/>
            <a:ext cx="5675700" cy="374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lt1"/>
                </a:solidFill>
              </a:rPr>
              <a:t>Infrastructure as Code and gitOps</a:t>
            </a:r>
            <a:endParaRPr>
              <a:solidFill>
                <a:schemeClr val="lt1"/>
              </a:solidFill>
            </a:endParaRPr>
          </a:p>
          <a:p>
            <a:pPr indent="0" lvl="0" marL="0" rtl="0" algn="l">
              <a:spcBef>
                <a:spcPts val="1200"/>
              </a:spcBef>
              <a:spcAft>
                <a:spcPts val="0"/>
              </a:spcAft>
              <a:buNone/>
            </a:pPr>
            <a:r>
              <a:rPr lang="en">
                <a:solidFill>
                  <a:schemeClr val="lt1"/>
                </a:solidFill>
              </a:rPr>
              <a:t>Containerize the toolchains, immutable is good. </a:t>
            </a:r>
            <a:endParaRPr>
              <a:solidFill>
                <a:schemeClr val="lt1"/>
              </a:solidFill>
            </a:endParaRPr>
          </a:p>
          <a:p>
            <a:pPr indent="0" lvl="0" marL="0" rtl="0" algn="l">
              <a:spcBef>
                <a:spcPts val="1200"/>
              </a:spcBef>
              <a:spcAft>
                <a:spcPts val="0"/>
              </a:spcAft>
              <a:buNone/>
            </a:pPr>
            <a:r>
              <a:rPr lang="en">
                <a:solidFill>
                  <a:schemeClr val="lt1"/>
                </a:solidFill>
              </a:rPr>
              <a:t>Pin your versions</a:t>
            </a:r>
            <a:endParaRPr>
              <a:solidFill>
                <a:schemeClr val="lt1"/>
              </a:solidFill>
            </a:endParaRPr>
          </a:p>
          <a:p>
            <a:pPr indent="0" lvl="0" marL="0" rtl="0" algn="l">
              <a:spcBef>
                <a:spcPts val="1200"/>
              </a:spcBef>
              <a:spcAft>
                <a:spcPts val="0"/>
              </a:spcAft>
              <a:buNone/>
            </a:pPr>
            <a:r>
              <a:rPr lang="en">
                <a:solidFill>
                  <a:schemeClr val="lt1"/>
                </a:solidFill>
              </a:rPr>
              <a:t>Record the build environment</a:t>
            </a:r>
            <a:endParaRPr>
              <a:solidFill>
                <a:schemeClr val="lt1"/>
              </a:solidFill>
            </a:endParaRPr>
          </a:p>
          <a:p>
            <a:pPr indent="0" lvl="0" marL="0" rtl="0" algn="l">
              <a:spcBef>
                <a:spcPts val="1200"/>
              </a:spcBef>
              <a:spcAft>
                <a:spcPts val="0"/>
              </a:spcAft>
              <a:buNone/>
            </a:pPr>
            <a:r>
              <a:rPr lang="en">
                <a:solidFill>
                  <a:schemeClr val="lt1"/>
                </a:solidFill>
              </a:rPr>
              <a:t>Checksums and </a:t>
            </a:r>
            <a:r>
              <a:rPr lang="en">
                <a:solidFill>
                  <a:schemeClr val="lt1"/>
                </a:solidFill>
              </a:rPr>
              <a:t>Cryptographic</a:t>
            </a:r>
            <a:r>
              <a:rPr lang="en">
                <a:solidFill>
                  <a:schemeClr val="lt1"/>
                </a:solidFill>
              </a:rPr>
              <a:t> Signatures</a:t>
            </a:r>
            <a:endParaRPr>
              <a:solidFill>
                <a:schemeClr val="lt1"/>
              </a:solidFill>
            </a:endParaRPr>
          </a:p>
          <a:p>
            <a:pPr indent="0" lvl="0" marL="0" rtl="0" algn="l">
              <a:spcBef>
                <a:spcPts val="1200"/>
              </a:spcBef>
              <a:spcAft>
                <a:spcPts val="0"/>
              </a:spcAft>
              <a:buNone/>
            </a:pPr>
            <a:r>
              <a:rPr lang="en">
                <a:solidFill>
                  <a:schemeClr val="lt1"/>
                </a:solidFill>
              </a:rPr>
              <a:t>Hermetic builds</a:t>
            </a:r>
            <a:endParaRPr>
              <a:solidFill>
                <a:schemeClr val="lt1"/>
              </a:solidFill>
            </a:endParaRPr>
          </a:p>
          <a:p>
            <a:pPr indent="0" lvl="0" marL="0" rtl="0" algn="l">
              <a:spcBef>
                <a:spcPts val="1200"/>
              </a:spcBef>
              <a:spcAft>
                <a:spcPts val="1200"/>
              </a:spcAft>
              <a:buNone/>
            </a:pPr>
            <a:r>
              <a:rPr lang="en">
                <a:solidFill>
                  <a:schemeClr val="lt1"/>
                </a:solidFill>
              </a:rPr>
              <a:t>Remove randomness from the resulting binary.</a:t>
            </a:r>
            <a:endParaRPr>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type="title"/>
          </p:nvPr>
        </p:nvSpPr>
        <p:spPr>
          <a:xfrm>
            <a:off x="311700" y="1180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Build Systems</a:t>
            </a:r>
            <a:endParaRPr>
              <a:solidFill>
                <a:schemeClr val="lt1"/>
              </a:solidFill>
            </a:endParaRPr>
          </a:p>
        </p:txBody>
      </p:sp>
      <p:sp>
        <p:nvSpPr>
          <p:cNvPr id="125" name="Google Shape;125;p24"/>
          <p:cNvSpPr txBox="1"/>
          <p:nvPr>
            <p:ph idx="1" type="body"/>
          </p:nvPr>
        </p:nvSpPr>
        <p:spPr>
          <a:xfrm>
            <a:off x="311700" y="9060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chemeClr val="lt1"/>
                </a:solidFill>
              </a:rPr>
              <a:t>T</a:t>
            </a:r>
            <a:r>
              <a:rPr lang="en" sz="2400">
                <a:solidFill>
                  <a:schemeClr val="lt1"/>
                </a:solidFill>
              </a:rPr>
              <a:t>hat try to meet the definition of reproducible build:</a:t>
            </a:r>
            <a:endParaRPr sz="2400">
              <a:solidFill>
                <a:schemeClr val="lt1"/>
              </a:solidFill>
            </a:endParaRPr>
          </a:p>
          <a:p>
            <a:pPr indent="-381000" lvl="0" marL="457200" rtl="0" algn="l">
              <a:spcBef>
                <a:spcPts val="1200"/>
              </a:spcBef>
              <a:spcAft>
                <a:spcPts val="0"/>
              </a:spcAft>
              <a:buClr>
                <a:schemeClr val="lt1"/>
              </a:buClr>
              <a:buSzPts val="2400"/>
              <a:buChar char="●"/>
            </a:pPr>
            <a:r>
              <a:rPr lang="en" sz="2400">
                <a:solidFill>
                  <a:schemeClr val="lt1"/>
                </a:solidFill>
              </a:rPr>
              <a:t>Debian </a:t>
            </a:r>
            <a:r>
              <a:rPr lang="en" sz="2400">
                <a:solidFill>
                  <a:schemeClr val="lt1"/>
                </a:solidFill>
              </a:rPr>
              <a:t>buildd system</a:t>
            </a:r>
            <a:endParaRPr sz="2400">
              <a:solidFill>
                <a:schemeClr val="lt1"/>
              </a:solidFill>
            </a:endParaRPr>
          </a:p>
          <a:p>
            <a:pPr indent="0" lvl="0" marL="0" rtl="0" algn="l">
              <a:spcBef>
                <a:spcPts val="1200"/>
              </a:spcBef>
              <a:spcAft>
                <a:spcPts val="0"/>
              </a:spcAft>
              <a:buNone/>
            </a:pPr>
            <a:r>
              <a:rPr lang="en" sz="2400">
                <a:solidFill>
                  <a:schemeClr val="lt1"/>
                </a:solidFill>
              </a:rPr>
              <a:t>That can never meet the definition of reproducible build:</a:t>
            </a:r>
            <a:endParaRPr sz="2400">
              <a:solidFill>
                <a:schemeClr val="lt1"/>
              </a:solidFill>
            </a:endParaRPr>
          </a:p>
          <a:p>
            <a:pPr indent="-381000" lvl="0" marL="457200" rtl="0" algn="l">
              <a:spcBef>
                <a:spcPts val="1200"/>
              </a:spcBef>
              <a:spcAft>
                <a:spcPts val="0"/>
              </a:spcAft>
              <a:buClr>
                <a:schemeClr val="lt1"/>
              </a:buClr>
              <a:buSzPts val="2400"/>
              <a:buChar char="●"/>
            </a:pPr>
            <a:r>
              <a:rPr lang="en" sz="2400">
                <a:solidFill>
                  <a:schemeClr val="lt1"/>
                </a:solidFill>
              </a:rPr>
              <a:t>Fedora Buildsystem</a:t>
            </a:r>
            <a:endParaRPr sz="2400">
              <a:solidFill>
                <a:schemeClr val="lt1"/>
              </a:solidFill>
            </a:endParaRPr>
          </a:p>
          <a:p>
            <a:pPr indent="0" lvl="0" marL="0" rtl="0" algn="l">
              <a:spcBef>
                <a:spcPts val="1200"/>
              </a:spcBef>
              <a:spcAft>
                <a:spcPts val="1200"/>
              </a:spcAft>
              <a:buNone/>
            </a:pPr>
            <a:r>
              <a:t/>
            </a:r>
            <a:endParaRPr sz="2400">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type="title"/>
          </p:nvPr>
        </p:nvSpPr>
        <p:spPr>
          <a:xfrm>
            <a:off x="311700" y="1180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The Debate</a:t>
            </a:r>
            <a:endParaRPr>
              <a:solidFill>
                <a:schemeClr val="lt1"/>
              </a:solidFill>
            </a:endParaRPr>
          </a:p>
        </p:txBody>
      </p:sp>
      <p:sp>
        <p:nvSpPr>
          <p:cNvPr id="131" name="Google Shape;131;p25"/>
          <p:cNvSpPr txBox="1"/>
          <p:nvPr>
            <p:ph idx="1" type="body"/>
          </p:nvPr>
        </p:nvSpPr>
        <p:spPr>
          <a:xfrm>
            <a:off x="311700" y="1048225"/>
            <a:ext cx="85206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sz="2400">
                <a:solidFill>
                  <a:schemeClr val="lt1"/>
                </a:solidFill>
              </a:rPr>
              <a:t>Is the Debian definition of reproducible builds the only way?</a:t>
            </a:r>
            <a:endParaRPr>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6"/>
          <p:cNvSpPr txBox="1"/>
          <p:nvPr>
            <p:ph type="title"/>
          </p:nvPr>
        </p:nvSpPr>
        <p:spPr>
          <a:xfrm>
            <a:off x="311700" y="1180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The Ideal Reproducible Build</a:t>
            </a:r>
            <a:endParaRPr>
              <a:solidFill>
                <a:schemeClr val="lt1"/>
              </a:solidFill>
            </a:endParaRPr>
          </a:p>
        </p:txBody>
      </p:sp>
      <p:sp>
        <p:nvSpPr>
          <p:cNvPr id="137" name="Google Shape;137;p26"/>
          <p:cNvSpPr txBox="1"/>
          <p:nvPr>
            <p:ph idx="1" type="body"/>
          </p:nvPr>
        </p:nvSpPr>
        <p:spPr>
          <a:xfrm>
            <a:off x="311700" y="1048225"/>
            <a:ext cx="85206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sz="2400">
                <a:solidFill>
                  <a:schemeClr val="lt1"/>
                </a:solidFill>
              </a:rPr>
              <a:t>More than one pipeline build the same source</a:t>
            </a:r>
            <a:endParaRPr>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7"/>
          <p:cNvSpPr txBox="1"/>
          <p:nvPr>
            <p:ph type="title"/>
          </p:nvPr>
        </p:nvSpPr>
        <p:spPr>
          <a:xfrm>
            <a:off x="311700" y="1180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Wrap up</a:t>
            </a:r>
            <a:endParaRPr>
              <a:solidFill>
                <a:schemeClr val="lt1"/>
              </a:solidFill>
            </a:endParaRPr>
          </a:p>
        </p:txBody>
      </p:sp>
      <p:sp>
        <p:nvSpPr>
          <p:cNvPr id="143" name="Google Shape;143;p27"/>
          <p:cNvSpPr txBox="1"/>
          <p:nvPr>
            <p:ph idx="1" type="body"/>
          </p:nvPr>
        </p:nvSpPr>
        <p:spPr>
          <a:xfrm>
            <a:off x="1771800" y="1047850"/>
            <a:ext cx="5600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chemeClr val="lt1"/>
                </a:solidFill>
              </a:rPr>
              <a:t>Are the toolchains containerized?</a:t>
            </a:r>
            <a:endParaRPr sz="2400">
              <a:solidFill>
                <a:schemeClr val="lt1"/>
              </a:solidFill>
            </a:endParaRPr>
          </a:p>
          <a:p>
            <a:pPr indent="0" lvl="0" marL="0" rtl="0" algn="l">
              <a:spcBef>
                <a:spcPts val="1200"/>
              </a:spcBef>
              <a:spcAft>
                <a:spcPts val="0"/>
              </a:spcAft>
              <a:buNone/>
            </a:pPr>
            <a:r>
              <a:rPr lang="en" sz="2400">
                <a:solidFill>
                  <a:schemeClr val="lt1"/>
                </a:solidFill>
              </a:rPr>
              <a:t>Are the build environments immutable?</a:t>
            </a:r>
            <a:endParaRPr sz="2400">
              <a:solidFill>
                <a:schemeClr val="lt1"/>
              </a:solidFill>
            </a:endParaRPr>
          </a:p>
          <a:p>
            <a:pPr indent="0" lvl="0" marL="0" rtl="0" algn="l">
              <a:spcBef>
                <a:spcPts val="1200"/>
              </a:spcBef>
              <a:spcAft>
                <a:spcPts val="0"/>
              </a:spcAft>
              <a:buNone/>
            </a:pPr>
            <a:r>
              <a:rPr lang="en" sz="2400">
                <a:solidFill>
                  <a:schemeClr val="lt1"/>
                </a:solidFill>
              </a:rPr>
              <a:t>Are the build inputs always available?</a:t>
            </a:r>
            <a:endParaRPr sz="2400">
              <a:solidFill>
                <a:schemeClr val="lt1"/>
              </a:solidFill>
            </a:endParaRPr>
          </a:p>
          <a:p>
            <a:pPr indent="0" lvl="0" marL="0" rtl="0" algn="l">
              <a:spcBef>
                <a:spcPts val="1200"/>
              </a:spcBef>
              <a:spcAft>
                <a:spcPts val="0"/>
              </a:spcAft>
              <a:buNone/>
            </a:pPr>
            <a:r>
              <a:rPr lang="en" sz="2400">
                <a:solidFill>
                  <a:schemeClr val="lt1"/>
                </a:solidFill>
              </a:rPr>
              <a:t>Are the sources verifiable?</a:t>
            </a:r>
            <a:endParaRPr sz="2400">
              <a:solidFill>
                <a:schemeClr val="lt1"/>
              </a:solidFill>
            </a:endParaRPr>
          </a:p>
          <a:p>
            <a:pPr indent="0" lvl="0" marL="0" rtl="0" algn="l">
              <a:spcBef>
                <a:spcPts val="1200"/>
              </a:spcBef>
              <a:spcAft>
                <a:spcPts val="0"/>
              </a:spcAft>
              <a:buNone/>
            </a:pPr>
            <a:r>
              <a:rPr lang="en" sz="2400">
                <a:solidFill>
                  <a:schemeClr val="lt1"/>
                </a:solidFill>
              </a:rPr>
              <a:t>Are the builds instructions repeatable?</a:t>
            </a:r>
            <a:endParaRPr sz="2400">
              <a:solidFill>
                <a:schemeClr val="lt1"/>
              </a:solidFill>
            </a:endParaRPr>
          </a:p>
          <a:p>
            <a:pPr indent="0" lvl="0" marL="0" rtl="0" algn="l">
              <a:spcBef>
                <a:spcPts val="1200"/>
              </a:spcBef>
              <a:spcAft>
                <a:spcPts val="1200"/>
              </a:spcAft>
              <a:buNone/>
            </a:pPr>
            <a:r>
              <a:t/>
            </a:r>
            <a:endParaRPr>
              <a:solidFill>
                <a:schemeClr val="l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8"/>
          <p:cNvSpPr txBox="1"/>
          <p:nvPr>
            <p:ph type="title"/>
          </p:nvPr>
        </p:nvSpPr>
        <p:spPr>
          <a:xfrm>
            <a:off x="311700" y="208100"/>
            <a:ext cx="8520600" cy="4180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800">
                <a:solidFill>
                  <a:schemeClr val="lt1"/>
                </a:solidFill>
              </a:rPr>
              <a:t>AMA</a:t>
            </a:r>
            <a:endParaRPr sz="4800">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9"/>
          <p:cNvSpPr txBox="1"/>
          <p:nvPr>
            <p:ph type="title"/>
          </p:nvPr>
        </p:nvSpPr>
        <p:spPr>
          <a:xfrm>
            <a:off x="311700" y="1180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I am Smitty and I am afraid of Robots</a:t>
            </a:r>
            <a:endParaRPr>
              <a:solidFill>
                <a:schemeClr val="lt1"/>
              </a:solidFill>
            </a:endParaRPr>
          </a:p>
        </p:txBody>
      </p:sp>
      <p:sp>
        <p:nvSpPr>
          <p:cNvPr id="154" name="Google Shape;154;p29"/>
          <p:cNvSpPr txBox="1"/>
          <p:nvPr/>
        </p:nvSpPr>
        <p:spPr>
          <a:xfrm>
            <a:off x="5732675" y="3720900"/>
            <a:ext cx="2028000" cy="7926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Brett Smith</a:t>
            </a:r>
            <a:endParaRPr/>
          </a:p>
          <a:p>
            <a:pPr indent="0" lvl="0" marL="0" rtl="0" algn="l">
              <a:spcBef>
                <a:spcPts val="0"/>
              </a:spcBef>
              <a:spcAft>
                <a:spcPts val="0"/>
              </a:spcAft>
              <a:buNone/>
            </a:pPr>
            <a:r>
              <a:rPr lang="en"/>
              <a:t>xbcsmith@gmail.com</a:t>
            </a:r>
            <a:endParaRPr/>
          </a:p>
          <a:p>
            <a:pPr indent="0" lvl="0" marL="0" rtl="0" algn="l">
              <a:spcBef>
                <a:spcPts val="0"/>
              </a:spcBef>
              <a:spcAft>
                <a:spcPts val="0"/>
              </a:spcAft>
              <a:buNone/>
            </a:pPr>
            <a:r>
              <a:rPr lang="en"/>
              <a:t>20240405</a:t>
            </a:r>
            <a:endParaRPr sz="2800">
              <a:solidFill>
                <a:srgbClr val="9900FF"/>
              </a:solidFill>
            </a:endParaRPr>
          </a:p>
        </p:txBody>
      </p:sp>
      <p:pic>
        <p:nvPicPr>
          <p:cNvPr id="155" name="Google Shape;155;p29"/>
          <p:cNvPicPr preferRelativeResize="0"/>
          <p:nvPr/>
        </p:nvPicPr>
        <p:blipFill>
          <a:blip r:embed="rId3">
            <a:alphaModFix/>
          </a:blip>
          <a:stretch>
            <a:fillRect/>
          </a:stretch>
        </p:blipFill>
        <p:spPr>
          <a:xfrm>
            <a:off x="7628770" y="3090897"/>
            <a:ext cx="1449327" cy="2052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0"/>
          <p:cNvSpPr txBox="1"/>
          <p:nvPr>
            <p:ph type="title"/>
          </p:nvPr>
        </p:nvSpPr>
        <p:spPr>
          <a:xfrm>
            <a:off x="311700" y="118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Resources </a:t>
            </a:r>
            <a:endParaRPr>
              <a:solidFill>
                <a:schemeClr val="lt1"/>
              </a:solidFill>
            </a:endParaRPr>
          </a:p>
        </p:txBody>
      </p:sp>
      <p:sp>
        <p:nvSpPr>
          <p:cNvPr id="161" name="Google Shape;161;p30"/>
          <p:cNvSpPr txBox="1"/>
          <p:nvPr>
            <p:ph idx="1" type="body"/>
          </p:nvPr>
        </p:nvSpPr>
        <p:spPr>
          <a:xfrm>
            <a:off x="0" y="690725"/>
            <a:ext cx="9144000" cy="37923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solidFill>
                  <a:schemeClr val="lt1"/>
                </a:solidFill>
              </a:rPr>
              <a:t>Web Articles</a:t>
            </a:r>
            <a:endParaRPr>
              <a:solidFill>
                <a:schemeClr val="lt1"/>
              </a:solidFill>
            </a:endParaRPr>
          </a:p>
          <a:p>
            <a:pPr indent="-336550" lvl="0" marL="457200" rtl="0" algn="l">
              <a:spcBef>
                <a:spcPts val="1200"/>
              </a:spcBef>
              <a:spcAft>
                <a:spcPts val="0"/>
              </a:spcAft>
              <a:buClr>
                <a:schemeClr val="lt1"/>
              </a:buClr>
              <a:buSzPts val="1700"/>
              <a:buChar char="●"/>
            </a:pPr>
            <a:r>
              <a:rPr lang="en" sz="1700" u="sng">
                <a:solidFill>
                  <a:schemeClr val="lt1"/>
                </a:solidFill>
                <a:hlinkClick r:id="rId3">
                  <a:extLst>
                    <a:ext uri="{A12FA001-AC4F-418D-AE19-62706E023703}">
                      <ahyp:hlinkClr val="tx"/>
                    </a:ext>
                  </a:extLst>
                </a:hlinkClick>
              </a:rPr>
              <a:t>https://reproducible-builds.org</a:t>
            </a:r>
            <a:endParaRPr sz="1700">
              <a:solidFill>
                <a:schemeClr val="lt1"/>
              </a:solidFill>
            </a:endParaRPr>
          </a:p>
          <a:p>
            <a:pPr indent="-336550" lvl="0" marL="457200" rtl="0" algn="l">
              <a:spcBef>
                <a:spcPts val="0"/>
              </a:spcBef>
              <a:spcAft>
                <a:spcPts val="0"/>
              </a:spcAft>
              <a:buClr>
                <a:schemeClr val="lt1"/>
              </a:buClr>
              <a:buSzPts val="1700"/>
              <a:buChar char="●"/>
            </a:pPr>
            <a:r>
              <a:rPr lang="en" sz="1700" u="sng">
                <a:solidFill>
                  <a:schemeClr val="lt1"/>
                </a:solidFill>
                <a:hlinkClick r:id="rId4">
                  <a:extLst>
                    <a:ext uri="{A12FA001-AC4F-418D-AE19-62706E023703}">
                      <ahyp:hlinkClr val="tx"/>
                    </a:ext>
                  </a:extLst>
                </a:hlinkClick>
              </a:rPr>
              <a:t>https://lists.debian.org/debian-release/2023/09/msg00625.html</a:t>
            </a:r>
            <a:endParaRPr sz="1700">
              <a:solidFill>
                <a:schemeClr val="lt1"/>
              </a:solidFill>
            </a:endParaRPr>
          </a:p>
          <a:p>
            <a:pPr indent="-336550" lvl="0" marL="457200" rtl="0" algn="l">
              <a:spcBef>
                <a:spcPts val="0"/>
              </a:spcBef>
              <a:spcAft>
                <a:spcPts val="0"/>
              </a:spcAft>
              <a:buClr>
                <a:schemeClr val="lt1"/>
              </a:buClr>
              <a:buSzPts val="1700"/>
              <a:buChar char="●"/>
            </a:pPr>
            <a:r>
              <a:rPr lang="en" sz="1700" u="sng">
                <a:solidFill>
                  <a:schemeClr val="lt1"/>
                </a:solidFill>
                <a:hlinkClick r:id="rId5">
                  <a:extLst>
                    <a:ext uri="{A12FA001-AC4F-418D-AE19-62706E023703}">
                      <ahyp:hlinkClr val="tx"/>
                    </a:ext>
                  </a:extLst>
                </a:hlinkClick>
              </a:rPr>
              <a:t>https://lists.reproducible-builds.org/pipermail/rb-general/2023-September/003076.html</a:t>
            </a:r>
            <a:r>
              <a:rPr lang="en" sz="1700">
                <a:solidFill>
                  <a:schemeClr val="lt1"/>
                </a:solidFill>
              </a:rPr>
              <a:t> </a:t>
            </a:r>
            <a:endParaRPr sz="1700">
              <a:solidFill>
                <a:schemeClr val="lt1"/>
              </a:solidFill>
            </a:endParaRPr>
          </a:p>
          <a:p>
            <a:pPr indent="-336550" lvl="0" marL="457200" rtl="0" algn="l">
              <a:spcBef>
                <a:spcPts val="0"/>
              </a:spcBef>
              <a:spcAft>
                <a:spcPts val="0"/>
              </a:spcAft>
              <a:buClr>
                <a:schemeClr val="lt1"/>
              </a:buClr>
              <a:buSzPts val="1700"/>
              <a:buChar char="●"/>
            </a:pPr>
            <a:r>
              <a:rPr lang="en" sz="1700" u="sng">
                <a:solidFill>
                  <a:schemeClr val="lt1"/>
                </a:solidFill>
                <a:hlinkClick r:id="rId6">
                  <a:extLst>
                    <a:ext uri="{A12FA001-AC4F-418D-AE19-62706E023703}">
                      <ahyp:hlinkClr val="tx"/>
                    </a:ext>
                  </a:extLst>
                </a:hlinkClick>
              </a:rPr>
              <a:t>https://buildinfos.debian.net/ftp-master.debian.org/buildinfo/2023/09/16/</a:t>
            </a:r>
            <a:r>
              <a:rPr lang="en" sz="1700">
                <a:solidFill>
                  <a:schemeClr val="lt1"/>
                </a:solidFill>
              </a:rPr>
              <a:t> </a:t>
            </a:r>
            <a:endParaRPr sz="1700">
              <a:solidFill>
                <a:schemeClr val="lt1"/>
              </a:solidFill>
            </a:endParaRPr>
          </a:p>
          <a:p>
            <a:pPr indent="-342900" lvl="0" marL="457200" rtl="0" algn="l">
              <a:spcBef>
                <a:spcPts val="0"/>
              </a:spcBef>
              <a:spcAft>
                <a:spcPts val="0"/>
              </a:spcAft>
              <a:buClr>
                <a:schemeClr val="lt1"/>
              </a:buClr>
              <a:buSzPts val="1800"/>
              <a:buChar char="●"/>
            </a:pPr>
            <a:r>
              <a:rPr lang="en" u="sng">
                <a:solidFill>
                  <a:schemeClr val="lt1"/>
                </a:solidFill>
                <a:hlinkClick r:id="rId7">
                  <a:extLst>
                    <a:ext uri="{A12FA001-AC4F-418D-AE19-62706E023703}">
                      <ahyp:hlinkClr val="tx"/>
                    </a:ext>
                  </a:extLst>
                </a:hlinkClick>
              </a:rPr>
              <a:t>https://fossa.com/blog/three-pillars-reproducible-builds/</a:t>
            </a:r>
            <a:endParaRPr>
              <a:solidFill>
                <a:schemeClr val="lt1"/>
              </a:solidFill>
            </a:endParaRPr>
          </a:p>
          <a:p>
            <a:pPr indent="-342900" lvl="0" marL="457200" rtl="0" algn="l">
              <a:spcBef>
                <a:spcPts val="0"/>
              </a:spcBef>
              <a:spcAft>
                <a:spcPts val="0"/>
              </a:spcAft>
              <a:buClr>
                <a:schemeClr val="lt1"/>
              </a:buClr>
              <a:buSzPts val="1800"/>
              <a:buChar char="●"/>
            </a:pPr>
            <a:r>
              <a:rPr lang="en" u="sng">
                <a:solidFill>
                  <a:schemeClr val="lt1"/>
                </a:solidFill>
                <a:hlinkClick r:id="rId8">
                  <a:extLst>
                    <a:ext uri="{A12FA001-AC4F-418D-AE19-62706E023703}">
                      <ahyp:hlinkClr val="tx"/>
                    </a:ext>
                  </a:extLst>
                </a:hlinkClick>
              </a:rPr>
              <a:t>https://blog.llvm.org/2019/11/deterministic-builds-with-clang-and-lld.html</a:t>
            </a:r>
            <a:endParaRPr>
              <a:solidFill>
                <a:schemeClr val="lt1"/>
              </a:solidFill>
            </a:endParaRPr>
          </a:p>
          <a:p>
            <a:pPr indent="-342900" lvl="0" marL="457200" rtl="0" algn="l">
              <a:spcBef>
                <a:spcPts val="0"/>
              </a:spcBef>
              <a:spcAft>
                <a:spcPts val="0"/>
              </a:spcAft>
              <a:buClr>
                <a:schemeClr val="lt1"/>
              </a:buClr>
              <a:buSzPts val="1800"/>
              <a:buChar char="●"/>
            </a:pPr>
            <a:r>
              <a:rPr lang="en" u="sng">
                <a:solidFill>
                  <a:schemeClr val="lt1"/>
                </a:solidFill>
                <a:hlinkClick r:id="rId9">
                  <a:extLst>
                    <a:ext uri="{A12FA001-AC4F-418D-AE19-62706E023703}">
                      <ahyp:hlinkClr val="tx"/>
                    </a:ext>
                  </a:extLst>
                </a:hlinkClick>
              </a:rPr>
              <a:t>https://discussion.fedoraproject.org/t/report-from-the-reproducible-builds-hackfest-during-flock-2023/87469</a:t>
            </a:r>
            <a:endParaRPr sz="1700">
              <a:solidFill>
                <a:schemeClr val="lt1"/>
              </a:solidFill>
            </a:endParaRPr>
          </a:p>
          <a:p>
            <a:pPr indent="0" lvl="0" marL="0" rtl="0" algn="l">
              <a:spcBef>
                <a:spcPts val="1200"/>
              </a:spcBef>
              <a:spcAft>
                <a:spcPts val="0"/>
              </a:spcAft>
              <a:buNone/>
            </a:pPr>
            <a:r>
              <a:rPr lang="en">
                <a:solidFill>
                  <a:schemeClr val="lt1"/>
                </a:solidFill>
              </a:rPr>
              <a:t>Interesting tools</a:t>
            </a:r>
            <a:endParaRPr>
              <a:solidFill>
                <a:schemeClr val="lt1"/>
              </a:solidFill>
            </a:endParaRPr>
          </a:p>
          <a:p>
            <a:pPr indent="-342900" lvl="0" marL="457200" rtl="0" algn="l">
              <a:spcBef>
                <a:spcPts val="1200"/>
              </a:spcBef>
              <a:spcAft>
                <a:spcPts val="0"/>
              </a:spcAft>
              <a:buClr>
                <a:schemeClr val="lt1"/>
              </a:buClr>
              <a:buSzPts val="1800"/>
              <a:buChar char="●"/>
            </a:pPr>
            <a:r>
              <a:rPr lang="en" u="sng">
                <a:solidFill>
                  <a:schemeClr val="lt1"/>
                </a:solidFill>
                <a:hlinkClick r:id="rId10">
                  <a:extLst>
                    <a:ext uri="{A12FA001-AC4F-418D-AE19-62706E023703}">
                      <ahyp:hlinkClr val="tx"/>
                    </a:ext>
                  </a:extLst>
                </a:hlinkClick>
              </a:rPr>
              <a:t>https://diffoscope.org/</a:t>
            </a:r>
            <a:endParaRPr>
              <a:solidFill>
                <a:schemeClr val="lt1"/>
              </a:solidFill>
            </a:endParaRPr>
          </a:p>
          <a:p>
            <a:pPr indent="-342900" lvl="0" marL="457200" rtl="0" algn="l">
              <a:spcBef>
                <a:spcPts val="0"/>
              </a:spcBef>
              <a:spcAft>
                <a:spcPts val="0"/>
              </a:spcAft>
              <a:buClr>
                <a:schemeClr val="lt1"/>
              </a:buClr>
              <a:buSzPts val="1800"/>
              <a:buChar char="●"/>
            </a:pPr>
            <a:r>
              <a:rPr lang="en" u="sng">
                <a:solidFill>
                  <a:schemeClr val="lt1"/>
                </a:solidFill>
                <a:hlinkClick r:id="rId11">
                  <a:extLst>
                    <a:ext uri="{A12FA001-AC4F-418D-AE19-62706E023703}">
                      <ahyp:hlinkClr val="tx"/>
                    </a:ext>
                  </a:extLst>
                </a:hlinkClick>
              </a:rPr>
              <a:t>https://salsa.debian.org/reproducible-builds/debian-verification-build-experiment</a:t>
            </a:r>
            <a:r>
              <a:rPr lang="en">
                <a:solidFill>
                  <a:schemeClr val="lt1"/>
                </a:solidFill>
              </a:rPr>
              <a:t> </a:t>
            </a:r>
            <a:endParaRPr sz="1700">
              <a:solidFill>
                <a:schemeClr val="lt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p31"/>
          <p:cNvPicPr preferRelativeResize="0"/>
          <p:nvPr/>
        </p:nvPicPr>
        <p:blipFill>
          <a:blip r:embed="rId3">
            <a:alphaModFix/>
          </a:blip>
          <a:stretch>
            <a:fillRect/>
          </a:stretch>
        </p:blipFill>
        <p:spPr>
          <a:xfrm>
            <a:off x="599099" y="0"/>
            <a:ext cx="7945798" cy="44695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