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slide" Target="slides/slide39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46" Type="http://schemas.openxmlformats.org/officeDocument/2006/relationships/slide" Target="slides/slide41.xml"/><Relationship Id="rId23" Type="http://schemas.openxmlformats.org/officeDocument/2006/relationships/slide" Target="slides/slide18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47" Type="http://schemas.openxmlformats.org/officeDocument/2006/relationships/slide" Target="slides/slide42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8effe5632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8effe5632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de13e21d6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de13e21d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8effe5632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8effe5632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de13e21d68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de13e21d68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de13e21d68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de13e21d68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de13e21d68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de13e21d68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de13e21d68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de13e21d68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de13e21d68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de13e21d68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8effe5632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8effe5632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8effe5632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8effe5632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de13e21d68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de13e21d68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de13e21d68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de13e21d68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de13e21d68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de13e21d68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8effe56323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8effe56323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de13e21d68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de13e21d68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8effe56323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8effe56323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de5479557f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de5479557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de13e21d68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de13e21d68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de5479557f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de5479557f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de5479557f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de5479557f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de5479557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de547955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de5479557f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2de5479557f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de5479557f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de5479557f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de5479557f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2de5479557f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de13e21d68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2de13e21d68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de5479557f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2de5479557f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de5479557f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2de5479557f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de5479557f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2de5479557f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de5479557f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2de5479557f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8effe56323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28effe56323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de5479557f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2de5479557f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de5479557f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2de5479557f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de5479557f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2de5479557f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2de5479557f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2de5479557f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28effe56323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28effe56323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8effe56323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8effe56323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28effe56323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28effe56323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28effe56323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28effe56323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28effe56323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28effe56323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28effe56323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28effe56323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2de13e21d68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2de13e21d6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github.com/xbcsmith/epr-workshop" TargetMode="External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docs.docker.com/get-docker/" TargetMode="External"/><Relationship Id="rId4" Type="http://schemas.openxmlformats.org/officeDocument/2006/relationships/hyperlink" Target="https://docs.docker.com/compose/install/" TargetMode="External"/><Relationship Id="rId5" Type="http://schemas.openxmlformats.org/officeDocument/2006/relationships/hyperlink" Target="https://go.dev/doc/install" TargetMode="External"/><Relationship Id="rId6" Type="http://schemas.openxmlformats.org/officeDocument/2006/relationships/hyperlink" Target="https://www.python.org/downloads" TargetMode="External"/><Relationship Id="rId7" Type="http://schemas.openxmlformats.org/officeDocument/2006/relationships/hyperlink" Target="https://git-scm.com/downloads" TargetMode="External"/><Relationship Id="rId8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5732675" y="3720900"/>
            <a:ext cx="20280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4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</a:rPr>
              <a:t>Brett Smith</a:t>
            </a:r>
            <a:endParaRPr sz="2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</a:rPr>
              <a:t>xbcsmith@gmail.com</a:t>
            </a:r>
            <a:endParaRPr sz="2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</a:rPr>
              <a:t>20240405</a:t>
            </a:r>
            <a:endParaRPr sz="2800">
              <a:solidFill>
                <a:schemeClr val="lt1"/>
              </a:solidFill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28770" y="3090897"/>
            <a:ext cx="1449327" cy="205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711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Building an Event-Driven CI/CD Provenance System</a:t>
            </a:r>
            <a:endParaRPr b="1" sz="7900" u="sng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5732675" y="3720900"/>
            <a:ext cx="20280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Brett Smith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xbcsmith@gmail.com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20240405</a:t>
            </a:r>
            <a:endParaRPr sz="2800">
              <a:solidFill>
                <a:srgbClr val="9900FF"/>
              </a:solidFill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8770" y="3090897"/>
            <a:ext cx="1449327" cy="205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Event Driven CI/CD Workshop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View the workshop: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https://github.com/xbcsmith/epr-workshop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Clone</a:t>
            </a:r>
            <a:r>
              <a:rPr lang="en"/>
              <a:t> the workshop: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git clone git@github.com:xbcsmith/epr-workshop.git</a:t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75825" y="966500"/>
            <a:ext cx="3146825" cy="314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Event Driven Microservice Architectures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4300800" cy="178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Asynchronous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Allows for scalability and modularity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Provides an audit trail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Services are specialized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Independent SDLC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4736800" y="2620675"/>
            <a:ext cx="4300800" cy="178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Creeping system complexity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Eventual consistency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Increased maintenance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Downstream flooding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Dead Letters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Declarative and Imperative Events</a:t>
            </a:r>
            <a:endParaRPr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1" cy="1435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757873"/>
            <a:ext cx="8839201" cy="14353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Cloud Events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4300800" cy="178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Interoperability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Producer Consumer Independence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Asynchronous Communication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Standard Data Model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4736800" y="2620675"/>
            <a:ext cx="4300800" cy="178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Dynamic Event Interest Expression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Flexible Event Consumption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Consumer Evolution </a:t>
            </a: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8325" y="1017725"/>
            <a:ext cx="2361476" cy="155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CDEvents</a:t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4300800" cy="178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Common Vocabulary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Normalized Form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System Agnostic</a:t>
            </a:r>
            <a:endParaRPr/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4736800" y="2620675"/>
            <a:ext cx="4300800" cy="178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Declarative events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Simplified Integration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Targeted Notifications</a:t>
            </a:r>
            <a:endParaRPr/>
          </a:p>
        </p:txBody>
      </p:sp>
      <p:pic>
        <p:nvPicPr>
          <p:cNvPr id="99" name="Google Shape;9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575" y="2620675"/>
            <a:ext cx="4191439" cy="155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Event Provenance Registry (EPR)</a:t>
            </a:r>
            <a:endParaRPr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1152475"/>
            <a:ext cx="4300800" cy="178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Event Receivers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Event Receiver Groups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4736800" y="2620675"/>
            <a:ext cx="4300800" cy="178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Messages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CloudEvents Spec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Declarative events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Imperative events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Watchers</a:t>
            </a:r>
            <a:endParaRPr/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311700" y="2620675"/>
            <a:ext cx="4300800" cy="178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Gating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Auditing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Provenance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7700" y="0"/>
            <a:ext cx="1196300" cy="119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7438" y="0"/>
            <a:ext cx="4429125" cy="442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 Up the Environment</a:t>
            </a:r>
            <a:endParaRPr/>
          </a:p>
        </p:txBody>
      </p:sp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1376250" y="1142925"/>
            <a:ext cx="6391500" cy="3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 –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https://docs.docker.com/get-docker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Docker Compose –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https://docs.docker.com/compose/install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Golang – </a:t>
            </a:r>
            <a:r>
              <a:rPr lang="en" u="sng">
                <a:solidFill>
                  <a:schemeClr val="hlink"/>
                </a:solidFill>
                <a:hlinkClick r:id="rId5"/>
              </a:rPr>
              <a:t>https://go.dev/doc/install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Python – </a:t>
            </a:r>
            <a:r>
              <a:rPr lang="en" u="sng">
                <a:solidFill>
                  <a:schemeClr val="hlink"/>
                </a:solidFill>
                <a:hlinkClick r:id="rId6"/>
              </a:rPr>
              <a:t>https://www.python.org/downloads</a:t>
            </a:r>
            <a:r>
              <a:rPr lang="en"/>
              <a:t> </a:t>
            </a:r>
            <a:endParaRPr sz="900">
              <a:solidFill>
                <a:srgbClr val="C678DD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Git – </a:t>
            </a:r>
            <a:r>
              <a:rPr lang="en" u="sng">
                <a:solidFill>
                  <a:schemeClr val="hlink"/>
                </a:solidFill>
                <a:hlinkClick r:id="rId7"/>
              </a:rPr>
              <a:t>https://git-scm.com/downloads</a:t>
            </a:r>
            <a:r>
              <a:rPr lang="en"/>
              <a:t>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ABB2BF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947700" y="0"/>
            <a:ext cx="1196300" cy="119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R</a:t>
            </a:r>
            <a:r>
              <a:rPr lang="en"/>
              <a:t>edpanda (Kafka): Message Queue Overview</a:t>
            </a:r>
            <a:endParaRPr/>
          </a:p>
        </p:txBody>
      </p:sp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311700" y="1152475"/>
            <a:ext cx="8520600" cy="16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1625"/>
              <a:t>Redpanda is a Kafka-compatible event streaming platform. </a:t>
            </a:r>
            <a:endParaRPr sz="162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625"/>
              <a:t>It provides a message bus for our event-driven architecture.</a:t>
            </a:r>
            <a:endParaRPr sz="162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625"/>
              <a:t>Simple. Kafka® API-compatible. ZooKeeper® free. JVM free.</a:t>
            </a:r>
            <a:endParaRPr sz="162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t/>
            </a:r>
            <a:endParaRPr sz="1625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sz="1125"/>
          </a:p>
        </p:txBody>
      </p:sp>
      <p:pic>
        <p:nvPicPr>
          <p:cNvPr id="127" name="Google Shape;12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7700" y="0"/>
            <a:ext cx="1196300" cy="119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19100" y="1671475"/>
            <a:ext cx="3224909" cy="2824324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3"/>
          <p:cNvSpPr txBox="1"/>
          <p:nvPr/>
        </p:nvSpPr>
        <p:spPr>
          <a:xfrm>
            <a:off x="273600" y="2633675"/>
            <a:ext cx="5532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Redpanda Nodes - Self contained service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Redpanda Keeper - CLI for managing clusters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Redpanda Console - UI for managing clusters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Redpanda (Kafka): Message Queue Overview</a:t>
            </a:r>
            <a:endParaRPr/>
          </a:p>
        </p:txBody>
      </p:sp>
      <p:sp>
        <p:nvSpPr>
          <p:cNvPr id="135" name="Google Shape;135;p24"/>
          <p:cNvSpPr txBox="1"/>
          <p:nvPr/>
        </p:nvSpPr>
        <p:spPr>
          <a:xfrm>
            <a:off x="354450" y="1587925"/>
            <a:ext cx="8435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61AFE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docker</a:t>
            </a:r>
            <a:r>
              <a:rPr lang="en" sz="13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rgbClr val="98C379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compose</a:t>
            </a:r>
            <a:r>
              <a:rPr lang="en" sz="13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rgbClr val="D19A66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-f</a:t>
            </a:r>
            <a:r>
              <a:rPr lang="en" sz="13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rgbClr val="98C379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./compose/docker-compose.yaml</a:t>
            </a:r>
            <a:r>
              <a:rPr lang="en" sz="13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rgbClr val="98C379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up</a:t>
            </a:r>
            <a:endParaRPr sz="1800"/>
          </a:p>
        </p:txBody>
      </p:sp>
      <p:sp>
        <p:nvSpPr>
          <p:cNvPr id="136" name="Google Shape;136;p24"/>
          <p:cNvSpPr txBox="1"/>
          <p:nvPr/>
        </p:nvSpPr>
        <p:spPr>
          <a:xfrm>
            <a:off x="364650" y="2455813"/>
            <a:ext cx="84147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61AFE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docker</a:t>
            </a:r>
            <a:r>
              <a:rPr lang="en" sz="13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rgbClr val="98C379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exec</a:t>
            </a:r>
            <a:r>
              <a:rPr lang="en" sz="13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rgbClr val="D19A66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-it</a:t>
            </a:r>
            <a:r>
              <a:rPr lang="en" sz="13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rgbClr val="98C379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redpanda</a:t>
            </a:r>
            <a:r>
              <a:rPr lang="en" sz="13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rpk topic create epr.dev.events --brokers=localhost:9092</a:t>
            </a:r>
            <a:endParaRPr sz="1300">
              <a:solidFill>
                <a:srgbClr val="ABB2BF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61AFE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docker</a:t>
            </a:r>
            <a:r>
              <a:rPr lang="en" sz="13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rgbClr val="98C379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exec</a:t>
            </a:r>
            <a:r>
              <a:rPr lang="en" sz="13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rgbClr val="D19A66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-it</a:t>
            </a:r>
            <a:r>
              <a:rPr lang="en" sz="13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rgbClr val="98C379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redpanda</a:t>
            </a:r>
            <a:r>
              <a:rPr lang="en" sz="13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rpk topic produce epr.dev.events --brokers=localhost:9092</a:t>
            </a:r>
            <a:endParaRPr sz="1800"/>
          </a:p>
        </p:txBody>
      </p:sp>
      <p:sp>
        <p:nvSpPr>
          <p:cNvPr id="137" name="Google Shape;137;p24"/>
          <p:cNvSpPr txBox="1"/>
          <p:nvPr/>
        </p:nvSpPr>
        <p:spPr>
          <a:xfrm>
            <a:off x="364650" y="3655275"/>
            <a:ext cx="837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61AFE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docker</a:t>
            </a:r>
            <a:r>
              <a:rPr lang="en" sz="13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rgbClr val="98C379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exec</a:t>
            </a:r>
            <a:r>
              <a:rPr lang="en" sz="13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rgbClr val="D19A66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-it</a:t>
            </a:r>
            <a:r>
              <a:rPr lang="en" sz="13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rgbClr val="98C379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redpanda</a:t>
            </a:r>
            <a:r>
              <a:rPr lang="en" sz="13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rpk topic consume epr.dev.events --brokers=localhost:9092</a:t>
            </a:r>
            <a:endParaRPr sz="1600"/>
          </a:p>
        </p:txBody>
      </p:sp>
      <p:sp>
        <p:nvSpPr>
          <p:cNvPr id="138" name="Google Shape;138;p24"/>
          <p:cNvSpPr txBox="1"/>
          <p:nvPr>
            <p:ph idx="1" type="body"/>
          </p:nvPr>
        </p:nvSpPr>
        <p:spPr>
          <a:xfrm>
            <a:off x="354450" y="3270375"/>
            <a:ext cx="84351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lang="en" sz="1625"/>
              <a:t>Terminal 3 : run the command to consume the message</a:t>
            </a:r>
            <a:endParaRPr sz="1125"/>
          </a:p>
        </p:txBody>
      </p:sp>
      <p:sp>
        <p:nvSpPr>
          <p:cNvPr id="139" name="Google Shape;139;p24"/>
          <p:cNvSpPr txBox="1"/>
          <p:nvPr>
            <p:ph idx="1" type="body"/>
          </p:nvPr>
        </p:nvSpPr>
        <p:spPr>
          <a:xfrm>
            <a:off x="354450" y="2102488"/>
            <a:ext cx="84351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lang="en" sz="1625"/>
              <a:t>Terminal 2 : run the commands create a topic and produce the message</a:t>
            </a:r>
            <a:endParaRPr sz="1125"/>
          </a:p>
        </p:txBody>
      </p:sp>
      <p:sp>
        <p:nvSpPr>
          <p:cNvPr id="140" name="Google Shape;140;p24"/>
          <p:cNvSpPr txBox="1"/>
          <p:nvPr>
            <p:ph idx="1" type="body"/>
          </p:nvPr>
        </p:nvSpPr>
        <p:spPr>
          <a:xfrm>
            <a:off x="354450" y="1265175"/>
            <a:ext cx="84351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lang="en" sz="1625"/>
              <a:t>Terminal 1 : run the command to consume the message</a:t>
            </a:r>
            <a:endParaRPr sz="1125"/>
          </a:p>
        </p:txBody>
      </p:sp>
      <p:pic>
        <p:nvPicPr>
          <p:cNvPr id="141" name="Google Shape;14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7700" y="0"/>
            <a:ext cx="1196300" cy="119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EPR Concepts</a:t>
            </a:r>
            <a:endParaRPr/>
          </a:p>
        </p:txBody>
      </p:sp>
      <p:sp>
        <p:nvSpPr>
          <p:cNvPr id="147" name="Google Shape;147;p25"/>
          <p:cNvSpPr txBox="1"/>
          <p:nvPr>
            <p:ph idx="1" type="body"/>
          </p:nvPr>
        </p:nvSpPr>
        <p:spPr>
          <a:xfrm>
            <a:off x="311700" y="1152475"/>
            <a:ext cx="4300800" cy="178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Event Receivers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Event Receiver Groups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5"/>
          <p:cNvSpPr txBox="1"/>
          <p:nvPr>
            <p:ph idx="1" type="body"/>
          </p:nvPr>
        </p:nvSpPr>
        <p:spPr>
          <a:xfrm>
            <a:off x="4736800" y="2620675"/>
            <a:ext cx="4300800" cy="178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Messages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CloudEvents Spec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Declarative events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Imperative events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Watchers</a:t>
            </a:r>
            <a:endParaRPr/>
          </a:p>
        </p:txBody>
      </p:sp>
      <p:sp>
        <p:nvSpPr>
          <p:cNvPr id="149" name="Google Shape;149;p25"/>
          <p:cNvSpPr txBox="1"/>
          <p:nvPr>
            <p:ph idx="1" type="body"/>
          </p:nvPr>
        </p:nvSpPr>
        <p:spPr>
          <a:xfrm>
            <a:off x="311700" y="2620675"/>
            <a:ext cx="4300800" cy="178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 - Name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 - Version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 - Release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 - Platform ID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 - Package</a:t>
            </a:r>
            <a:endParaRPr/>
          </a:p>
        </p:txBody>
      </p:sp>
      <p:sp>
        <p:nvSpPr>
          <p:cNvPr id="150" name="Google Shape;150;p25"/>
          <p:cNvSpPr txBox="1"/>
          <p:nvPr>
            <p:ph idx="1" type="body"/>
          </p:nvPr>
        </p:nvSpPr>
        <p:spPr>
          <a:xfrm>
            <a:off x="4736800" y="1017725"/>
            <a:ext cx="3169500" cy="178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Gating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Auditing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Provenance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1" name="Google Shape;15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7700" y="0"/>
            <a:ext cx="1196300" cy="119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 txBox="1"/>
          <p:nvPr>
            <p:ph type="title"/>
          </p:nvPr>
        </p:nvSpPr>
        <p:spPr>
          <a:xfrm>
            <a:off x="311700" y="445025"/>
            <a:ext cx="2496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EPR Workflow</a:t>
            </a:r>
            <a:endParaRPr/>
          </a:p>
        </p:txBody>
      </p:sp>
      <p:pic>
        <p:nvPicPr>
          <p:cNvPr id="157" name="Google Shape;15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0575" y="30950"/>
            <a:ext cx="4148974" cy="441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47700" y="0"/>
            <a:ext cx="1196300" cy="119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Exploring EPR: Codebase Overview</a:t>
            </a:r>
            <a:endParaRPr/>
          </a:p>
        </p:txBody>
      </p:sp>
      <p:sp>
        <p:nvSpPr>
          <p:cNvPr id="164" name="Google Shape;164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Use the following command to clone the EPR project repository: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ABB2BF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ABB2BF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61AFE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git</a:t>
            </a:r>
            <a:r>
              <a:rPr lang="en" sz="16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>
                <a:solidFill>
                  <a:srgbClr val="98C379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clone</a:t>
            </a:r>
            <a:r>
              <a:rPr lang="en" sz="16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>
                <a:solidFill>
                  <a:srgbClr val="98C379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git@github.com:sassoftware/event-provenance-registry.git</a:t>
            </a:r>
            <a:endParaRPr sz="1600">
              <a:solidFill>
                <a:srgbClr val="98C379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ABB2BF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5" name="Google Shape;16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7700" y="0"/>
            <a:ext cx="1196300" cy="119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Exploring EPR: Start the Backend</a:t>
            </a:r>
            <a:endParaRPr/>
          </a:p>
        </p:txBody>
      </p:sp>
      <p:sp>
        <p:nvSpPr>
          <p:cNvPr id="171" name="Google Shape;171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a new terminal and </a:t>
            </a:r>
            <a:r>
              <a:rPr lang="en">
                <a:solidFill>
                  <a:schemeClr val="accent1"/>
                </a:solidFill>
              </a:rPr>
              <a:t>cd</a:t>
            </a:r>
            <a:r>
              <a:rPr lang="en"/>
              <a:t> to the event-provenance-registry repository.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6B6C2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cd</a:t>
            </a:r>
            <a:r>
              <a:rPr lang="en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98C379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event-provenance-registry</a:t>
            </a:r>
            <a:endParaRPr>
              <a:solidFill>
                <a:srgbClr val="98C379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Use the following command to start the backend services for EPR:</a:t>
            </a:r>
            <a:endParaRPr sz="900">
              <a:solidFill>
                <a:srgbClr val="ABB2BF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1AFE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docker</a:t>
            </a:r>
            <a:r>
              <a:rPr lang="en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98C379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compose</a:t>
            </a:r>
            <a:r>
              <a:rPr lang="en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D19A66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-f</a:t>
            </a:r>
            <a:r>
              <a:rPr lang="en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98C379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./docker-compose.services.yaml</a:t>
            </a:r>
            <a:r>
              <a:rPr lang="en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98C379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up</a:t>
            </a:r>
            <a:endParaRPr>
              <a:solidFill>
                <a:srgbClr val="98C379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98C379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ABB2BF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2" name="Google Shape;17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7700" y="0"/>
            <a:ext cx="1196300" cy="119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Building EPR: Service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Open a new terminal and </a:t>
            </a:r>
            <a:r>
              <a:rPr lang="en">
                <a:solidFill>
                  <a:schemeClr val="accent1"/>
                </a:solidFill>
              </a:rPr>
              <a:t>cd</a:t>
            </a:r>
            <a:r>
              <a:rPr lang="en"/>
              <a:t> to the event-provenance-registry repository.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56B6C2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cd</a:t>
            </a:r>
            <a:r>
              <a:rPr lang="en" sz="15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98C379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event-provenance-registry</a:t>
            </a:r>
            <a:endParaRPr sz="1500">
              <a:solidFill>
                <a:srgbClr val="98C379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Export the following environment variables: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C678DD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en" sz="14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00">
                <a:solidFill>
                  <a:srgbClr val="E06C75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EPR_TOPIC</a:t>
            </a:r>
            <a:r>
              <a:rPr lang="en" sz="1400">
                <a:solidFill>
                  <a:srgbClr val="C678DD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400">
                <a:solidFill>
                  <a:srgbClr val="E06C75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epr</a:t>
            </a:r>
            <a:r>
              <a:rPr lang="en" sz="14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400">
                <a:solidFill>
                  <a:srgbClr val="E06C75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dev</a:t>
            </a:r>
            <a:r>
              <a:rPr lang="en" sz="14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400">
                <a:solidFill>
                  <a:srgbClr val="E06C75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events</a:t>
            </a:r>
            <a:endParaRPr sz="1400">
              <a:solidFill>
                <a:srgbClr val="E06C75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C678DD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en" sz="14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00">
                <a:solidFill>
                  <a:srgbClr val="E06C75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EPR_BROKERS</a:t>
            </a:r>
            <a:r>
              <a:rPr lang="en" sz="1400">
                <a:solidFill>
                  <a:srgbClr val="C678DD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400">
                <a:solidFill>
                  <a:srgbClr val="E06C75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localhost</a:t>
            </a:r>
            <a:r>
              <a:rPr lang="en" sz="14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400">
                <a:solidFill>
                  <a:srgbClr val="E06C75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19092</a:t>
            </a:r>
            <a:endParaRPr sz="1400">
              <a:solidFill>
                <a:srgbClr val="E06C75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C678DD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en" sz="14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00">
                <a:solidFill>
                  <a:srgbClr val="E06C75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EPR_DB</a:t>
            </a:r>
            <a:r>
              <a:rPr lang="en" sz="1400">
                <a:solidFill>
                  <a:srgbClr val="C678DD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400">
                <a:solidFill>
                  <a:srgbClr val="E06C75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postgres</a:t>
            </a:r>
            <a:r>
              <a:rPr lang="en" sz="14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://</a:t>
            </a:r>
            <a:r>
              <a:rPr lang="en" sz="1400">
                <a:solidFill>
                  <a:srgbClr val="E06C75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localhost</a:t>
            </a:r>
            <a:r>
              <a:rPr lang="en" sz="14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400">
                <a:solidFill>
                  <a:srgbClr val="E06C75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5432</a:t>
            </a:r>
            <a:endParaRPr sz="1400">
              <a:solidFill>
                <a:srgbClr val="E06C75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Then we can start the EPR server with the following command: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1AFE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go</a:t>
            </a:r>
            <a:r>
              <a:rPr lang="en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98C379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run</a:t>
            </a:r>
            <a:r>
              <a:rPr lang="en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98C379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main.go</a:t>
            </a:r>
            <a:endParaRPr>
              <a:solidFill>
                <a:srgbClr val="98C379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server will be available on </a:t>
            </a:r>
            <a:r>
              <a:rPr lang="en" sz="1764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localhost:8042</a:t>
            </a:r>
            <a:endParaRPr sz="1764">
              <a:solidFill>
                <a:srgbClr val="ABB2BF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179" name="Google Shape;17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7700" y="0"/>
            <a:ext cx="1196300" cy="119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Setup</a:t>
            </a:r>
            <a:r>
              <a:rPr lang="en"/>
              <a:t> EPR: Workflow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EPR workflow to setup the server to produce events is as follows:</a:t>
            </a:r>
            <a:endParaRPr/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Create an Event Receiver.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Post an Event to the Event Receiver.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EPR produces message on topic.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To leverage Event Receiver Groups we would follow this workflow:</a:t>
            </a:r>
            <a:endParaRPr/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Create several Event Receivers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Create an Event Receiver Group with all the Event Receivers.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Create an Event with identical NVRPP for each Event Receiver in the Group.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EPR produces a message for each Event on the topic.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When the last Event is sent EPR produces a message for the Event Receiver Group on the topic.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186" name="Google Shape;18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7700" y="0"/>
            <a:ext cx="1196300" cy="119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Curl </a:t>
            </a:r>
            <a:r>
              <a:rPr lang="en"/>
              <a:t>EPR: Create an Event Receiver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31"/>
          <p:cNvSpPr txBox="1"/>
          <p:nvPr>
            <p:ph idx="1" type="body"/>
          </p:nvPr>
        </p:nvSpPr>
        <p:spPr>
          <a:xfrm>
            <a:off x="1931250" y="1042425"/>
            <a:ext cx="5281500" cy="3416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61AFE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curl</a:t>
            </a:r>
            <a:r>
              <a:rPr lang="en" sz="9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D19A6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--location</a:t>
            </a:r>
            <a:r>
              <a:rPr lang="en" sz="9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D19A6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--request</a:t>
            </a:r>
            <a:r>
              <a:rPr lang="en" sz="9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POST</a:t>
            </a:r>
            <a:r>
              <a:rPr lang="en" sz="9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'http://localhost:8042/api/v1/receivers'</a:t>
            </a:r>
            <a:r>
              <a:rPr lang="en" sz="9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56B6C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\</a:t>
            </a:r>
            <a:endParaRPr sz="900">
              <a:solidFill>
                <a:srgbClr val="56B6C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61AFE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--header</a:t>
            </a:r>
            <a:r>
              <a:rPr lang="en" sz="9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'Content-Type: application/json'</a:t>
            </a:r>
            <a:r>
              <a:rPr lang="en" sz="9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56B6C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\</a:t>
            </a:r>
            <a:endParaRPr sz="900">
              <a:solidFill>
                <a:srgbClr val="56B6C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61AFE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--data-raw</a:t>
            </a:r>
            <a:r>
              <a:rPr lang="en" sz="9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'{</a:t>
            </a:r>
            <a:endParaRPr sz="900"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"name": "foobar",</a:t>
            </a:r>
            <a:endParaRPr sz="900"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"type": "foo.bar",</a:t>
            </a:r>
            <a:endParaRPr sz="900"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"version": "1.1.3",</a:t>
            </a:r>
            <a:endParaRPr sz="900"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"description": "The event receiver of Brixton",</a:t>
            </a:r>
            <a:endParaRPr sz="900"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"schema": {</a:t>
            </a:r>
            <a:endParaRPr sz="900"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"type": "object",</a:t>
            </a:r>
            <a:endParaRPr sz="900"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"properties": {</a:t>
            </a:r>
            <a:endParaRPr sz="900"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"name": {</a:t>
            </a:r>
            <a:endParaRPr sz="900"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"type": "string"</a:t>
            </a:r>
            <a:endParaRPr sz="900"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}</a:t>
            </a:r>
            <a:endParaRPr sz="900"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900"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900"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}'</a:t>
            </a:r>
            <a:endParaRPr sz="900"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93" name="Google Shape;19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7700" y="0"/>
            <a:ext cx="1196300" cy="119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Curl EPR: Create an Event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32"/>
          <p:cNvSpPr txBox="1"/>
          <p:nvPr>
            <p:ph idx="1" type="body"/>
          </p:nvPr>
        </p:nvSpPr>
        <p:spPr>
          <a:xfrm>
            <a:off x="1459325" y="1042425"/>
            <a:ext cx="6148200" cy="3416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1AFE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curl</a:t>
            </a:r>
            <a:r>
              <a:rPr lang="en" sz="9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D19A6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--location</a:t>
            </a:r>
            <a:r>
              <a:rPr lang="en" sz="9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D19A6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--request</a:t>
            </a:r>
            <a:r>
              <a:rPr lang="en" sz="9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POST</a:t>
            </a:r>
            <a:r>
              <a:rPr lang="en" sz="9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'http://localhost:8042/api/v1/events'</a:t>
            </a:r>
            <a:r>
              <a:rPr lang="en" sz="9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56B6C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\</a:t>
            </a:r>
            <a:endParaRPr sz="900">
              <a:solidFill>
                <a:srgbClr val="56B6C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1AFE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--header</a:t>
            </a:r>
            <a:r>
              <a:rPr lang="en" sz="9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'Content-Type: application/json'</a:t>
            </a:r>
            <a:r>
              <a:rPr lang="en" sz="9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56B6C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\</a:t>
            </a:r>
            <a:endParaRPr sz="900">
              <a:solidFill>
                <a:srgbClr val="56B6C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1AFE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--data-raw</a:t>
            </a:r>
            <a:r>
              <a:rPr lang="en" sz="9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'{</a:t>
            </a:r>
            <a:endParaRPr sz="900"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"name": "magnificent",</a:t>
            </a:r>
            <a:endParaRPr sz="900"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"version": "7.0.1",</a:t>
            </a:r>
            <a:endParaRPr sz="900"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"release": "2023.11.16",</a:t>
            </a:r>
            <a:endParaRPr sz="900"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"platform_id": "linux",</a:t>
            </a:r>
            <a:endParaRPr sz="900"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"package": "docker",</a:t>
            </a:r>
            <a:endParaRPr sz="900"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"description": "blah",</a:t>
            </a:r>
            <a:endParaRPr sz="900"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"payload": {</a:t>
            </a:r>
            <a:endParaRPr sz="900"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"name": "joe"</a:t>
            </a:r>
            <a:endParaRPr sz="900"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},</a:t>
            </a:r>
            <a:endParaRPr sz="900"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"success": true,</a:t>
            </a:r>
            <a:endParaRPr sz="900"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"event_receiver_id": "&lt;PASTE EVENT RECEIVER ID FROM FIRST CURL COMMAND&gt;"</a:t>
            </a:r>
            <a:endParaRPr sz="900"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900"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61AFEF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00" name="Google Shape;20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7700" y="0"/>
            <a:ext cx="1196300" cy="119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Curl EPR: Create an Event Receiver Group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33"/>
          <p:cNvSpPr txBox="1"/>
          <p:nvPr>
            <p:ph idx="1" type="body"/>
          </p:nvPr>
        </p:nvSpPr>
        <p:spPr>
          <a:xfrm>
            <a:off x="1931250" y="1042425"/>
            <a:ext cx="6016500" cy="3416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1AFE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curl</a:t>
            </a:r>
            <a:r>
              <a:rPr lang="en" sz="11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D19A6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--location</a:t>
            </a:r>
            <a:r>
              <a:rPr lang="en" sz="11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D19A6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--request</a:t>
            </a:r>
            <a:r>
              <a:rPr lang="en" sz="11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POST</a:t>
            </a:r>
            <a:r>
              <a:rPr lang="en" sz="11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'http://localhost:8042/api/v1/groups'</a:t>
            </a:r>
            <a:r>
              <a:rPr lang="en" sz="11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56B6C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\</a:t>
            </a:r>
            <a:endParaRPr sz="1100">
              <a:solidFill>
                <a:srgbClr val="56B6C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1AFE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--header</a:t>
            </a:r>
            <a:r>
              <a:rPr lang="en" sz="11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'Content-Type: application/json'</a:t>
            </a:r>
            <a:r>
              <a:rPr lang="en" sz="11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56B6C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\</a:t>
            </a:r>
            <a:endParaRPr sz="1100">
              <a:solidFill>
                <a:srgbClr val="56B6C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1AFE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--data-raw</a:t>
            </a:r>
            <a:r>
              <a:rPr lang="en" sz="11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'{</a:t>
            </a:r>
            <a:endParaRPr sz="1100"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"name": "the_clash",</a:t>
            </a:r>
            <a:endParaRPr sz="1100"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"type": "foo.bar",</a:t>
            </a:r>
            <a:endParaRPr sz="1100"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"version": "3.3.3",</a:t>
            </a:r>
            <a:endParaRPr sz="1100"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"description": "The only event receiver group that matters",</a:t>
            </a:r>
            <a:endParaRPr sz="1100"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"enabled": true,</a:t>
            </a:r>
            <a:endParaRPr sz="1100"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"event_receiver_ids": [</a:t>
            </a:r>
            <a:endParaRPr sz="1100"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"PASTE EVENT RECEIVER ID FROM FIRST CURL COMMAND"</a:t>
            </a:r>
            <a:endParaRPr sz="1100"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]</a:t>
            </a:r>
            <a:endParaRPr sz="1100"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rgbClr val="61AFE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07" name="Google Shape;20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7700" y="0"/>
            <a:ext cx="1196300" cy="119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Using EPR: GraphQL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GraphQL Playground is a tool that allows you to test your GraphQL queries in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browser.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graphql playground will now be accessible at:</a:t>
            </a:r>
            <a:endParaRPr sz="900">
              <a:solidFill>
                <a:srgbClr val="ABB2BF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ABB2BF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61AFE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http://localhost:8042/api/v1/graphql</a:t>
            </a:r>
            <a:endParaRPr sz="1600">
              <a:solidFill>
                <a:srgbClr val="C678DD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14" name="Google Shape;21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7700" y="0"/>
            <a:ext cx="1196300" cy="119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Using EPR: GraphQL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35"/>
          <p:cNvSpPr txBox="1"/>
          <p:nvPr>
            <p:ph idx="1" type="body"/>
          </p:nvPr>
        </p:nvSpPr>
        <p:spPr>
          <a:xfrm>
            <a:off x="311700" y="1152475"/>
            <a:ext cx="3506400" cy="29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an Event Receiver by pasting the mutation into the GraphQL Playground.</a:t>
            </a:r>
            <a:endParaRPr sz="900">
              <a:solidFill>
                <a:srgbClr val="ABB2BF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ABB2BF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ABB2BF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1" name="Google Shape;22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7700" y="0"/>
            <a:ext cx="1196300" cy="11963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5"/>
          <p:cNvSpPr txBox="1"/>
          <p:nvPr/>
        </p:nvSpPr>
        <p:spPr>
          <a:xfrm>
            <a:off x="3909050" y="1305575"/>
            <a:ext cx="4196100" cy="2893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mutation {</a:t>
            </a:r>
            <a:endParaRPr sz="1100">
              <a:solidFill>
                <a:srgbClr val="ABB2B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create_event_receiver(</a:t>
            </a:r>
            <a:endParaRPr sz="1100">
              <a:solidFill>
                <a:srgbClr val="ABB2B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event_receiver: {</a:t>
            </a:r>
            <a:endParaRPr sz="1100">
              <a:solidFill>
                <a:srgbClr val="ABB2B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name: </a:t>
            </a:r>
            <a:r>
              <a:rPr lang="en" sz="11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"the_clash"</a:t>
            </a:r>
            <a:endParaRPr sz="1100"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version: </a:t>
            </a:r>
            <a:r>
              <a:rPr lang="en" sz="11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"1.0.0"</a:t>
            </a:r>
            <a:endParaRPr sz="1100"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type: </a:t>
            </a:r>
            <a:r>
              <a:rPr lang="en" sz="11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"london.calling"</a:t>
            </a:r>
            <a:endParaRPr sz="1100"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description: </a:t>
            </a:r>
            <a:r>
              <a:rPr lang="en" sz="11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"The only band that matters"</a:t>
            </a:r>
            <a:endParaRPr sz="1100"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schema: </a:t>
            </a:r>
            <a:r>
              <a:rPr lang="en" sz="11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"{</a:t>
            </a:r>
            <a:r>
              <a:rPr lang="en" sz="1100">
                <a:solidFill>
                  <a:srgbClr val="56B6C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\"</a:t>
            </a:r>
            <a:r>
              <a:rPr lang="en" sz="11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1100">
                <a:solidFill>
                  <a:srgbClr val="56B6C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\"</a:t>
            </a:r>
            <a:r>
              <a:rPr lang="en" sz="11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100">
                <a:solidFill>
                  <a:srgbClr val="56B6C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\"</a:t>
            </a:r>
            <a:r>
              <a:rPr lang="en" sz="11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" sz="1100">
                <a:solidFill>
                  <a:srgbClr val="56B6C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\"</a:t>
            </a:r>
            <a:r>
              <a:rPr lang="en" sz="11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}"</a:t>
            </a:r>
            <a:endParaRPr sz="1100"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100">
              <a:solidFill>
                <a:srgbClr val="ABB2B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)</a:t>
            </a:r>
            <a:endParaRPr sz="1100">
              <a:solidFill>
                <a:srgbClr val="ABB2B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000">
              <a:solidFill>
                <a:schemeClr val="dk2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Using EPR: GraphQL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36"/>
          <p:cNvSpPr txBox="1"/>
          <p:nvPr>
            <p:ph idx="1" type="body"/>
          </p:nvPr>
        </p:nvSpPr>
        <p:spPr>
          <a:xfrm>
            <a:off x="311700" y="1152475"/>
            <a:ext cx="3506400" cy="29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an Event Receiver Group by pasting the mutation into the GraphQL Playground. Use the ID from the last command for the event_receivers_ids field.</a:t>
            </a:r>
            <a:endParaRPr sz="900">
              <a:solidFill>
                <a:srgbClr val="ABB2BF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ABB2BF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ABB2BF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9" name="Google Shape;22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7700" y="0"/>
            <a:ext cx="1196300" cy="1196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6"/>
          <p:cNvSpPr txBox="1"/>
          <p:nvPr/>
        </p:nvSpPr>
        <p:spPr>
          <a:xfrm>
            <a:off x="4129150" y="1237225"/>
            <a:ext cx="4765500" cy="2609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mutation {</a:t>
            </a:r>
            <a:endParaRPr sz="900">
              <a:solidFill>
                <a:srgbClr val="ABB2B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create_event_receiver_group(</a:t>
            </a:r>
            <a:endParaRPr sz="900">
              <a:solidFill>
                <a:srgbClr val="ABB2B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event_receiver_group: {</a:t>
            </a:r>
            <a:endParaRPr sz="900">
              <a:solidFill>
                <a:srgbClr val="ABB2B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name: </a:t>
            </a:r>
            <a:r>
              <a:rPr lang="en" sz="9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"foobar"</a:t>
            </a:r>
            <a:endParaRPr sz="900"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version: </a:t>
            </a:r>
            <a:r>
              <a:rPr lang="en" sz="9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"1.0.0"</a:t>
            </a:r>
            <a:endParaRPr sz="900"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description: </a:t>
            </a:r>
            <a:r>
              <a:rPr lang="en" sz="9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"a fake event receiver group"</a:t>
            </a:r>
            <a:endParaRPr sz="900"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enabled: </a:t>
            </a:r>
            <a:r>
              <a:rPr lang="en" sz="900">
                <a:solidFill>
                  <a:srgbClr val="56B6C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endParaRPr sz="900">
              <a:solidFill>
                <a:srgbClr val="56B6C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event_receiver_ids: [</a:t>
            </a:r>
            <a:r>
              <a:rPr lang="en" sz="9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"ID_RETURNED_FROM_PREVIOUS_MUTATION"</a:t>
            </a:r>
            <a:r>
              <a:rPr lang="en" sz="9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900">
              <a:solidFill>
                <a:srgbClr val="ABB2B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type: </a:t>
            </a:r>
            <a:r>
              <a:rPr lang="en" sz="9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"test.test.test"</a:t>
            </a:r>
            <a:endParaRPr sz="900"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900">
              <a:solidFill>
                <a:srgbClr val="ABB2B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)</a:t>
            </a:r>
            <a:endParaRPr sz="900">
              <a:solidFill>
                <a:srgbClr val="ABB2B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800">
              <a:solidFill>
                <a:schemeClr val="dk2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Using EPR: GraphQL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37"/>
          <p:cNvSpPr txBox="1"/>
          <p:nvPr>
            <p:ph idx="1" type="body"/>
          </p:nvPr>
        </p:nvSpPr>
        <p:spPr>
          <a:xfrm>
            <a:off x="311700" y="1152475"/>
            <a:ext cx="3506400" cy="29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an Event by pasting the mutation into the GraphQL Playground.</a:t>
            </a:r>
            <a:endParaRPr sz="900">
              <a:solidFill>
                <a:srgbClr val="ABB2BF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ABB2BF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ABB2BF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7" name="Google Shape;23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7700" y="0"/>
            <a:ext cx="1196300" cy="1196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7"/>
          <p:cNvSpPr txBox="1"/>
          <p:nvPr/>
        </p:nvSpPr>
        <p:spPr>
          <a:xfrm>
            <a:off x="3928200" y="1220225"/>
            <a:ext cx="4358700" cy="323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mutation {</a:t>
            </a:r>
            <a:endParaRPr sz="900">
              <a:solidFill>
                <a:srgbClr val="ABB2B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create_event(</a:t>
            </a:r>
            <a:endParaRPr sz="900">
              <a:solidFill>
                <a:srgbClr val="ABB2B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event: {</a:t>
            </a:r>
            <a:endParaRPr sz="900">
              <a:solidFill>
                <a:srgbClr val="ABB2B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name: </a:t>
            </a:r>
            <a:r>
              <a:rPr lang="en" sz="9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"foo"</a:t>
            </a:r>
            <a:endParaRPr sz="900"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version: </a:t>
            </a:r>
            <a:r>
              <a:rPr lang="en" sz="9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"1.0.0"</a:t>
            </a:r>
            <a:endParaRPr sz="900"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release: </a:t>
            </a:r>
            <a:r>
              <a:rPr lang="en" sz="9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"20231103"</a:t>
            </a:r>
            <a:endParaRPr sz="900"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platform_id: </a:t>
            </a:r>
            <a:r>
              <a:rPr lang="en" sz="9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"platformID"</a:t>
            </a:r>
            <a:endParaRPr sz="900"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package: </a:t>
            </a:r>
            <a:r>
              <a:rPr lang="en" sz="9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"package"</a:t>
            </a:r>
            <a:endParaRPr sz="900"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description: </a:t>
            </a:r>
            <a:r>
              <a:rPr lang="en" sz="9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"The Foo of Brixton"</a:t>
            </a:r>
            <a:endParaRPr sz="900"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payload: </a:t>
            </a:r>
            <a:r>
              <a:rPr lang="en" sz="9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"{</a:t>
            </a:r>
            <a:r>
              <a:rPr lang="en" sz="900">
                <a:solidFill>
                  <a:srgbClr val="56B6C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\"</a:t>
            </a:r>
            <a:r>
              <a:rPr lang="en" sz="9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900">
                <a:solidFill>
                  <a:srgbClr val="56B6C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\"</a:t>
            </a:r>
            <a:r>
              <a:rPr lang="en" sz="9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900">
                <a:solidFill>
                  <a:srgbClr val="56B6C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\"</a:t>
            </a:r>
            <a:r>
              <a:rPr lang="en" sz="9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" sz="900">
                <a:solidFill>
                  <a:srgbClr val="56B6C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\"</a:t>
            </a:r>
            <a:r>
              <a:rPr lang="en" sz="9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}"</a:t>
            </a:r>
            <a:endParaRPr sz="900"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event_receiver_id: </a:t>
            </a:r>
            <a:r>
              <a:rPr lang="en" sz="9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"ID_RETURNED_FROM_PREVIOUS_MUTATION"</a:t>
            </a:r>
            <a:endParaRPr sz="900"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success: </a:t>
            </a:r>
            <a:r>
              <a:rPr lang="en" sz="900">
                <a:solidFill>
                  <a:srgbClr val="56B6C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endParaRPr sz="900">
              <a:solidFill>
                <a:srgbClr val="56B6C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900">
              <a:solidFill>
                <a:srgbClr val="ABB2B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)</a:t>
            </a:r>
            <a:endParaRPr sz="900">
              <a:solidFill>
                <a:srgbClr val="ABB2B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900">
              <a:solidFill>
                <a:srgbClr val="ABB2B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Building EPR: CLI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50"/>
              <a:t>Open a new terminal and </a:t>
            </a:r>
            <a:r>
              <a:rPr lang="en" sz="3650">
                <a:solidFill>
                  <a:schemeClr val="accent1"/>
                </a:solidFill>
              </a:rPr>
              <a:t>cd</a:t>
            </a:r>
            <a:r>
              <a:rPr lang="en" sz="3650"/>
              <a:t> to the cli directory in the event-provenance-registry repository.</a:t>
            </a:r>
            <a:endParaRPr sz="365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615">
                <a:solidFill>
                  <a:srgbClr val="56B6C2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cd</a:t>
            </a:r>
            <a:r>
              <a:rPr lang="en" sz="3615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3615">
                <a:solidFill>
                  <a:srgbClr val="98C379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event-provenance-registry/cli</a:t>
            </a:r>
            <a:endParaRPr sz="3615">
              <a:solidFill>
                <a:srgbClr val="98C379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7"/>
              <a:t>Build CLI with the following commands:</a:t>
            </a:r>
            <a:endParaRPr sz="3707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707"/>
              <a:t>Linux</a:t>
            </a:r>
            <a:endParaRPr sz="3707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361">
                <a:solidFill>
                  <a:srgbClr val="61AFE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make</a:t>
            </a:r>
            <a:r>
              <a:rPr lang="en" sz="3361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3361">
                <a:solidFill>
                  <a:srgbClr val="98C379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PREFIX=$(</a:t>
            </a:r>
            <a:r>
              <a:rPr lang="en" sz="3361">
                <a:solidFill>
                  <a:srgbClr val="61AFE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go</a:t>
            </a:r>
            <a:r>
              <a:rPr lang="en" sz="3361">
                <a:solidFill>
                  <a:srgbClr val="98C379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env GOPATH)</a:t>
            </a:r>
            <a:r>
              <a:rPr lang="en" sz="3361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3361">
                <a:solidFill>
                  <a:srgbClr val="98C379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install</a:t>
            </a:r>
            <a:r>
              <a:rPr lang="en" sz="2572">
                <a:solidFill>
                  <a:srgbClr val="98C379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300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57"/>
              <a:t>Mac OS X M1</a:t>
            </a:r>
            <a:endParaRPr sz="3457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401">
                <a:solidFill>
                  <a:srgbClr val="61AFE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make</a:t>
            </a:r>
            <a:r>
              <a:rPr lang="en" sz="3401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3401">
                <a:solidFill>
                  <a:srgbClr val="98C379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PREFIX=$(</a:t>
            </a:r>
            <a:r>
              <a:rPr lang="en" sz="3401">
                <a:solidFill>
                  <a:srgbClr val="61AFE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go</a:t>
            </a:r>
            <a:r>
              <a:rPr lang="en" sz="3401">
                <a:solidFill>
                  <a:srgbClr val="98C379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env GOPATH)</a:t>
            </a:r>
            <a:r>
              <a:rPr lang="en" sz="3401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3401">
                <a:solidFill>
                  <a:srgbClr val="98C379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install-darwin-arm64</a:t>
            </a:r>
            <a:endParaRPr sz="430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764"/>
              <a:t>Export the following environment variables:</a:t>
            </a:r>
            <a:endParaRPr sz="3764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615">
                <a:solidFill>
                  <a:srgbClr val="C678DD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en" sz="3615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3615">
                <a:solidFill>
                  <a:srgbClr val="E06C75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EPR_TOPIC</a:t>
            </a:r>
            <a:r>
              <a:rPr lang="en" sz="3615">
                <a:solidFill>
                  <a:srgbClr val="C678DD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3615">
                <a:solidFill>
                  <a:srgbClr val="E06C75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epr</a:t>
            </a:r>
            <a:r>
              <a:rPr lang="en" sz="3615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3615">
                <a:solidFill>
                  <a:srgbClr val="E06C75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dev</a:t>
            </a:r>
            <a:r>
              <a:rPr lang="en" sz="3615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3615">
                <a:solidFill>
                  <a:srgbClr val="E06C75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events</a:t>
            </a:r>
            <a:endParaRPr sz="3615">
              <a:solidFill>
                <a:srgbClr val="E06C75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15">
                <a:solidFill>
                  <a:srgbClr val="C678DD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en" sz="3615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3615">
                <a:solidFill>
                  <a:srgbClr val="E06C75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EPR_BROKERS</a:t>
            </a:r>
            <a:r>
              <a:rPr lang="en" sz="3615">
                <a:solidFill>
                  <a:srgbClr val="C678DD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3615">
                <a:solidFill>
                  <a:srgbClr val="E06C75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localhost</a:t>
            </a:r>
            <a:r>
              <a:rPr lang="en" sz="3615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3615">
                <a:solidFill>
                  <a:srgbClr val="E06C75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19092</a:t>
            </a:r>
            <a:endParaRPr sz="3615">
              <a:solidFill>
                <a:srgbClr val="E06C75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15">
                <a:solidFill>
                  <a:srgbClr val="C678DD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en" sz="3615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3615">
                <a:solidFill>
                  <a:srgbClr val="E06C75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EPR_DB</a:t>
            </a:r>
            <a:r>
              <a:rPr lang="en" sz="3615">
                <a:solidFill>
                  <a:srgbClr val="C678DD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3615">
                <a:solidFill>
                  <a:srgbClr val="E06C75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postgres</a:t>
            </a:r>
            <a:r>
              <a:rPr lang="en" sz="3615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://</a:t>
            </a:r>
            <a:r>
              <a:rPr lang="en" sz="3615">
                <a:solidFill>
                  <a:srgbClr val="E06C75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localhost</a:t>
            </a:r>
            <a:r>
              <a:rPr lang="en" sz="3615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3615">
                <a:solidFill>
                  <a:srgbClr val="E06C75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5432</a:t>
            </a:r>
            <a:endParaRPr sz="3615">
              <a:solidFill>
                <a:srgbClr val="E06C75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64">
              <a:solidFill>
                <a:srgbClr val="ABB2BF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5" name="Google Shape;24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7700" y="0"/>
            <a:ext cx="1196300" cy="119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Using</a:t>
            </a:r>
            <a:r>
              <a:rPr lang="en"/>
              <a:t> EPR: CLI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Export the following environment variables: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678DD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en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E06C75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EPR_TOPIC</a:t>
            </a:r>
            <a:r>
              <a:rPr lang="en">
                <a:solidFill>
                  <a:srgbClr val="C678DD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>
                <a:solidFill>
                  <a:srgbClr val="E06C75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epr</a:t>
            </a:r>
            <a:r>
              <a:rPr lang="en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>
                <a:solidFill>
                  <a:srgbClr val="E06C75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dev</a:t>
            </a:r>
            <a:r>
              <a:rPr lang="en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>
                <a:solidFill>
                  <a:srgbClr val="E06C75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events</a:t>
            </a:r>
            <a:endParaRPr>
              <a:solidFill>
                <a:srgbClr val="E06C75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678DD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en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E06C75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EPR_BROKERS</a:t>
            </a:r>
            <a:r>
              <a:rPr lang="en">
                <a:solidFill>
                  <a:srgbClr val="C678DD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>
                <a:solidFill>
                  <a:srgbClr val="E06C75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localhost</a:t>
            </a:r>
            <a:r>
              <a:rPr lang="en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>
                <a:solidFill>
                  <a:srgbClr val="E06C75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19092</a:t>
            </a:r>
            <a:endParaRPr>
              <a:solidFill>
                <a:srgbClr val="E06C75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6">
                <a:solidFill>
                  <a:srgbClr val="C678DD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en" sz="1806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6">
                <a:solidFill>
                  <a:srgbClr val="E06C75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EPR_DB</a:t>
            </a:r>
            <a:r>
              <a:rPr lang="en" sz="1806">
                <a:solidFill>
                  <a:srgbClr val="C678DD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806">
                <a:solidFill>
                  <a:srgbClr val="E06C75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postgres</a:t>
            </a:r>
            <a:r>
              <a:rPr lang="en" sz="1806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://</a:t>
            </a:r>
            <a:r>
              <a:rPr lang="en" sz="1806">
                <a:solidFill>
                  <a:srgbClr val="E06C75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localhost</a:t>
            </a:r>
            <a:r>
              <a:rPr lang="en" sz="1806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806">
                <a:solidFill>
                  <a:srgbClr val="E06C75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5432</a:t>
            </a:r>
            <a:endParaRPr sz="1806">
              <a:solidFill>
                <a:srgbClr val="E06C75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64">
              <a:solidFill>
                <a:srgbClr val="ABB2BF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2" name="Google Shape;25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7700" y="0"/>
            <a:ext cx="1196300" cy="119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Using EPR: CLI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40"/>
          <p:cNvSpPr txBox="1"/>
          <p:nvPr>
            <p:ph idx="1" type="body"/>
          </p:nvPr>
        </p:nvSpPr>
        <p:spPr>
          <a:xfrm>
            <a:off x="311700" y="1152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/>
              <a:t>C</a:t>
            </a:r>
            <a:r>
              <a:rPr lang="en" sz="7200"/>
              <a:t>reate a pair of Event Receivers</a:t>
            </a:r>
            <a:endParaRPr sz="7200"/>
          </a:p>
          <a:p>
            <a:pPr indent="45720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t/>
            </a:r>
            <a:endParaRPr sz="900">
              <a:solidFill>
                <a:srgbClr val="98C379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9" name="Google Shape;25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7700" y="0"/>
            <a:ext cx="1196300" cy="11963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40"/>
          <p:cNvSpPr txBox="1"/>
          <p:nvPr/>
        </p:nvSpPr>
        <p:spPr>
          <a:xfrm>
            <a:off x="205775" y="2157875"/>
            <a:ext cx="4335000" cy="1754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61AFE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epr-cli</a:t>
            </a:r>
            <a:r>
              <a:rPr lang="en" sz="12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receiver</a:t>
            </a:r>
            <a:r>
              <a:rPr lang="en" sz="12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create</a:t>
            </a:r>
            <a:r>
              <a:rPr lang="en" sz="12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\</a:t>
            </a:r>
            <a:endParaRPr sz="1200">
              <a:solidFill>
                <a:srgbClr val="ABB2B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19A6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--name</a:t>
            </a:r>
            <a:r>
              <a:rPr lang="en" sz="12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"foo-cli"</a:t>
            </a:r>
            <a:r>
              <a:rPr lang="en" sz="12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\</a:t>
            </a:r>
            <a:endParaRPr sz="1200">
              <a:solidFill>
                <a:srgbClr val="ABB2B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19A6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--version</a:t>
            </a:r>
            <a:r>
              <a:rPr lang="en" sz="12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"1.0.0"</a:t>
            </a:r>
            <a:r>
              <a:rPr lang="en" sz="12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\</a:t>
            </a:r>
            <a:endParaRPr sz="1200">
              <a:solidFill>
                <a:srgbClr val="ABB2B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19A6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--description</a:t>
            </a:r>
            <a:r>
              <a:rPr lang="en" sz="12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"foo cli created foo"</a:t>
            </a:r>
            <a:r>
              <a:rPr lang="en" sz="12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\</a:t>
            </a:r>
            <a:endParaRPr sz="1200">
              <a:solidFill>
                <a:srgbClr val="ABB2B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19A6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--type</a:t>
            </a:r>
            <a:r>
              <a:rPr lang="en" sz="12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"epr.foo.cli"</a:t>
            </a:r>
            <a:r>
              <a:rPr lang="en" sz="12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\</a:t>
            </a:r>
            <a:endParaRPr sz="1200">
              <a:solidFill>
                <a:srgbClr val="ABB2B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19A6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--schema</a:t>
            </a:r>
            <a:r>
              <a:rPr lang="en" sz="12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"{}"</a:t>
            </a:r>
            <a:endParaRPr sz="2100">
              <a:solidFill>
                <a:schemeClr val="dk2"/>
              </a:solidFill>
              <a:highlight>
                <a:schemeClr val="dk1"/>
              </a:highlight>
            </a:endParaRPr>
          </a:p>
        </p:txBody>
      </p:sp>
      <p:sp>
        <p:nvSpPr>
          <p:cNvPr id="261" name="Google Shape;261;p40"/>
          <p:cNvSpPr txBox="1"/>
          <p:nvPr/>
        </p:nvSpPr>
        <p:spPr>
          <a:xfrm>
            <a:off x="4635650" y="2157875"/>
            <a:ext cx="4335000" cy="1754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1AFE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epr-cli</a:t>
            </a:r>
            <a:r>
              <a:rPr lang="en" sz="12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receiver</a:t>
            </a:r>
            <a:r>
              <a:rPr lang="en" sz="12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create</a:t>
            </a:r>
            <a:r>
              <a:rPr lang="en" sz="12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\</a:t>
            </a:r>
            <a:endParaRPr sz="1200">
              <a:solidFill>
                <a:srgbClr val="ABB2B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D19A6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--name</a:t>
            </a:r>
            <a:r>
              <a:rPr lang="en" sz="12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"bar-cli"</a:t>
            </a:r>
            <a:r>
              <a:rPr lang="en" sz="12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\</a:t>
            </a:r>
            <a:endParaRPr sz="1200">
              <a:solidFill>
                <a:srgbClr val="ABB2B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D19A6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--version</a:t>
            </a:r>
            <a:r>
              <a:rPr lang="en" sz="12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"1.0.0"</a:t>
            </a:r>
            <a:r>
              <a:rPr lang="en" sz="12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\</a:t>
            </a:r>
            <a:endParaRPr sz="1200">
              <a:solidFill>
                <a:srgbClr val="ABB2B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D19A6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--description</a:t>
            </a:r>
            <a:r>
              <a:rPr lang="en" sz="12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"bar cli created bar"</a:t>
            </a:r>
            <a:r>
              <a:rPr lang="en" sz="12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\</a:t>
            </a:r>
            <a:endParaRPr sz="1200">
              <a:solidFill>
                <a:srgbClr val="ABB2B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D19A6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--type</a:t>
            </a:r>
            <a:r>
              <a:rPr lang="en" sz="12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"epr.bar.cli"</a:t>
            </a:r>
            <a:r>
              <a:rPr lang="en" sz="12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\</a:t>
            </a:r>
            <a:endParaRPr sz="1200">
              <a:solidFill>
                <a:srgbClr val="ABB2B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D19A6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--schema</a:t>
            </a:r>
            <a:r>
              <a:rPr lang="en" sz="12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"{}"</a:t>
            </a:r>
            <a:endParaRPr sz="1300">
              <a:solidFill>
                <a:srgbClr val="61AFE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Using EPR: CLI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41"/>
          <p:cNvSpPr txBox="1"/>
          <p:nvPr>
            <p:ph idx="1" type="body"/>
          </p:nvPr>
        </p:nvSpPr>
        <p:spPr>
          <a:xfrm>
            <a:off x="311700" y="1152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/>
              <a:t>Create an Event Receiver Group. Use the IDs from the Event Receivers</a:t>
            </a:r>
            <a:endParaRPr sz="7200"/>
          </a:p>
          <a:p>
            <a:pPr indent="45720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98C379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8" name="Google Shape;26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7700" y="0"/>
            <a:ext cx="1196300" cy="11963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41"/>
          <p:cNvSpPr txBox="1"/>
          <p:nvPr/>
        </p:nvSpPr>
        <p:spPr>
          <a:xfrm>
            <a:off x="595950" y="2124400"/>
            <a:ext cx="7952100" cy="203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1AFE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epr-cli</a:t>
            </a:r>
            <a:r>
              <a:rPr lang="en" sz="12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group</a:t>
            </a:r>
            <a:r>
              <a:rPr lang="en" sz="12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create</a:t>
            </a:r>
            <a:r>
              <a:rPr lang="en" sz="12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\</a:t>
            </a:r>
            <a:endParaRPr sz="1200">
              <a:solidFill>
                <a:srgbClr val="ABB2B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D19A6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--name</a:t>
            </a:r>
            <a:r>
              <a:rPr lang="en" sz="12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"foo-group-cli"</a:t>
            </a:r>
            <a:r>
              <a:rPr lang="en" sz="12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\</a:t>
            </a:r>
            <a:endParaRPr sz="1200">
              <a:solidFill>
                <a:srgbClr val="ABB2B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D19A6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--version</a:t>
            </a:r>
            <a:r>
              <a:rPr lang="en" sz="12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"1.0.0"</a:t>
            </a:r>
            <a:r>
              <a:rPr lang="en" sz="12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\</a:t>
            </a:r>
            <a:endParaRPr sz="1200">
              <a:solidFill>
                <a:srgbClr val="ABB2B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D19A6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--description</a:t>
            </a:r>
            <a:r>
              <a:rPr lang="en" sz="12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"foo cli created foo group"</a:t>
            </a:r>
            <a:r>
              <a:rPr lang="en" sz="12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\</a:t>
            </a:r>
            <a:endParaRPr sz="1200">
              <a:solidFill>
                <a:srgbClr val="ABB2B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D19A6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--type</a:t>
            </a:r>
            <a:r>
              <a:rPr lang="en" sz="12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"epr.foo.group.cli"</a:t>
            </a:r>
            <a:r>
              <a:rPr lang="en" sz="12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\</a:t>
            </a:r>
            <a:endParaRPr sz="1200">
              <a:solidFill>
                <a:srgbClr val="ABB2B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D19A6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--event-receiver-ids</a:t>
            </a:r>
            <a:r>
              <a:rPr lang="en" sz="12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"01HKX0J9KS8AASMRYX61458N41 01HKX0KY3B31MR3XKJWTDZ4EQ0"</a:t>
            </a:r>
            <a:endParaRPr sz="1200"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61AFE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Using EPR: CLI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42"/>
          <p:cNvSpPr txBox="1"/>
          <p:nvPr>
            <p:ph idx="1" type="body"/>
          </p:nvPr>
        </p:nvSpPr>
        <p:spPr>
          <a:xfrm>
            <a:off x="311700" y="1152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/>
              <a:t>Search for objects by ID, or Name and Version, or Type.</a:t>
            </a:r>
            <a:endParaRPr sz="7200"/>
          </a:p>
          <a:p>
            <a:pPr indent="45720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98C379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76" name="Google Shape;27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7700" y="0"/>
            <a:ext cx="1196300" cy="11963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42"/>
          <p:cNvSpPr txBox="1"/>
          <p:nvPr/>
        </p:nvSpPr>
        <p:spPr>
          <a:xfrm>
            <a:off x="595950" y="2124400"/>
            <a:ext cx="7952100" cy="2016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1AFE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epr-cli</a:t>
            </a:r>
            <a:r>
              <a:rPr lang="en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receiver</a:t>
            </a:r>
            <a:r>
              <a:rPr lang="en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search</a:t>
            </a:r>
            <a:r>
              <a:rPr lang="en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D19A6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--id</a:t>
            </a:r>
            <a:r>
              <a:rPr lang="en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01HKX0KY3B31MR3XKJWTDZ4EQ0</a:t>
            </a:r>
            <a:r>
              <a:rPr lang="en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D19A6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--fields</a:t>
            </a:r>
            <a:r>
              <a:rPr lang="en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all</a:t>
            </a:r>
            <a:endParaRPr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1AFE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epr-cli</a:t>
            </a:r>
            <a:r>
              <a:rPr lang="en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receiver</a:t>
            </a:r>
            <a:r>
              <a:rPr lang="en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search</a:t>
            </a:r>
            <a:r>
              <a:rPr lang="en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D19A6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--type</a:t>
            </a:r>
            <a:r>
              <a:rPr lang="en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epr.foo.cli</a:t>
            </a:r>
            <a:r>
              <a:rPr lang="en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D19A6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--fields</a:t>
            </a:r>
            <a:r>
              <a:rPr lang="en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all</a:t>
            </a:r>
            <a:endParaRPr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1AFE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epr-cli</a:t>
            </a:r>
            <a:r>
              <a:rPr lang="en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receiver</a:t>
            </a:r>
            <a:r>
              <a:rPr lang="en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search</a:t>
            </a:r>
            <a:r>
              <a:rPr lang="en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D19A6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--name</a:t>
            </a:r>
            <a:r>
              <a:rPr lang="en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foo-cli</a:t>
            </a:r>
            <a:r>
              <a:rPr lang="en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D19A6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--version</a:t>
            </a:r>
            <a:r>
              <a:rPr lang="en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D19A6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1.0.0</a:t>
            </a:r>
            <a:r>
              <a:rPr lang="en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D19A6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--fields</a:t>
            </a:r>
            <a:r>
              <a:rPr lang="en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all</a:t>
            </a:r>
            <a:endParaRPr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Extended EPR: Creating a watcher</a:t>
            </a:r>
            <a:endParaRPr/>
          </a:p>
        </p:txBody>
      </p:sp>
      <p:sp>
        <p:nvSpPr>
          <p:cNvPr id="283" name="Google Shape;283;p43"/>
          <p:cNvSpPr txBox="1"/>
          <p:nvPr>
            <p:ph idx="1" type="body"/>
          </p:nvPr>
        </p:nvSpPr>
        <p:spPr>
          <a:xfrm>
            <a:off x="311700" y="1152475"/>
            <a:ext cx="8520600" cy="17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" sz="1560"/>
              <a:t>Use the EPR watcher SDK to craft a watcher, which actively listens for events originating from the EPR server.</a:t>
            </a:r>
            <a:endParaRPr sz="930">
              <a:solidFill>
                <a:srgbClr val="ABB2BF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t/>
            </a:r>
            <a:endParaRPr sz="156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" sz="1560"/>
              <a:t>Make a new directory for your watcher and create a `main.go` in that directory.</a:t>
            </a:r>
            <a:endParaRPr sz="1560"/>
          </a:p>
          <a:p>
            <a:pPr indent="0" lvl="0" marL="0" rtl="0"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t/>
            </a:r>
            <a:endParaRPr sz="930">
              <a:solidFill>
                <a:srgbClr val="ABB2BF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t/>
            </a:r>
            <a:endParaRPr sz="930">
              <a:solidFill>
                <a:srgbClr val="ABB2BF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t/>
            </a:r>
            <a:endParaRPr sz="930">
              <a:solidFill>
                <a:srgbClr val="98C379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SzPts val="770"/>
              <a:buNone/>
            </a:pPr>
            <a:r>
              <a:t/>
            </a:r>
            <a:endParaRPr sz="1260"/>
          </a:p>
        </p:txBody>
      </p:sp>
      <p:pic>
        <p:nvPicPr>
          <p:cNvPr id="284" name="Google Shape;28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7700" y="0"/>
            <a:ext cx="1196300" cy="11963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43"/>
          <p:cNvSpPr txBox="1"/>
          <p:nvPr/>
        </p:nvSpPr>
        <p:spPr>
          <a:xfrm>
            <a:off x="2937775" y="3133950"/>
            <a:ext cx="2756100" cy="923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61AFE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mkdir</a:t>
            </a:r>
            <a:r>
              <a:rPr lang="en" sz="12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foo</a:t>
            </a:r>
            <a:endParaRPr sz="1200"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56B6C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cd</a:t>
            </a:r>
            <a:r>
              <a:rPr lang="en" sz="12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foo</a:t>
            </a:r>
            <a:endParaRPr sz="1200"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61AFE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touch</a:t>
            </a:r>
            <a:r>
              <a:rPr lang="en" sz="12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main.go</a:t>
            </a:r>
            <a:endParaRPr sz="2100">
              <a:solidFill>
                <a:schemeClr val="dk2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Extended EPR: Creating a watcher</a:t>
            </a:r>
            <a:endParaRPr/>
          </a:p>
        </p:txBody>
      </p:sp>
      <p:sp>
        <p:nvSpPr>
          <p:cNvPr id="291" name="Google Shape;291;p44"/>
          <p:cNvSpPr txBox="1"/>
          <p:nvPr>
            <p:ph idx="1" type="body"/>
          </p:nvPr>
        </p:nvSpPr>
        <p:spPr>
          <a:xfrm>
            <a:off x="311700" y="1188650"/>
            <a:ext cx="2755200" cy="32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Now open the `main.go` in your favorite editor (Vim).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Add the following code:</a:t>
            </a:r>
            <a:endParaRPr sz="900">
              <a:solidFill>
                <a:srgbClr val="ABB2BF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92" name="Google Shape;29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7700" y="0"/>
            <a:ext cx="1196300" cy="11963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44"/>
          <p:cNvSpPr txBox="1"/>
          <p:nvPr/>
        </p:nvSpPr>
        <p:spPr>
          <a:xfrm>
            <a:off x="3095650" y="1196300"/>
            <a:ext cx="4751100" cy="3186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C678DD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package</a:t>
            </a:r>
            <a:r>
              <a:rPr lang="en" sz="6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00">
                <a:solidFill>
                  <a:srgbClr val="E5C07B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endParaRPr sz="600">
              <a:solidFill>
                <a:srgbClr val="E5C07B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ABB2B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C678DD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" sz="6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endParaRPr sz="600">
              <a:solidFill>
                <a:srgbClr val="ABB2B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"encoding/json"</a:t>
            </a:r>
            <a:endParaRPr sz="600"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"log"</a:t>
            </a:r>
            <a:endParaRPr sz="600"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ABB2B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"github.com/sassoftware/event-provenance-registry/pkg/message"</a:t>
            </a:r>
            <a:endParaRPr sz="600"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"github.com/sassoftware/event-provenance-registry/pkg/watcher"</a:t>
            </a:r>
            <a:endParaRPr sz="600"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600">
              <a:solidFill>
                <a:srgbClr val="ABB2B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ABB2B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C678DD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func</a:t>
            </a:r>
            <a:r>
              <a:rPr lang="en" sz="6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00">
                <a:solidFill>
                  <a:srgbClr val="61AFE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" sz="6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600">
              <a:solidFill>
                <a:srgbClr val="ABB2B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E06C75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seeds</a:t>
            </a:r>
            <a:r>
              <a:rPr lang="en" sz="6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00">
                <a:solidFill>
                  <a:srgbClr val="C678DD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:=</a:t>
            </a:r>
            <a:r>
              <a:rPr lang="en" sz="6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[]</a:t>
            </a:r>
            <a:r>
              <a:rPr lang="en" sz="600">
                <a:solidFill>
                  <a:srgbClr val="C678DD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6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" sz="6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"localhost:19092"</a:t>
            </a:r>
            <a:r>
              <a:rPr lang="en" sz="6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600">
              <a:solidFill>
                <a:srgbClr val="ABB2B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E06C75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topics</a:t>
            </a:r>
            <a:r>
              <a:rPr lang="en" sz="6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00">
                <a:solidFill>
                  <a:srgbClr val="C678DD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:=</a:t>
            </a:r>
            <a:r>
              <a:rPr lang="en" sz="6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[]</a:t>
            </a:r>
            <a:r>
              <a:rPr lang="en" sz="600">
                <a:solidFill>
                  <a:srgbClr val="C678DD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6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" sz="6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"epr.dev.events"</a:t>
            </a:r>
            <a:r>
              <a:rPr lang="en" sz="6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600">
              <a:solidFill>
                <a:srgbClr val="ABB2B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E06C75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consumerGroup</a:t>
            </a:r>
            <a:r>
              <a:rPr lang="en" sz="6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00">
                <a:solidFill>
                  <a:srgbClr val="C678DD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:=</a:t>
            </a:r>
            <a:r>
              <a:rPr lang="en" sz="6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"watcher-workshop"</a:t>
            </a:r>
            <a:endParaRPr sz="600">
              <a:solidFill>
                <a:srgbClr val="ABB2B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E06C75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watcher</a:t>
            </a:r>
            <a:r>
              <a:rPr lang="en" sz="6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600">
                <a:solidFill>
                  <a:srgbClr val="E06C75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err</a:t>
            </a:r>
            <a:r>
              <a:rPr lang="en" sz="6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00">
                <a:solidFill>
                  <a:srgbClr val="C678DD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:=</a:t>
            </a:r>
            <a:r>
              <a:rPr lang="en" sz="6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00">
                <a:solidFill>
                  <a:srgbClr val="E06C75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watcher</a:t>
            </a:r>
            <a:r>
              <a:rPr lang="en" sz="6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600">
                <a:solidFill>
                  <a:srgbClr val="61AFE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" sz="6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600">
                <a:solidFill>
                  <a:srgbClr val="E06C75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seeds</a:t>
            </a:r>
            <a:r>
              <a:rPr lang="en" sz="6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600">
                <a:solidFill>
                  <a:srgbClr val="E06C75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topics</a:t>
            </a:r>
            <a:r>
              <a:rPr lang="en" sz="6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600">
                <a:solidFill>
                  <a:srgbClr val="E06C75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consumerGroup</a:t>
            </a:r>
            <a:r>
              <a:rPr lang="en" sz="6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600">
              <a:solidFill>
                <a:srgbClr val="ABB2B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C678DD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6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00">
                <a:solidFill>
                  <a:srgbClr val="E06C75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err</a:t>
            </a:r>
            <a:r>
              <a:rPr lang="en" sz="6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00">
                <a:solidFill>
                  <a:srgbClr val="C678DD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!=</a:t>
            </a:r>
            <a:r>
              <a:rPr lang="en" sz="6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00">
                <a:solidFill>
                  <a:srgbClr val="D19A6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nil</a:t>
            </a:r>
            <a:r>
              <a:rPr lang="en" sz="6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600">
              <a:solidFill>
                <a:srgbClr val="ABB2B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00">
                <a:solidFill>
                  <a:srgbClr val="61AFE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panic</a:t>
            </a:r>
            <a:r>
              <a:rPr lang="en" sz="6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600">
                <a:solidFill>
                  <a:srgbClr val="E06C75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err</a:t>
            </a:r>
            <a:r>
              <a:rPr lang="en" sz="6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600">
              <a:solidFill>
                <a:srgbClr val="ABB2B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600">
              <a:solidFill>
                <a:srgbClr val="ABB2B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C678DD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defer</a:t>
            </a:r>
            <a:r>
              <a:rPr lang="en" sz="6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00">
                <a:solidFill>
                  <a:srgbClr val="E06C75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watcher</a:t>
            </a:r>
            <a:r>
              <a:rPr lang="en" sz="6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600">
                <a:solidFill>
                  <a:srgbClr val="E06C75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Client</a:t>
            </a:r>
            <a:r>
              <a:rPr lang="en" sz="6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600">
                <a:solidFill>
                  <a:srgbClr val="61AFE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Close</a:t>
            </a:r>
            <a:r>
              <a:rPr lang="en" sz="6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600">
              <a:solidFill>
                <a:srgbClr val="ABB2B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C678DD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go</a:t>
            </a:r>
            <a:r>
              <a:rPr lang="en" sz="6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00">
                <a:solidFill>
                  <a:srgbClr val="E06C75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watcher</a:t>
            </a:r>
            <a:r>
              <a:rPr lang="en" sz="6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600">
                <a:solidFill>
                  <a:srgbClr val="61AFE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StartTaskHandler</a:t>
            </a:r>
            <a:r>
              <a:rPr lang="en" sz="6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600">
                <a:solidFill>
                  <a:srgbClr val="E06C75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customTaskHandler</a:t>
            </a:r>
            <a:r>
              <a:rPr lang="en" sz="6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600">
              <a:solidFill>
                <a:srgbClr val="ABB2B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E06C75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watcher</a:t>
            </a:r>
            <a:r>
              <a:rPr lang="en" sz="6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600">
                <a:solidFill>
                  <a:srgbClr val="61AFE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ConsumeRecords</a:t>
            </a:r>
            <a:r>
              <a:rPr lang="en" sz="6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600">
                <a:solidFill>
                  <a:srgbClr val="E06C75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customMatcher</a:t>
            </a:r>
            <a:r>
              <a:rPr lang="en" sz="6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600">
              <a:solidFill>
                <a:srgbClr val="ABB2BF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100">
              <a:solidFill>
                <a:schemeClr val="dk2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Extended EPR: Creating a watcher</a:t>
            </a:r>
            <a:endParaRPr/>
          </a:p>
        </p:txBody>
      </p:sp>
      <p:sp>
        <p:nvSpPr>
          <p:cNvPr id="299" name="Google Shape;299;p45"/>
          <p:cNvSpPr txBox="1"/>
          <p:nvPr>
            <p:ph idx="1" type="body"/>
          </p:nvPr>
        </p:nvSpPr>
        <p:spPr>
          <a:xfrm>
            <a:off x="53325" y="1196300"/>
            <a:ext cx="4630800" cy="20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Add: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customMatcher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matching the message type value.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customTaskHandler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prints a message when a match is found.</a:t>
            </a:r>
            <a:endParaRPr/>
          </a:p>
        </p:txBody>
      </p:sp>
      <p:pic>
        <p:nvPicPr>
          <p:cNvPr id="300" name="Google Shape;30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7700" y="0"/>
            <a:ext cx="1196300" cy="11963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45"/>
          <p:cNvSpPr txBox="1"/>
          <p:nvPr/>
        </p:nvSpPr>
        <p:spPr>
          <a:xfrm>
            <a:off x="4645800" y="1267275"/>
            <a:ext cx="4186500" cy="1600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C678DD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func</a:t>
            </a:r>
            <a:r>
              <a:rPr lang="en" sz="8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00">
                <a:solidFill>
                  <a:srgbClr val="61AFE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customMatcher</a:t>
            </a:r>
            <a:r>
              <a:rPr lang="en" sz="8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(msg </a:t>
            </a:r>
            <a:r>
              <a:rPr lang="en" sz="800">
                <a:solidFill>
                  <a:srgbClr val="C678DD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800">
                <a:solidFill>
                  <a:srgbClr val="E5C07B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message</a:t>
            </a:r>
            <a:r>
              <a:rPr lang="en" sz="8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800">
                <a:solidFill>
                  <a:srgbClr val="E5C07B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Message</a:t>
            </a:r>
            <a:r>
              <a:rPr lang="en" sz="8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" sz="800">
                <a:solidFill>
                  <a:srgbClr val="C678DD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bool</a:t>
            </a:r>
            <a:r>
              <a:rPr lang="en" sz="8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800">
              <a:solidFill>
                <a:srgbClr val="ABB2BF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C678DD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8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00">
                <a:solidFill>
                  <a:srgbClr val="E06C75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msg</a:t>
            </a:r>
            <a:r>
              <a:rPr lang="en" sz="8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800">
                <a:solidFill>
                  <a:srgbClr val="E06C75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n" sz="8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00">
                <a:solidFill>
                  <a:srgbClr val="C678DD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n" sz="8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00">
                <a:solidFill>
                  <a:srgbClr val="98C379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"foo.bar"</a:t>
            </a:r>
            <a:endParaRPr sz="800">
              <a:solidFill>
                <a:srgbClr val="98C379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800">
              <a:solidFill>
                <a:srgbClr val="ABB2BF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ABB2BF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C678DD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func</a:t>
            </a:r>
            <a:r>
              <a:rPr lang="en" sz="8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00">
                <a:solidFill>
                  <a:srgbClr val="61AFE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customTaskHandler</a:t>
            </a:r>
            <a:r>
              <a:rPr lang="en" sz="8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(msg </a:t>
            </a:r>
            <a:r>
              <a:rPr lang="en" sz="800">
                <a:solidFill>
                  <a:srgbClr val="C678DD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800">
                <a:solidFill>
                  <a:srgbClr val="E5C07B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message</a:t>
            </a:r>
            <a:r>
              <a:rPr lang="en" sz="8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800">
                <a:solidFill>
                  <a:srgbClr val="E5C07B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Message</a:t>
            </a:r>
            <a:r>
              <a:rPr lang="en" sz="8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" sz="800">
                <a:solidFill>
                  <a:srgbClr val="C678DD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error</a:t>
            </a:r>
            <a:r>
              <a:rPr lang="en" sz="8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800">
              <a:solidFill>
                <a:srgbClr val="ABB2BF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E06C75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en" sz="8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800">
                <a:solidFill>
                  <a:srgbClr val="61AFE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lang="en" sz="8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().</a:t>
            </a:r>
            <a:r>
              <a:rPr lang="en" sz="800">
                <a:solidFill>
                  <a:srgbClr val="61AFE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Printf</a:t>
            </a:r>
            <a:r>
              <a:rPr lang="en" sz="8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00">
                <a:solidFill>
                  <a:srgbClr val="98C379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"I received a task with value '</a:t>
            </a:r>
            <a:r>
              <a:rPr lang="en" sz="800">
                <a:solidFill>
                  <a:srgbClr val="D19A66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%v</a:t>
            </a:r>
            <a:r>
              <a:rPr lang="en" sz="800">
                <a:solidFill>
                  <a:srgbClr val="98C379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'"</a:t>
            </a:r>
            <a:r>
              <a:rPr lang="en" sz="8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800">
                <a:solidFill>
                  <a:srgbClr val="E06C75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msg</a:t>
            </a:r>
            <a:r>
              <a:rPr lang="en" sz="8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800">
              <a:solidFill>
                <a:srgbClr val="ABB2BF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C678DD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8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00">
                <a:solidFill>
                  <a:srgbClr val="D19A66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nil</a:t>
            </a:r>
            <a:endParaRPr sz="800">
              <a:solidFill>
                <a:srgbClr val="D19A66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800">
              <a:solidFill>
                <a:srgbClr val="C678DD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2" name="Google Shape;302;p45"/>
          <p:cNvSpPr txBox="1"/>
          <p:nvPr/>
        </p:nvSpPr>
        <p:spPr>
          <a:xfrm>
            <a:off x="1287075" y="3531075"/>
            <a:ext cx="5459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Save the file and run `go mod init` in your terminal.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Run `go mod tidy` to fill in the dependencies.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Extended EPR: Creating a watcher</a:t>
            </a:r>
            <a:endParaRPr/>
          </a:p>
        </p:txBody>
      </p:sp>
      <p:sp>
        <p:nvSpPr>
          <p:cNvPr id="308" name="Google Shape;308;p46"/>
          <p:cNvSpPr txBox="1"/>
          <p:nvPr>
            <p:ph idx="1" type="body"/>
          </p:nvPr>
        </p:nvSpPr>
        <p:spPr>
          <a:xfrm>
            <a:off x="53325" y="1196300"/>
            <a:ext cx="4630800" cy="12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</a:t>
            </a:r>
            <a:r>
              <a:rPr lang="en"/>
              <a:t>tart up the watcher and start consuming messages with the following command: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61AFE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go</a:t>
            </a:r>
            <a:r>
              <a:rPr lang="en" sz="13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rgbClr val="98C379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run</a:t>
            </a:r>
            <a:r>
              <a:rPr lang="en" sz="13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rgbClr val="98C379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main.go</a:t>
            </a:r>
            <a:endParaRPr sz="1300">
              <a:solidFill>
                <a:srgbClr val="98C379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09" name="Google Shape;309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7700" y="0"/>
            <a:ext cx="1196300" cy="11963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46"/>
          <p:cNvSpPr txBox="1"/>
          <p:nvPr/>
        </p:nvSpPr>
        <p:spPr>
          <a:xfrm>
            <a:off x="4775000" y="1262475"/>
            <a:ext cx="4186500" cy="2878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61AFE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curl</a:t>
            </a:r>
            <a:r>
              <a:rPr lang="en" sz="7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D19A66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--location</a:t>
            </a:r>
            <a:r>
              <a:rPr lang="en" sz="7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D19A66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--request</a:t>
            </a:r>
            <a:r>
              <a:rPr lang="en" sz="7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98C379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POST</a:t>
            </a:r>
            <a:r>
              <a:rPr lang="en" sz="7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98C379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'http://localhost:8042/api/v1/receivers'</a:t>
            </a:r>
            <a:r>
              <a:rPr lang="en" sz="7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56B6C2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\</a:t>
            </a:r>
            <a:endParaRPr sz="700">
              <a:solidFill>
                <a:srgbClr val="56B6C2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61AFE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--header</a:t>
            </a:r>
            <a:r>
              <a:rPr lang="en" sz="7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98C379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'Content-Type: application/json'</a:t>
            </a:r>
            <a:r>
              <a:rPr lang="en" sz="7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56B6C2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\</a:t>
            </a:r>
            <a:endParaRPr sz="700">
              <a:solidFill>
                <a:srgbClr val="56B6C2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61AFE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--data-raw</a:t>
            </a:r>
            <a:r>
              <a:rPr lang="en" sz="7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98C379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'{</a:t>
            </a:r>
            <a:endParaRPr sz="700">
              <a:solidFill>
                <a:srgbClr val="98C379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98C379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"name": "watcher-workshop",</a:t>
            </a:r>
            <a:endParaRPr sz="700">
              <a:solidFill>
                <a:srgbClr val="98C379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98C379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"type": "foo.bar",</a:t>
            </a:r>
            <a:endParaRPr sz="700">
              <a:solidFill>
                <a:srgbClr val="98C379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98C379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"version": "1.0.0",</a:t>
            </a:r>
            <a:endParaRPr sz="700">
              <a:solidFill>
                <a:srgbClr val="98C379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98C379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"description": "The event receiver of Brixton",</a:t>
            </a:r>
            <a:endParaRPr sz="700">
              <a:solidFill>
                <a:srgbClr val="98C379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98C379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"enabled": true,</a:t>
            </a:r>
            <a:endParaRPr sz="700">
              <a:solidFill>
                <a:srgbClr val="98C379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98C379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"schema": {</a:t>
            </a:r>
            <a:endParaRPr sz="700">
              <a:solidFill>
                <a:srgbClr val="98C379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98C379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"type": "object",</a:t>
            </a:r>
            <a:endParaRPr sz="700">
              <a:solidFill>
                <a:srgbClr val="98C379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98C379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"properties": {</a:t>
            </a:r>
            <a:endParaRPr sz="700">
              <a:solidFill>
                <a:srgbClr val="98C379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98C379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  "name": {</a:t>
            </a:r>
            <a:endParaRPr sz="700">
              <a:solidFill>
                <a:srgbClr val="98C379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98C379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    "type": "string"</a:t>
            </a:r>
            <a:endParaRPr sz="700">
              <a:solidFill>
                <a:srgbClr val="98C379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98C379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700">
              <a:solidFill>
                <a:srgbClr val="98C379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98C379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700">
              <a:solidFill>
                <a:srgbClr val="98C379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98C379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700">
              <a:solidFill>
                <a:srgbClr val="98C379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98C379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}'</a:t>
            </a:r>
            <a:endParaRPr sz="600">
              <a:solidFill>
                <a:srgbClr val="C678DD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1" name="Google Shape;311;p46"/>
          <p:cNvSpPr txBox="1"/>
          <p:nvPr/>
        </p:nvSpPr>
        <p:spPr>
          <a:xfrm>
            <a:off x="53325" y="2679400"/>
            <a:ext cx="4630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In a second terminal c</a:t>
            </a:r>
            <a:r>
              <a:rPr lang="en">
                <a:solidFill>
                  <a:schemeClr val="dk2"/>
                </a:solidFill>
              </a:rPr>
              <a:t>reate an Event Receiver where type matches what you put in the customMatcher.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Extended EPR: Creating a watcher</a:t>
            </a:r>
            <a:endParaRPr/>
          </a:p>
        </p:txBody>
      </p:sp>
      <p:sp>
        <p:nvSpPr>
          <p:cNvPr id="317" name="Google Shape;317;p47"/>
          <p:cNvSpPr txBox="1"/>
          <p:nvPr>
            <p:ph idx="1" type="body"/>
          </p:nvPr>
        </p:nvSpPr>
        <p:spPr>
          <a:xfrm>
            <a:off x="53325" y="1196300"/>
            <a:ext cx="3788700" cy="280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Now create an Event.</a:t>
            </a:r>
            <a:endParaRPr/>
          </a:p>
        </p:txBody>
      </p:sp>
      <p:pic>
        <p:nvPicPr>
          <p:cNvPr id="318" name="Google Shape;318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7700" y="0"/>
            <a:ext cx="1196300" cy="11963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47"/>
          <p:cNvSpPr txBox="1"/>
          <p:nvPr/>
        </p:nvSpPr>
        <p:spPr>
          <a:xfrm>
            <a:off x="3932975" y="1262475"/>
            <a:ext cx="5138700" cy="25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1AFE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curl</a:t>
            </a:r>
            <a:r>
              <a:rPr lang="en" sz="8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00">
                <a:solidFill>
                  <a:srgbClr val="D19A6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--location</a:t>
            </a:r>
            <a:r>
              <a:rPr lang="en" sz="8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00">
                <a:solidFill>
                  <a:srgbClr val="D19A6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--request</a:t>
            </a:r>
            <a:r>
              <a:rPr lang="en" sz="8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POST</a:t>
            </a:r>
            <a:r>
              <a:rPr lang="en" sz="8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'http://localhost:8042/api/v1/events'</a:t>
            </a:r>
            <a:r>
              <a:rPr lang="en" sz="8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00">
                <a:solidFill>
                  <a:srgbClr val="56B6C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\</a:t>
            </a:r>
            <a:endParaRPr sz="800">
              <a:solidFill>
                <a:srgbClr val="56B6C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1AFE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--header</a:t>
            </a:r>
            <a:r>
              <a:rPr lang="en" sz="8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'Content-Type: application/json'</a:t>
            </a:r>
            <a:r>
              <a:rPr lang="en" sz="8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00">
                <a:solidFill>
                  <a:srgbClr val="56B6C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\</a:t>
            </a:r>
            <a:endParaRPr sz="800">
              <a:solidFill>
                <a:srgbClr val="56B6C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1AFE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--data-raw</a:t>
            </a:r>
            <a:r>
              <a:rPr lang="en" sz="800">
                <a:solidFill>
                  <a:srgbClr val="ABB2B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'{</a:t>
            </a:r>
            <a:endParaRPr sz="800"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"name": "magnificent",</a:t>
            </a:r>
            <a:endParaRPr sz="800"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"version": "7.0.1",</a:t>
            </a:r>
            <a:endParaRPr sz="800"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"release": "2023.11.16",</a:t>
            </a:r>
            <a:endParaRPr sz="800"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"platform_id": "linux",</a:t>
            </a:r>
            <a:endParaRPr sz="800"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"package": "docker",</a:t>
            </a:r>
            <a:endParaRPr sz="800"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"description": "blah",</a:t>
            </a:r>
            <a:endParaRPr sz="800"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"payload": {"name":"joe"},</a:t>
            </a:r>
            <a:endParaRPr sz="800"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"success": true,</a:t>
            </a:r>
            <a:endParaRPr sz="800"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"event_receiver_id": "&lt;PASTE EVENT RECEIVER ID FROM FIRST CURL COMMAND&gt;"</a:t>
            </a:r>
            <a:endParaRPr sz="800">
              <a:solidFill>
                <a:srgbClr val="98C379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8C379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}'</a:t>
            </a:r>
            <a:endParaRPr sz="600">
              <a:solidFill>
                <a:srgbClr val="61AFE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20" name="Google Shape;320;p47"/>
          <p:cNvSpPr txBox="1"/>
          <p:nvPr/>
        </p:nvSpPr>
        <p:spPr>
          <a:xfrm>
            <a:off x="53325" y="3470675"/>
            <a:ext cx="463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420"/>
              <a:t>Advanced</a:t>
            </a:r>
            <a:r>
              <a:rPr lang="en" sz="2420"/>
              <a:t> EPR: CDEvents</a:t>
            </a:r>
            <a:endParaRPr sz="2420"/>
          </a:p>
        </p:txBody>
      </p:sp>
      <p:sp>
        <p:nvSpPr>
          <p:cNvPr id="326" name="Google Shape;326;p48"/>
          <p:cNvSpPr txBox="1"/>
          <p:nvPr>
            <p:ph idx="1" type="body"/>
          </p:nvPr>
        </p:nvSpPr>
        <p:spPr>
          <a:xfrm>
            <a:off x="311700" y="1118200"/>
            <a:ext cx="8520600" cy="320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 this section we will cover the CDEvents and EPR concepts and how to use them.</a:t>
            </a:r>
            <a:endParaRPr sz="900">
              <a:solidFill>
                <a:srgbClr val="ABB2BF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Event Receiver Schema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 an Event Receiver with a CDEvent schema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Post an Event without a payload and a CDEvent payload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 a watcher to trigger on CDEvents types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 commands in this section are long. Please refer to section 07-epr-cdevents</a:t>
            </a:r>
            <a:endParaRPr/>
          </a:p>
        </p:txBody>
      </p:sp>
      <p:pic>
        <p:nvPicPr>
          <p:cNvPr id="327" name="Google Shape;32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7700" y="0"/>
            <a:ext cx="1196300" cy="119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Advanced EPR: SBOMs</a:t>
            </a:r>
            <a:endParaRPr/>
          </a:p>
        </p:txBody>
      </p:sp>
      <p:sp>
        <p:nvSpPr>
          <p:cNvPr id="333" name="Google Shape;333;p49"/>
          <p:cNvSpPr txBox="1"/>
          <p:nvPr>
            <p:ph idx="1" type="body"/>
          </p:nvPr>
        </p:nvSpPr>
        <p:spPr>
          <a:xfrm>
            <a:off x="311700" y="1104625"/>
            <a:ext cx="8520600" cy="33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 this section of the workshop, we will introduce the SBOMs. We will follow a pattern similar to the previous CDEvents section.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Event Receiver Schema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CycloneDX bom schema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 a source SBOM event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 an SBOM for an OCI image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commands in this section are long. Please refer to section 08-epr-sboms</a:t>
            </a:r>
            <a:endParaRPr/>
          </a:p>
        </p:txBody>
      </p:sp>
      <p:pic>
        <p:nvPicPr>
          <p:cNvPr id="334" name="Google Shape;334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7700" y="0"/>
            <a:ext cx="1196300" cy="119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Advanced</a:t>
            </a:r>
            <a:r>
              <a:rPr lang="en"/>
              <a:t> EPR: Python</a:t>
            </a:r>
            <a:endParaRPr/>
          </a:p>
        </p:txBody>
      </p:sp>
      <p:sp>
        <p:nvSpPr>
          <p:cNvPr id="340" name="Google Shape;340;p50"/>
          <p:cNvSpPr txBox="1"/>
          <p:nvPr>
            <p:ph idx="1" type="body"/>
          </p:nvPr>
        </p:nvSpPr>
        <p:spPr>
          <a:xfrm>
            <a:off x="311700" y="1152475"/>
            <a:ext cx="8520600" cy="33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this section we will walk through the development and usage of the EPR Python client.</a:t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EPR Python Client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Overview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</a:t>
            </a:r>
            <a:r>
              <a:rPr lang="en"/>
              <a:t>evelopment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Model Example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Client Create Example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Create an event receiver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Create an event receiver group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Create an event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EPR Python CLI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 commands in this section are long. Please refer to section 09-epr-python</a:t>
            </a:r>
            <a:endParaRPr/>
          </a:p>
        </p:txBody>
      </p:sp>
      <p:pic>
        <p:nvPicPr>
          <p:cNvPr id="341" name="Google Shape;341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7700" y="0"/>
            <a:ext cx="1196300" cy="119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Advanced EPR: </a:t>
            </a:r>
            <a:r>
              <a:rPr lang="en"/>
              <a:t>Workshop Challenge</a:t>
            </a:r>
            <a:endParaRPr/>
          </a:p>
        </p:txBody>
      </p:sp>
      <p:sp>
        <p:nvSpPr>
          <p:cNvPr id="347" name="Google Shape;347;p51"/>
          <p:cNvSpPr txBox="1"/>
          <p:nvPr>
            <p:ph idx="1" type="body"/>
          </p:nvPr>
        </p:nvSpPr>
        <p:spPr>
          <a:xfrm>
            <a:off x="311700" y="1152475"/>
            <a:ext cx="8520600" cy="33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this section we will expand on our EPR concepts we have learned in the previous sections. This is a free form exercise to expand on what we have </a:t>
            </a:r>
            <a:r>
              <a:rPr lang="en"/>
              <a:t>l</a:t>
            </a:r>
            <a:r>
              <a:rPr lang="en"/>
              <a:t>earned.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Suggestions: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a watcher to fire a webhook.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a watcher to create a CDEvent.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a watcher to create a SBOM.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a Python watcher to create an Event.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48" name="Google Shape;348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7700" y="0"/>
            <a:ext cx="1196300" cy="119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AMA</a:t>
            </a:r>
            <a:endParaRPr/>
          </a:p>
        </p:txBody>
      </p:sp>
      <p:sp>
        <p:nvSpPr>
          <p:cNvPr id="354" name="Google Shape;354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55" name="Google Shape;355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7700" y="0"/>
            <a:ext cx="1196300" cy="119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I am Smitty and I am afraid of Robots.</a:t>
            </a:r>
            <a:endParaRPr/>
          </a:p>
        </p:txBody>
      </p:sp>
      <p:sp>
        <p:nvSpPr>
          <p:cNvPr id="361" name="Google Shape;361;p53"/>
          <p:cNvSpPr txBox="1"/>
          <p:nvPr>
            <p:ph idx="1" type="body"/>
          </p:nvPr>
        </p:nvSpPr>
        <p:spPr>
          <a:xfrm>
            <a:off x="885588" y="1291225"/>
            <a:ext cx="1669200" cy="4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EPR Workshop</a:t>
            </a:r>
            <a:endParaRPr/>
          </a:p>
        </p:txBody>
      </p:sp>
      <p:sp>
        <p:nvSpPr>
          <p:cNvPr id="362" name="Google Shape;362;p53"/>
          <p:cNvSpPr txBox="1"/>
          <p:nvPr/>
        </p:nvSpPr>
        <p:spPr>
          <a:xfrm>
            <a:off x="5876075" y="4489800"/>
            <a:ext cx="18033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4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</a:rPr>
              <a:t>Brett Smith</a:t>
            </a:r>
            <a:endParaRPr sz="2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</a:rPr>
              <a:t>xbcsmith@gmail.com</a:t>
            </a:r>
            <a:endParaRPr sz="2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</a:rPr>
              <a:t>20240405</a:t>
            </a:r>
            <a:endParaRPr sz="2800">
              <a:solidFill>
                <a:schemeClr val="lt1"/>
              </a:solidFill>
            </a:endParaRPr>
          </a:p>
        </p:txBody>
      </p:sp>
      <p:pic>
        <p:nvPicPr>
          <p:cNvPr id="363" name="Google Shape;363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50477" y="2761400"/>
            <a:ext cx="1093525" cy="154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621725"/>
            <a:ext cx="2734025" cy="273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18950" y="1704675"/>
            <a:ext cx="2651075" cy="2651075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53"/>
          <p:cNvSpPr txBox="1"/>
          <p:nvPr>
            <p:ph idx="1" type="body"/>
          </p:nvPr>
        </p:nvSpPr>
        <p:spPr>
          <a:xfrm>
            <a:off x="3844800" y="1291225"/>
            <a:ext cx="727200" cy="4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EPR</a:t>
            </a:r>
            <a:endParaRPr/>
          </a:p>
        </p:txBody>
      </p:sp>
      <p:pic>
        <p:nvPicPr>
          <p:cNvPr id="367" name="Google Shape;367;p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35825" y="1779925"/>
            <a:ext cx="2575825" cy="2575825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53"/>
          <p:cNvSpPr txBox="1"/>
          <p:nvPr>
            <p:ph idx="1" type="body"/>
          </p:nvPr>
        </p:nvSpPr>
        <p:spPr>
          <a:xfrm>
            <a:off x="6004013" y="1291225"/>
            <a:ext cx="1547400" cy="4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EPR-Python</a:t>
            </a:r>
            <a:endParaRPr/>
          </a:p>
        </p:txBody>
      </p:sp>
      <p:pic>
        <p:nvPicPr>
          <p:cNvPr id="369" name="Google Shape;369;p5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47700" y="0"/>
            <a:ext cx="1196300" cy="119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Google Shape;374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099" y="0"/>
            <a:ext cx="7945798" cy="4469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