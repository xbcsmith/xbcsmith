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24"/>
  </p:notesMasterIdLst>
  <p:sldIdLst>
    <p:sldId id="256" r:id="rId2"/>
    <p:sldId id="293" r:id="rId3"/>
    <p:sldId id="257" r:id="rId4"/>
    <p:sldId id="258" r:id="rId5"/>
    <p:sldId id="277" r:id="rId6"/>
    <p:sldId id="278" r:id="rId7"/>
    <p:sldId id="297" r:id="rId8"/>
    <p:sldId id="295" r:id="rId9"/>
    <p:sldId id="282" r:id="rId10"/>
    <p:sldId id="281" r:id="rId11"/>
    <p:sldId id="298" r:id="rId12"/>
    <p:sldId id="279" r:id="rId13"/>
    <p:sldId id="280" r:id="rId14"/>
    <p:sldId id="283" r:id="rId15"/>
    <p:sldId id="284" r:id="rId16"/>
    <p:sldId id="285" r:id="rId17"/>
    <p:sldId id="296" r:id="rId18"/>
    <p:sldId id="294" r:id="rId19"/>
    <p:sldId id="300" r:id="rId20"/>
    <p:sldId id="291" r:id="rId21"/>
    <p:sldId id="299" r:id="rId22"/>
    <p:sldId id="276" r:id="rId23"/>
  </p:sldIdLst>
  <p:sldSz cx="12192000" cy="6858000"/>
  <p:notesSz cx="6858000" cy="9144000"/>
  <p:embeddedFontLst>
    <p:embeddedFont>
      <p:font typeface="Calibri" panose="020F0502020204030204" pitchFamily="34" charset="0"/>
      <p:regular r:id="rId25"/>
      <p:bold r:id="rId26"/>
      <p:italic r:id="rId27"/>
      <p:boldItalic r:id="rId28"/>
    </p:embeddedFont>
    <p:embeddedFont>
      <p:font typeface="Calibri Light" panose="020F0302020204030204" pitchFamily="34" charset="0"/>
      <p:regular r:id="rId29"/>
      <p:italic r:id="rId30"/>
    </p:embeddedFont>
    <p:embeddedFont>
      <p:font typeface="Montserrat" pitchFamily="2" charset="77"/>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51"/>
    <p:restoredTop sz="75514"/>
  </p:normalViewPr>
  <p:slideViewPr>
    <p:cSldViewPr snapToGrid="0">
      <p:cViewPr varScale="1">
        <p:scale>
          <a:sx n="128" d="100"/>
          <a:sy n="128" d="100"/>
        </p:scale>
        <p:origin x="1488" y="7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tt Smith" userId="315e2b3b-6e94-41e3-8c32-ceab5fb8fc07" providerId="ADAL" clId="{8BDF8BD4-4820-E146-8C47-B99B81499E94}"/>
    <pc:docChg chg="modSld">
      <pc:chgData name="Brett Smith" userId="315e2b3b-6e94-41e3-8c32-ceab5fb8fc07" providerId="ADAL" clId="{8BDF8BD4-4820-E146-8C47-B99B81499E94}" dt="2023-04-11T14:53:08.109" v="39" actId="2711"/>
      <pc:docMkLst>
        <pc:docMk/>
      </pc:docMkLst>
      <pc:sldChg chg="modNotesTx">
        <pc:chgData name="Brett Smith" userId="315e2b3b-6e94-41e3-8c32-ceab5fb8fc07" providerId="ADAL" clId="{8BDF8BD4-4820-E146-8C47-B99B81499E94}" dt="2023-04-11T14:53:08.109" v="39" actId="2711"/>
        <pc:sldMkLst>
          <pc:docMk/>
          <pc:sldMk cId="1046419888" sldId="284"/>
        </pc:sldMkLst>
      </pc:sldChg>
      <pc:sldChg chg="modNotesTx">
        <pc:chgData name="Brett Smith" userId="315e2b3b-6e94-41e3-8c32-ceab5fb8fc07" providerId="ADAL" clId="{8BDF8BD4-4820-E146-8C47-B99B81499E94}" dt="2023-04-07T14:39:46.122" v="33" actId="20577"/>
        <pc:sldMkLst>
          <pc:docMk/>
          <pc:sldMk cId="4075880827" sldId="285"/>
        </pc:sldMkLst>
      </pc:sldChg>
      <pc:sldChg chg="modNotesTx">
        <pc:chgData name="Brett Smith" userId="315e2b3b-6e94-41e3-8c32-ceab5fb8fc07" providerId="ADAL" clId="{8BDF8BD4-4820-E146-8C47-B99B81499E94}" dt="2023-04-11T14:51:35.846" v="36" actId="2711"/>
        <pc:sldMkLst>
          <pc:docMk/>
          <pc:sldMk cId="2513453496" sldId="29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64" name="Google Shape;6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Let’s talk a bit about the history of the Software Supply Chain.</a:t>
            </a:r>
            <a:endParaRPr dirty="0"/>
          </a:p>
        </p:txBody>
      </p:sp>
      <p:sp>
        <p:nvSpPr>
          <p:cNvPr id="76" name="Google Shape;7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74662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latin typeface="Arial" panose="020B0604020202020204" pitchFamily="34" charset="0"/>
                <a:cs typeface="Arial" panose="020B0604020202020204" pitchFamily="34" charset="0"/>
              </a:rPr>
              <a:t>Work for an ISV  - Independent Software Vendor</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b="0" dirty="0">
              <a:solidFill>
                <a:srgbClr val="CDD3DE"/>
              </a:solidFill>
              <a:effectLst/>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0" dirty="0">
                <a:solidFill>
                  <a:srgbClr val="CDD3DE"/>
                </a:solidFill>
                <a:effectLst/>
                <a:latin typeface="Arial" panose="020B0604020202020204" pitchFamily="34" charset="0"/>
                <a:cs typeface="Arial" panose="020B0604020202020204" pitchFamily="34" charset="0"/>
              </a:rPr>
              <a:t>deliver software to customers.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b="0" dirty="0">
              <a:solidFill>
                <a:srgbClr val="CDD3DE"/>
              </a:solidFill>
              <a:effectLst/>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0" dirty="0">
                <a:solidFill>
                  <a:srgbClr val="CDD3DE"/>
                </a:solidFill>
                <a:effectLst/>
                <a:latin typeface="Arial" panose="020B0604020202020204" pitchFamily="34" charset="0"/>
                <a:cs typeface="Arial" panose="020B0604020202020204" pitchFamily="34" charset="0"/>
              </a:rPr>
              <a:t>RPMs, Debs, OCI Containers, on several architectures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b="0" dirty="0">
              <a:solidFill>
                <a:srgbClr val="CDD3DE"/>
              </a:solidFill>
              <a:effectLst/>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0" dirty="0">
                <a:solidFill>
                  <a:srgbClr val="CDD3DE"/>
                </a:solidFill>
                <a:effectLst/>
                <a:latin typeface="Arial" panose="020B0604020202020204" pitchFamily="34" charset="0"/>
                <a:cs typeface="Arial" panose="020B0604020202020204" pitchFamily="34" charset="0"/>
              </a:rPr>
              <a:t>We have a pipeline that builds, tests, stores, and eventually allows customers to download the software from us.</a:t>
            </a:r>
            <a:br>
              <a:rPr lang="en-US" b="0" dirty="0">
                <a:solidFill>
                  <a:srgbClr val="C0C5CE"/>
                </a:solidFill>
                <a:effectLst/>
                <a:latin typeface="Arial" panose="020B0604020202020204" pitchFamily="34" charset="0"/>
                <a:cs typeface="Arial" panose="020B0604020202020204" pitchFamily="34" charset="0"/>
              </a:rPr>
            </a:br>
            <a:endParaRPr lang="en-US" b="0" dirty="0">
              <a:solidFill>
                <a:srgbClr val="C0C5CE"/>
              </a:solidFill>
              <a:effectLst/>
              <a:latin typeface="Arial" panose="020B0604020202020204" pitchFamily="34" charset="0"/>
              <a:cs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
        <p:nvSpPr>
          <p:cNvPr id="70" name="Google Shape;7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What did our pipeline look like before Events?</a:t>
            </a:r>
            <a:endParaRPr dirty="0"/>
          </a:p>
        </p:txBody>
      </p:sp>
      <p:sp>
        <p:nvSpPr>
          <p:cNvPr id="76" name="Google Shape;7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b="0" dirty="0">
                <a:solidFill>
                  <a:srgbClr val="CDD3DE"/>
                </a:solidFill>
                <a:effectLst/>
                <a:latin typeface="Arial" panose="020B0604020202020204" pitchFamily="34" charset="0"/>
                <a:cs typeface="Arial" panose="020B0604020202020204" pitchFamily="34" charset="0"/>
              </a:rPr>
              <a:t>We go back to 2015. Our team was tasked with building a pipeline to produce RPMs for bare metal installs for our new product. At the time we had a regular software supply chain built around Jenkins (CI) and Gerrit (SCM). Over the course of a few years we built out a templated packaging system and an asynchronous task engine for building and packaging the software.</a:t>
            </a:r>
            <a:br>
              <a:rPr lang="en-US" b="0" dirty="0">
                <a:solidFill>
                  <a:srgbClr val="C0C5CE"/>
                </a:solidFill>
                <a:effectLst/>
                <a:latin typeface="Arial" panose="020B0604020202020204" pitchFamily="34" charset="0"/>
                <a:cs typeface="Arial" panose="020B0604020202020204" pitchFamily="34" charset="0"/>
              </a:rPr>
            </a:b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I know what you are thinking "Why a templating system?".</a:t>
            </a:r>
          </a:p>
          <a:p>
            <a:pPr marL="158750" indent="0">
              <a:buNone/>
            </a:pP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We didn’t think asking developers to write hundreds of RPM spec files was going to go well. </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Why did we write our own asynchronous task engine?</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Kubernetes was not ready.</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We leveraged Pulp (The Red Hat tech they use to deliver RPM content) as our repository technology. </a:t>
            </a:r>
          </a:p>
          <a:p>
            <a:pPr marL="158750" indent="0">
              <a:buNone/>
            </a:pPr>
            <a:endParaRPr lang="en-US" b="0" dirty="0">
              <a:solidFill>
                <a:srgbClr val="CDD3D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We have an instance of Artifactory and leverage it for storing dependency artifacts. </a:t>
            </a:r>
          </a:p>
          <a:p>
            <a:pPr marL="158750" indent="0">
              <a:buNone/>
            </a:pPr>
            <a:endParaRPr lang="en-US" b="0" dirty="0">
              <a:solidFill>
                <a:srgbClr val="CDD3D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We built out a metadata service to track all our units relationships.</a:t>
            </a:r>
          </a:p>
          <a:p>
            <a:pPr marL="158750" indent="0">
              <a:buNone/>
            </a:pPr>
            <a:endParaRPr lang="en-US" b="0" dirty="0">
              <a:solidFill>
                <a:srgbClr val="CDD3D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 Over time we expanded the packaging system to include new package types.</a:t>
            </a:r>
            <a:endParaRPr lang="en-US" b="0" dirty="0">
              <a:solidFill>
                <a:srgbClr val="C0C5CE"/>
              </a:solidFill>
              <a:effectLst/>
              <a:latin typeface="Arial" panose="020B0604020202020204" pitchFamily="34" charset="0"/>
              <a:cs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
        <p:nvSpPr>
          <p:cNvPr id="76" name="Google Shape;7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3435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0" dirty="0">
                <a:solidFill>
                  <a:srgbClr val="CDD3DE"/>
                </a:solidFill>
                <a:effectLst/>
                <a:latin typeface="Arial" panose="020B0604020202020204" pitchFamily="34" charset="0"/>
                <a:cs typeface="Arial" panose="020B0604020202020204" pitchFamily="34" charset="0"/>
              </a:rPr>
              <a:t>The packaging system is pretty complex. It is driven by data that is transformed into native package types using templates.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b="0" dirty="0">
              <a:solidFill>
                <a:srgbClr val="CDD3DE"/>
              </a:solidFill>
              <a:effectLst/>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0" dirty="0">
                <a:solidFill>
                  <a:srgbClr val="CDD3DE"/>
                </a:solidFill>
                <a:effectLst/>
                <a:latin typeface="Arial" panose="020B0604020202020204" pitchFamily="34" charset="0"/>
                <a:cs typeface="Arial" panose="020B0604020202020204" pitchFamily="34" charset="0"/>
              </a:rPr>
              <a:t>But we are not here to talk about packaging systems.</a:t>
            </a:r>
            <a:endParaRPr lang="en-US" b="0" dirty="0">
              <a:solidFill>
                <a:srgbClr val="C0C5CE"/>
              </a:solidFill>
              <a:effectLst/>
              <a:latin typeface="Arial" panose="020B0604020202020204" pitchFamily="34" charset="0"/>
              <a:cs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
        <p:nvSpPr>
          <p:cNvPr id="76" name="Google Shape;7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01196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b="0" dirty="0">
                <a:solidFill>
                  <a:srgbClr val="CDD3DE"/>
                </a:solidFill>
                <a:effectLst/>
                <a:latin typeface="Arial" panose="020B0604020202020204" pitchFamily="34" charset="0"/>
                <a:cs typeface="Arial" panose="020B0604020202020204" pitchFamily="34" charset="0"/>
              </a:rPr>
              <a:t>In early 2019 the CTO comes to us and says "I want full CI/CD". Awesome. Now we could have chained together thousands of Jenkins jobs and got where we needed to be. But I am not a fan of Jenkins and I wanted to do something that was not tied to a specific CI.</a:t>
            </a:r>
            <a:endParaRPr lang="en-US" b="0" dirty="0">
              <a:solidFill>
                <a:srgbClr val="C0C5CE"/>
              </a:solidFill>
              <a:effectLst/>
              <a:latin typeface="Arial" panose="020B0604020202020204" pitchFamily="34" charset="0"/>
              <a:cs typeface="Arial" panose="020B0604020202020204" pitchFamily="34" charset="0"/>
            </a:endParaRP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Why? Because eventually you need to migrate to a newer CI technology. If your event system is tied to your CI technology it is considerably harder to migrate. You end up supporting both CI and Event Systems for a while. Because if you have a new pipeline you now have two pipelines.</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I decided to build out an event driven framework that would allow us to expand over time. The Tools and Services would be written in Go/Python and Kafka would serve as our event message bus. We already had Kafka running in house so it was an easy choice.</a:t>
            </a:r>
            <a:endParaRPr lang="en-US" b="0" dirty="0">
              <a:solidFill>
                <a:srgbClr val="C0C5CE"/>
              </a:solidFill>
              <a:effectLst/>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158750" indent="0">
              <a:buNone/>
            </a:pPr>
            <a:r>
              <a:rPr lang="en-US" b="0" dirty="0">
                <a:solidFill>
                  <a:srgbClr val="78CCF0"/>
                </a:solidFill>
                <a:effectLst/>
                <a:latin typeface="Arial" panose="020B0604020202020204" pitchFamily="34" charset="0"/>
                <a:cs typeface="Arial" panose="020B0604020202020204" pitchFamily="34" charset="0"/>
              </a:rPr>
              <a:t>##</a:t>
            </a:r>
            <a:r>
              <a:rPr lang="en-US" b="0" dirty="0">
                <a:solidFill>
                  <a:srgbClr val="CDD3DE"/>
                </a:solidFill>
                <a:effectLst/>
                <a:latin typeface="Arial" panose="020B0604020202020204" pitchFamily="34" charset="0"/>
                <a:cs typeface="Arial" panose="020B0604020202020204" pitchFamily="34" charset="0"/>
              </a:rPr>
              <a:t> </a:t>
            </a:r>
            <a:r>
              <a:rPr lang="en-US" b="0" dirty="0">
                <a:solidFill>
                  <a:srgbClr val="78CCF0"/>
                </a:solidFill>
                <a:effectLst/>
                <a:latin typeface="Arial" panose="020B0604020202020204" pitchFamily="34" charset="0"/>
                <a:cs typeface="Arial" panose="020B0604020202020204" pitchFamily="34" charset="0"/>
              </a:rPr>
              <a:t>Decisions on tooling</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Problem number one. We had to keep shipping software. </a:t>
            </a:r>
          </a:p>
          <a:p>
            <a:pPr marL="158750" indent="0">
              <a:buNone/>
            </a:pPr>
            <a:endParaRPr lang="en-US" b="0" dirty="0">
              <a:solidFill>
                <a:srgbClr val="CDD3D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Problem number two. We had invested several years in our current pipeline and it just works. So the question became how to add events to the current pipeline without starting over?</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We have a multitude of CI tooling and services we wanted to tie into the system. </a:t>
            </a:r>
          </a:p>
          <a:p>
            <a:pPr marL="158750" indent="0">
              <a:buNone/>
            </a:pPr>
            <a:r>
              <a:rPr lang="en-US" b="0" dirty="0">
                <a:solidFill>
                  <a:srgbClr val="CDD3DE"/>
                </a:solidFill>
                <a:effectLst/>
                <a:latin typeface="Arial" panose="020B0604020202020204" pitchFamily="34" charset="0"/>
                <a:cs typeface="Arial" panose="020B0604020202020204" pitchFamily="34" charset="0"/>
              </a:rPr>
              <a:t>Special clients are painful to distribute. We needed to be able to bolt events onto the current pipeline. There was aa need to be able to create events with tools that were readily available like curl, python, go, groovy, java, etc. We let the services handle talking to Kafka so the legacy pipeline just needs to be able to POST to the service. The decisions was made to use JSON for the messages since it is an industry standard and well supported in many languages. Using Avro was out based on the tooling requirements. Really because I never want to see another XML-RPC service in my lifetime.</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35981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b="0" dirty="0">
                <a:solidFill>
                  <a:srgbClr val="78CCF0"/>
                </a:solidFill>
                <a:effectLst/>
                <a:latin typeface="Arial" panose="020B0604020202020204" pitchFamily="34" charset="0"/>
                <a:cs typeface="Arial" panose="020B0604020202020204" pitchFamily="34" charset="0"/>
              </a:rPr>
              <a:t>##</a:t>
            </a:r>
            <a:r>
              <a:rPr lang="en-US" b="0" dirty="0">
                <a:solidFill>
                  <a:srgbClr val="CDD3DE"/>
                </a:solidFill>
                <a:effectLst/>
                <a:latin typeface="Arial" panose="020B0604020202020204" pitchFamily="34" charset="0"/>
                <a:cs typeface="Arial" panose="020B0604020202020204" pitchFamily="34" charset="0"/>
              </a:rPr>
              <a:t> </a:t>
            </a:r>
            <a:r>
              <a:rPr lang="en-US" b="0" dirty="0">
                <a:solidFill>
                  <a:srgbClr val="78CCF0"/>
                </a:solidFill>
                <a:effectLst/>
                <a:latin typeface="Arial" panose="020B0604020202020204" pitchFamily="34" charset="0"/>
                <a:cs typeface="Arial" panose="020B0604020202020204" pitchFamily="34" charset="0"/>
              </a:rPr>
              <a:t>Receipts Gates and Stages</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Let's talk about the core concepts of the system.</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r>
              <a:rPr lang="en-US" b="0" dirty="0">
                <a:solidFill>
                  <a:srgbClr val="C0C5CE"/>
                </a:solidFill>
                <a:effectLst/>
                <a:latin typeface="Arial" panose="020B0604020202020204" pitchFamily="34" charset="0"/>
                <a:cs typeface="Arial" panose="020B0604020202020204" pitchFamily="34" charset="0"/>
              </a:rPr>
              <a:t>Actions</a:t>
            </a:r>
          </a:p>
          <a:p>
            <a:pPr marL="158750" indent="0">
              <a:buNone/>
            </a:pP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r>
              <a:rPr lang="en-US" b="0" dirty="0">
                <a:solidFill>
                  <a:srgbClr val="C0C5CE"/>
                </a:solidFill>
                <a:effectLst/>
                <a:latin typeface="Arial" panose="020B0604020202020204" pitchFamily="34" charset="0"/>
                <a:cs typeface="Arial" panose="020B0604020202020204" pitchFamily="34" charset="0"/>
              </a:rPr>
              <a:t>Receipts</a:t>
            </a:r>
          </a:p>
          <a:p>
            <a:pPr marL="158750" indent="0">
              <a:buNone/>
            </a:pP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r>
              <a:rPr lang="en-US" b="0" dirty="0">
                <a:solidFill>
                  <a:srgbClr val="C0C5CE"/>
                </a:solidFill>
                <a:effectLst/>
                <a:latin typeface="Arial" panose="020B0604020202020204" pitchFamily="34" charset="0"/>
                <a:cs typeface="Arial" panose="020B0604020202020204" pitchFamily="34" charset="0"/>
              </a:rPr>
              <a:t>Gates</a:t>
            </a:r>
          </a:p>
          <a:p>
            <a:pPr marL="158750" indent="0">
              <a:buNone/>
            </a:pP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r>
              <a:rPr lang="en-US" b="0" dirty="0">
                <a:solidFill>
                  <a:srgbClr val="C0C5CE"/>
                </a:solidFill>
                <a:effectLst/>
                <a:latin typeface="Arial" panose="020B0604020202020204" pitchFamily="34" charset="0"/>
                <a:cs typeface="Arial" panose="020B0604020202020204" pitchFamily="34" charset="0"/>
              </a:rPr>
              <a:t>Stages</a:t>
            </a:r>
            <a:br>
              <a:rPr lang="en-US" b="0" dirty="0">
                <a:solidFill>
                  <a:srgbClr val="C0C5CE"/>
                </a:solidFill>
                <a:effectLst/>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353779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Actions are the tasks run to accomplish a result. Examples of Actions would be "ran unit tests", "built binary", "ran functional tests", and "ran integration tests". Actions produce receipts.</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Receipts are the audit trail. They record all the information from the action. Receipts are JSON </a:t>
            </a:r>
            <a:r>
              <a:rPr lang="en-US" b="0" dirty="0">
                <a:solidFill>
                  <a:srgbClr val="80CBC4"/>
                </a:solidFill>
                <a:effectLst/>
                <a:latin typeface="Arial" panose="020B0604020202020204" pitchFamily="34" charset="0"/>
                <a:cs typeface="Arial" panose="020B0604020202020204" pitchFamily="34" charset="0"/>
              </a:rPr>
              <a:t>[</a:t>
            </a:r>
            <a:r>
              <a:rPr lang="en-US" b="0" dirty="0">
                <a:solidFill>
                  <a:srgbClr val="FF5370"/>
                </a:solidFill>
                <a:effectLst/>
                <a:latin typeface="Arial" panose="020B0604020202020204" pitchFamily="34" charset="0"/>
                <a:cs typeface="Arial" panose="020B0604020202020204" pitchFamily="34" charset="0"/>
              </a:rPr>
              <a:t>Cloud Event Spec</a:t>
            </a:r>
            <a:r>
              <a:rPr lang="en-US" b="0" dirty="0">
                <a:solidFill>
                  <a:srgbClr val="80CBC4"/>
                </a:solidFill>
                <a:effectLst/>
                <a:latin typeface="Arial" panose="020B0604020202020204" pitchFamily="34" charset="0"/>
                <a:cs typeface="Arial" panose="020B0604020202020204" pitchFamily="34" charset="0"/>
              </a:rPr>
              <a:t>](https://</a:t>
            </a:r>
            <a:r>
              <a:rPr lang="en-US" b="0" dirty="0" err="1">
                <a:solidFill>
                  <a:srgbClr val="80CBC4"/>
                </a:solidFill>
                <a:effectLst/>
                <a:latin typeface="Arial" panose="020B0604020202020204" pitchFamily="34" charset="0"/>
                <a:cs typeface="Arial" panose="020B0604020202020204" pitchFamily="34" charset="0"/>
              </a:rPr>
              <a:t>github.com</a:t>
            </a:r>
            <a:r>
              <a:rPr lang="en-US" b="0" dirty="0">
                <a:solidFill>
                  <a:srgbClr val="80CBC4"/>
                </a:solidFill>
                <a:effectLst/>
                <a:latin typeface="Arial" panose="020B0604020202020204" pitchFamily="34" charset="0"/>
                <a:cs typeface="Arial" panose="020B0604020202020204" pitchFamily="34" charset="0"/>
              </a:rPr>
              <a:t>/</a:t>
            </a:r>
            <a:r>
              <a:rPr lang="en-US" b="0" dirty="0" err="1">
                <a:solidFill>
                  <a:srgbClr val="80CBC4"/>
                </a:solidFill>
                <a:effectLst/>
                <a:latin typeface="Arial" panose="020B0604020202020204" pitchFamily="34" charset="0"/>
                <a:cs typeface="Arial" panose="020B0604020202020204" pitchFamily="34" charset="0"/>
              </a:rPr>
              <a:t>cloudevents</a:t>
            </a:r>
            <a:r>
              <a:rPr lang="en-US" b="0" dirty="0">
                <a:solidFill>
                  <a:srgbClr val="80CBC4"/>
                </a:solidFill>
                <a:effectLst/>
                <a:latin typeface="Arial" panose="020B0604020202020204" pitchFamily="34" charset="0"/>
                <a:cs typeface="Arial" panose="020B0604020202020204" pitchFamily="34" charset="0"/>
              </a:rPr>
              <a:t>/spec)</a:t>
            </a:r>
            <a:r>
              <a:rPr lang="en-US" b="0" dirty="0">
                <a:solidFill>
                  <a:srgbClr val="CDD3DE"/>
                </a:solidFill>
                <a:effectLst/>
                <a:latin typeface="Arial" panose="020B0604020202020204" pitchFamily="34" charset="0"/>
                <a:cs typeface="Arial" panose="020B0604020202020204" pitchFamily="34" charset="0"/>
              </a:rPr>
              <a:t> envelope around a </a:t>
            </a:r>
            <a:r>
              <a:rPr lang="en-US" b="0" dirty="0">
                <a:solidFill>
                  <a:srgbClr val="80CBC4"/>
                </a:solidFill>
                <a:effectLst/>
                <a:latin typeface="Arial" panose="020B0604020202020204" pitchFamily="34" charset="0"/>
                <a:cs typeface="Arial" panose="020B0604020202020204" pitchFamily="34" charset="0"/>
              </a:rPr>
              <a:t>[</a:t>
            </a:r>
            <a:r>
              <a:rPr lang="en-US" b="0" dirty="0">
                <a:solidFill>
                  <a:srgbClr val="FF5370"/>
                </a:solidFill>
                <a:effectLst/>
                <a:latin typeface="Arial" panose="020B0604020202020204" pitchFamily="34" charset="0"/>
                <a:cs typeface="Arial" panose="020B0604020202020204" pitchFamily="34" charset="0"/>
              </a:rPr>
              <a:t>CNAB bundle</a:t>
            </a:r>
            <a:r>
              <a:rPr lang="en-US" b="0" dirty="0">
                <a:solidFill>
                  <a:srgbClr val="80CBC4"/>
                </a:solidFill>
                <a:effectLst/>
                <a:latin typeface="Arial" panose="020B0604020202020204" pitchFamily="34" charset="0"/>
                <a:cs typeface="Arial" panose="020B0604020202020204" pitchFamily="34" charset="0"/>
              </a:rPr>
              <a:t>](https://</a:t>
            </a:r>
            <a:r>
              <a:rPr lang="en-US" b="0" dirty="0" err="1">
                <a:solidFill>
                  <a:srgbClr val="80CBC4"/>
                </a:solidFill>
                <a:effectLst/>
                <a:latin typeface="Arial" panose="020B0604020202020204" pitchFamily="34" charset="0"/>
                <a:cs typeface="Arial" panose="020B0604020202020204" pitchFamily="34" charset="0"/>
              </a:rPr>
              <a:t>github.com</a:t>
            </a:r>
            <a:r>
              <a:rPr lang="en-US" b="0" dirty="0">
                <a:solidFill>
                  <a:srgbClr val="80CBC4"/>
                </a:solidFill>
                <a:effectLst/>
                <a:latin typeface="Arial" panose="020B0604020202020204" pitchFamily="34" charset="0"/>
                <a:cs typeface="Arial" panose="020B0604020202020204" pitchFamily="34" charset="0"/>
              </a:rPr>
              <a:t>/</a:t>
            </a:r>
            <a:r>
              <a:rPr lang="en-US" b="0" dirty="0" err="1">
                <a:solidFill>
                  <a:srgbClr val="80CBC4"/>
                </a:solidFill>
                <a:effectLst/>
                <a:latin typeface="Arial" panose="020B0604020202020204" pitchFamily="34" charset="0"/>
                <a:cs typeface="Arial" panose="020B0604020202020204" pitchFamily="34" charset="0"/>
              </a:rPr>
              <a:t>cnabio</a:t>
            </a:r>
            <a:r>
              <a:rPr lang="en-US" b="0" dirty="0">
                <a:solidFill>
                  <a:srgbClr val="80CBC4"/>
                </a:solidFill>
                <a:effectLst/>
                <a:latin typeface="Arial" panose="020B0604020202020204" pitchFamily="34" charset="0"/>
                <a:cs typeface="Arial" panose="020B0604020202020204" pitchFamily="34" charset="0"/>
              </a:rPr>
              <a:t>/</a:t>
            </a:r>
            <a:r>
              <a:rPr lang="en-US" b="0" dirty="0" err="1">
                <a:solidFill>
                  <a:srgbClr val="80CBC4"/>
                </a:solidFill>
                <a:effectLst/>
                <a:latin typeface="Arial" panose="020B0604020202020204" pitchFamily="34" charset="0"/>
                <a:cs typeface="Arial" panose="020B0604020202020204" pitchFamily="34" charset="0"/>
              </a:rPr>
              <a:t>cnab</a:t>
            </a:r>
            <a:r>
              <a:rPr lang="en-US" b="0" dirty="0">
                <a:solidFill>
                  <a:srgbClr val="80CBC4"/>
                </a:solidFill>
                <a:effectLst/>
                <a:latin typeface="Arial" panose="020B0604020202020204" pitchFamily="34" charset="0"/>
                <a:cs typeface="Arial" panose="020B0604020202020204" pitchFamily="34" charset="0"/>
              </a:rPr>
              <a:t>-spec)</a:t>
            </a:r>
            <a:r>
              <a:rPr lang="en-US" b="0" dirty="0">
                <a:solidFill>
                  <a:srgbClr val="CDD3DE"/>
                </a:solidFill>
                <a:effectLst/>
                <a:latin typeface="Arial" panose="020B0604020202020204" pitchFamily="34" charset="0"/>
                <a:cs typeface="Arial" panose="020B0604020202020204" pitchFamily="34" charset="0"/>
              </a:rPr>
              <a:t> payload. The receipts have an identifier built into them that tells us whether the action passed or failed. We struggled to name the field because we wanted it to be a </a:t>
            </a:r>
            <a:r>
              <a:rPr lang="en-US" b="0" dirty="0" err="1">
                <a:solidFill>
                  <a:srgbClr val="CDD3DE"/>
                </a:solidFill>
                <a:effectLst/>
                <a:latin typeface="Arial" panose="020B0604020202020204" pitchFamily="34" charset="0"/>
                <a:cs typeface="Arial" panose="020B0604020202020204" pitchFamily="34" charset="0"/>
              </a:rPr>
              <a:t>boolean</a:t>
            </a:r>
            <a:r>
              <a:rPr lang="en-US" b="0" dirty="0">
                <a:solidFill>
                  <a:srgbClr val="CDD3DE"/>
                </a:solidFill>
                <a:effectLst/>
                <a:latin typeface="Arial" panose="020B0604020202020204" pitchFamily="34" charset="0"/>
                <a:cs typeface="Arial" panose="020B0604020202020204" pitchFamily="34" charset="0"/>
              </a:rPr>
              <a:t> so we weren't trying to string match. So, we decided on </a:t>
            </a:r>
            <a:r>
              <a:rPr lang="en-US" b="0" dirty="0" err="1">
                <a:solidFill>
                  <a:srgbClr val="CDD3DE"/>
                </a:solidFill>
                <a:effectLst/>
                <a:latin typeface="Arial" panose="020B0604020202020204" pitchFamily="34" charset="0"/>
                <a:cs typeface="Arial" panose="020B0604020202020204" pitchFamily="34" charset="0"/>
              </a:rPr>
              <a:t>multipass</a:t>
            </a:r>
            <a:r>
              <a:rPr lang="en-US" b="0" dirty="0">
                <a:solidFill>
                  <a:srgbClr val="CDD3DE"/>
                </a:solidFill>
                <a:effectLst/>
                <a:latin typeface="Arial" panose="020B0604020202020204" pitchFamily="34" charset="0"/>
                <a:cs typeface="Arial" panose="020B0604020202020204" pitchFamily="34" charset="0"/>
              </a:rPr>
              <a:t>. </a:t>
            </a:r>
            <a:r>
              <a:rPr lang="en-US" b="0" dirty="0" err="1">
                <a:solidFill>
                  <a:srgbClr val="CDD3DE"/>
                </a:solidFill>
                <a:effectLst/>
                <a:latin typeface="Arial" panose="020B0604020202020204" pitchFamily="34" charset="0"/>
                <a:cs typeface="Arial" panose="020B0604020202020204" pitchFamily="34" charset="0"/>
              </a:rPr>
              <a:t>Multipass</a:t>
            </a:r>
            <a:r>
              <a:rPr lang="en-US" b="0" dirty="0">
                <a:solidFill>
                  <a:srgbClr val="CDD3DE"/>
                </a:solidFill>
                <a:effectLst/>
                <a:latin typeface="Arial" panose="020B0604020202020204" pitchFamily="34" charset="0"/>
                <a:cs typeface="Arial" panose="020B0604020202020204" pitchFamily="34" charset="0"/>
              </a:rPr>
              <a:t>.</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NVRPP is used as the identifier of a unit for purposes of receipts.</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Stands for Name, Version, Release, Platform ID, Package.</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For example:</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```text</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Name: foo</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Version: 1.0.0</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Release: 2023</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Platform ID: aarch64-oci-linux-2</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Package: docker</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We use NVRPP data to track receipts for units through the system.</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Gates represent the action. Example would be if I have an action to "build the binary" I have a corresponding build gate to represent that set of tasks. We make receipts for build actions and post them to the build gate. </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Gates are satisfied by receipts, which track the completion of each gate's requirements. Posting a receipt to a gate results in a message on the Kafka bus. The makings of event driven.</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Stages are a list of gates. When all gates in a stage have successful receipts (with</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a:t>
            </a:r>
            <a:r>
              <a:rPr lang="en-US" b="0" dirty="0" err="1">
                <a:solidFill>
                  <a:srgbClr val="CDD3DE"/>
                </a:solidFill>
                <a:effectLst/>
                <a:latin typeface="Arial" panose="020B0604020202020204" pitchFamily="34" charset="0"/>
                <a:cs typeface="Arial" panose="020B0604020202020204" pitchFamily="34" charset="0"/>
              </a:rPr>
              <a:t>multipass</a:t>
            </a:r>
            <a:r>
              <a:rPr lang="en-US" b="0" dirty="0">
                <a:solidFill>
                  <a:srgbClr val="CDD3DE"/>
                </a:solidFill>
                <a:effectLst/>
                <a:latin typeface="Arial" panose="020B0604020202020204" pitchFamily="34" charset="0"/>
                <a:cs typeface="Arial" panose="020B0604020202020204" pitchFamily="34" charset="0"/>
              </a:rPr>
              <a:t>": true status), then the stage triggers it emits a message to the Kafka topic. Example would be [ "unit tests gate", "build gate", "functional tests gate", "integration tests gate" ].</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Receipts, Gates, and Stages all have unique ids. For the unique identifier we decided to use a ULID. Basically, a UUID with a built-in timestamp that sort lexicographically. They are awesome.</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endParaRPr lang="en-US" b="0" dirty="0">
              <a:solidFill>
                <a:srgbClr val="C0C5CE"/>
              </a:solidFill>
              <a:effectLst/>
              <a:latin typeface="Arial" panose="020B0604020202020204" pitchFamily="34" charset="0"/>
              <a:cs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
        <p:nvSpPr>
          <p:cNvPr id="76" name="Google Shape;7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61185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b="0" dirty="0">
                <a:solidFill>
                  <a:srgbClr val="78CCF0"/>
                </a:solidFill>
                <a:effectLst/>
                <a:latin typeface="Arial" panose="020B0604020202020204" pitchFamily="34" charset="0"/>
                <a:cs typeface="Arial" panose="020B0604020202020204" pitchFamily="34" charset="0"/>
              </a:rPr>
              <a:t>##</a:t>
            </a:r>
            <a:r>
              <a:rPr lang="en-US" b="0" dirty="0">
                <a:solidFill>
                  <a:srgbClr val="CDD3DE"/>
                </a:solidFill>
                <a:effectLst/>
                <a:latin typeface="Arial" panose="020B0604020202020204" pitchFamily="34" charset="0"/>
                <a:cs typeface="Arial" panose="020B0604020202020204" pitchFamily="34" charset="0"/>
              </a:rPr>
              <a:t> </a:t>
            </a:r>
            <a:r>
              <a:rPr lang="en-US" b="0" dirty="0">
                <a:solidFill>
                  <a:srgbClr val="78CCF0"/>
                </a:solidFill>
                <a:effectLst/>
                <a:latin typeface="Arial" panose="020B0604020202020204" pitchFamily="34" charset="0"/>
                <a:cs typeface="Arial" panose="020B0604020202020204" pitchFamily="34" charset="0"/>
              </a:rPr>
              <a:t>Where do we store the Receipts, Gates, and Stages?</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The Gatekeeper was the first service we built. It is the central communication point for the system. </a:t>
            </a:r>
          </a:p>
          <a:p>
            <a:pPr marL="158750" indent="0">
              <a:buNone/>
            </a:pPr>
            <a:endParaRPr lang="en-US" b="0" dirty="0">
              <a:solidFill>
                <a:srgbClr val="CDD3D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It is a go service with a PostgreSQL DB. Always use Postgres. </a:t>
            </a:r>
          </a:p>
          <a:p>
            <a:pPr marL="158750" indent="0">
              <a:buNone/>
            </a:pPr>
            <a:endParaRPr lang="en-US" b="0" dirty="0">
              <a:solidFill>
                <a:srgbClr val="CDD3D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It has REST endpoints for CRUD operations for Receipts, Gates, and Stages.</a:t>
            </a:r>
          </a:p>
          <a:p>
            <a:pPr marL="158750" indent="0">
              <a:buNone/>
            </a:pPr>
            <a:endParaRPr lang="en-US" b="0" dirty="0">
              <a:solidFill>
                <a:srgbClr val="CDD3D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 It has a </a:t>
            </a:r>
            <a:r>
              <a:rPr lang="en-US" b="0" dirty="0" err="1">
                <a:solidFill>
                  <a:srgbClr val="CDD3DE"/>
                </a:solidFill>
                <a:effectLst/>
                <a:latin typeface="Arial" panose="020B0604020202020204" pitchFamily="34" charset="0"/>
                <a:cs typeface="Arial" panose="020B0604020202020204" pitchFamily="34" charset="0"/>
              </a:rPr>
              <a:t>GraphQL</a:t>
            </a:r>
            <a:r>
              <a:rPr lang="en-US" b="0" dirty="0">
                <a:solidFill>
                  <a:srgbClr val="CDD3DE"/>
                </a:solidFill>
                <a:effectLst/>
                <a:latin typeface="Arial" panose="020B0604020202020204" pitchFamily="34" charset="0"/>
                <a:cs typeface="Arial" panose="020B0604020202020204" pitchFamily="34" charset="0"/>
              </a:rPr>
              <a:t> API endpoint for searching for Receipts, Gates, and Stages by various attributes. </a:t>
            </a:r>
          </a:p>
          <a:p>
            <a:pPr marL="158750" indent="0">
              <a:buNone/>
            </a:pPr>
            <a:endParaRPr lang="en-US" b="0" dirty="0">
              <a:solidFill>
                <a:srgbClr val="CDD3D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Receipt, Gates, and Stages can never be deleted, they are our audit trail. </a:t>
            </a:r>
          </a:p>
          <a:p>
            <a:pPr marL="158750" indent="0">
              <a:buNone/>
            </a:pPr>
            <a:endParaRPr lang="en-US" b="0" dirty="0">
              <a:solidFill>
                <a:srgbClr val="CDD3D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You can revoke a receipt regardless of its </a:t>
            </a:r>
            <a:r>
              <a:rPr lang="en-US" b="0" dirty="0" err="1">
                <a:solidFill>
                  <a:srgbClr val="CDD3DE"/>
                </a:solidFill>
                <a:effectLst/>
                <a:latin typeface="Arial" panose="020B0604020202020204" pitchFamily="34" charset="0"/>
                <a:cs typeface="Arial" panose="020B0604020202020204" pitchFamily="34" charset="0"/>
              </a:rPr>
              <a:t>multipass</a:t>
            </a:r>
            <a:r>
              <a:rPr lang="en-US" b="0" dirty="0">
                <a:solidFill>
                  <a:srgbClr val="CDD3DE"/>
                </a:solidFill>
                <a:effectLst/>
                <a:latin typeface="Arial" panose="020B0604020202020204" pitchFamily="34" charset="0"/>
                <a:cs typeface="Arial" panose="020B0604020202020204" pitchFamily="34" charset="0"/>
              </a:rPr>
              <a:t>. </a:t>
            </a:r>
          </a:p>
          <a:p>
            <a:pPr marL="158750" indent="0">
              <a:buNone/>
            </a:pPr>
            <a:endParaRPr lang="en-US" b="0" dirty="0">
              <a:solidFill>
                <a:srgbClr val="CDD3D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You can disable a stage so it stops emitting messages. </a:t>
            </a:r>
          </a:p>
          <a:p>
            <a:pPr marL="158750" indent="0">
              <a:buNone/>
            </a:pPr>
            <a:endParaRPr lang="en-US" b="0" dirty="0">
              <a:solidFill>
                <a:srgbClr val="CDD3D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The Gatekeeper is the source of the truth. It is the only service allowed to talk to the main Kafka Topics.</a:t>
            </a:r>
            <a:endParaRPr lang="en-US" b="0" dirty="0">
              <a:solidFill>
                <a:srgbClr val="C0C5CE"/>
              </a:solidFill>
              <a:effectLst/>
              <a:latin typeface="Arial" panose="020B0604020202020204" pitchFamily="34" charset="0"/>
              <a:cs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
        <p:nvSpPr>
          <p:cNvPr id="76" name="Google Shape;7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0463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b="0" dirty="0">
                <a:solidFill>
                  <a:srgbClr val="78CCF0"/>
                </a:solidFill>
                <a:effectLst/>
                <a:latin typeface="Arial" panose="020B0604020202020204" pitchFamily="34" charset="0"/>
                <a:cs typeface="Arial" panose="020B0604020202020204" pitchFamily="34" charset="0"/>
              </a:rPr>
              <a:t>##</a:t>
            </a:r>
            <a:r>
              <a:rPr lang="en-US" b="0" dirty="0">
                <a:solidFill>
                  <a:srgbClr val="CDD3DE"/>
                </a:solidFill>
                <a:effectLst/>
                <a:latin typeface="Arial" panose="020B0604020202020204" pitchFamily="34" charset="0"/>
                <a:cs typeface="Arial" panose="020B0604020202020204" pitchFamily="34" charset="0"/>
              </a:rPr>
              <a:t> </a:t>
            </a:r>
            <a:r>
              <a:rPr lang="en-US" b="0" dirty="0">
                <a:solidFill>
                  <a:srgbClr val="78CCF0"/>
                </a:solidFill>
                <a:effectLst/>
                <a:latin typeface="Arial" panose="020B0604020202020204" pitchFamily="34" charset="0"/>
                <a:cs typeface="Arial" panose="020B0604020202020204" pitchFamily="34" charset="0"/>
              </a:rPr>
              <a:t>We built a Gatekeeper, what was next?</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Watchers listen to the Kafka topic for messages filtering on data they care about. </a:t>
            </a:r>
          </a:p>
          <a:p>
            <a:pPr marL="158750" indent="0">
              <a:buNone/>
            </a:pPr>
            <a:endParaRPr lang="en-US" b="0" dirty="0">
              <a:solidFill>
                <a:srgbClr val="CDD3D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When they find a message they care about they do something and create a receipt for the task when it is done. </a:t>
            </a:r>
          </a:p>
          <a:p>
            <a:pPr marL="158750" indent="0">
              <a:buNone/>
            </a:pPr>
            <a:endParaRPr lang="en-US" b="0" dirty="0">
              <a:solidFill>
                <a:srgbClr val="CDD3D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Most of our watchers are written in Go and run in </a:t>
            </a:r>
            <a:r>
              <a:rPr lang="en-US" b="0" dirty="0" err="1">
                <a:solidFill>
                  <a:srgbClr val="CDD3DE"/>
                </a:solidFill>
                <a:effectLst/>
                <a:latin typeface="Arial" panose="020B0604020202020204" pitchFamily="34" charset="0"/>
                <a:cs typeface="Arial" panose="020B0604020202020204" pitchFamily="34" charset="0"/>
              </a:rPr>
              <a:t>kubernetes</a:t>
            </a:r>
            <a:r>
              <a:rPr lang="en-US" b="0" dirty="0">
                <a:solidFill>
                  <a:srgbClr val="CDD3DE"/>
                </a:solidFill>
                <a:effectLst/>
                <a:latin typeface="Arial" panose="020B0604020202020204" pitchFamily="34" charset="0"/>
                <a:cs typeface="Arial" panose="020B0604020202020204" pitchFamily="34" charset="0"/>
              </a:rPr>
              <a:t>. They allow us to trigger actions based on events.</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The first watcher we built registered test containers with our test container registration service. </a:t>
            </a:r>
          </a:p>
          <a:p>
            <a:pPr marL="158750" indent="0">
              <a:buNone/>
            </a:pPr>
            <a:endParaRPr lang="en-US" b="0" dirty="0">
              <a:solidFill>
                <a:srgbClr val="CDD3D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The second watcher we built was a webhook service. It uses the Go template language to form URL using data from the event message and attaches any receipts referenced in the event as a payload. This allowed us to trigger Jenkins jobs based on events and pass in data to the job. We use it to trigger non-event aware systems wherever we can. </a:t>
            </a:r>
          </a:p>
          <a:p>
            <a:pPr marL="158750" indent="0">
              <a:buNone/>
            </a:pPr>
            <a:endParaRPr lang="en-US" b="0" dirty="0">
              <a:solidFill>
                <a:srgbClr val="CDD3DE"/>
              </a:solidFill>
              <a:effectLst/>
              <a:latin typeface="Arial" panose="020B0604020202020204" pitchFamily="34" charset="0"/>
              <a:cs typeface="Arial" panose="020B0604020202020204" pitchFamily="34" charset="0"/>
            </a:endParaRPr>
          </a:p>
          <a:p>
            <a:pPr marL="158750" indent="0">
              <a:buNone/>
            </a:pPr>
            <a:r>
              <a:rPr lang="en-US" b="0" dirty="0">
                <a:solidFill>
                  <a:srgbClr val="CDD3DE"/>
                </a:solidFill>
                <a:effectLst/>
                <a:latin typeface="Arial" panose="020B0604020202020204" pitchFamily="34" charset="0"/>
                <a:cs typeface="Arial" panose="020B0604020202020204" pitchFamily="34" charset="0"/>
              </a:rPr>
              <a:t>The third watcher we built was a Jira issue watcher. It can trigger Jira ticket creation from an event and it posts a receipt when the Jira issue is closed. We use this watcher for human interaction.</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19263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98727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b="0" dirty="0">
                <a:solidFill>
                  <a:srgbClr val="78CCF0"/>
                </a:solidFill>
                <a:effectLst/>
                <a:latin typeface="Arial" panose="020B0604020202020204" pitchFamily="34" charset="0"/>
                <a:cs typeface="Arial" panose="020B0604020202020204" pitchFamily="34" charset="0"/>
              </a:rPr>
              <a:t>##</a:t>
            </a:r>
            <a:r>
              <a:rPr lang="en-US" b="0" dirty="0">
                <a:solidFill>
                  <a:srgbClr val="CDD3DE"/>
                </a:solidFill>
                <a:effectLst/>
                <a:latin typeface="Arial" panose="020B0604020202020204" pitchFamily="34" charset="0"/>
                <a:cs typeface="Arial" panose="020B0604020202020204" pitchFamily="34" charset="0"/>
              </a:rPr>
              <a:t> </a:t>
            </a:r>
            <a:r>
              <a:rPr lang="en-US" b="0" dirty="0">
                <a:solidFill>
                  <a:srgbClr val="78CCF0"/>
                </a:solidFill>
                <a:effectLst/>
                <a:latin typeface="Arial" panose="020B0604020202020204" pitchFamily="34" charset="0"/>
                <a:cs typeface="Arial" panose="020B0604020202020204" pitchFamily="34" charset="0"/>
              </a:rPr>
              <a:t>The pipeline after we bolted events on</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The chain of events all starts with a build. Developer pushes code, unit builds, build receipt is </a:t>
            </a:r>
            <a:r>
              <a:rPr lang="en-US" b="0" dirty="0" err="1">
                <a:solidFill>
                  <a:srgbClr val="CDD3DE"/>
                </a:solidFill>
                <a:effectLst/>
                <a:latin typeface="Arial" panose="020B0604020202020204" pitchFamily="34" charset="0"/>
                <a:cs typeface="Arial" panose="020B0604020202020204" pitchFamily="34" charset="0"/>
              </a:rPr>
              <a:t>POSTd</a:t>
            </a:r>
            <a:r>
              <a:rPr lang="en-US" b="0" dirty="0">
                <a:solidFill>
                  <a:srgbClr val="CDD3DE"/>
                </a:solidFill>
                <a:effectLst/>
                <a:latin typeface="Arial" panose="020B0604020202020204" pitchFamily="34" charset="0"/>
                <a:cs typeface="Arial" panose="020B0604020202020204" pitchFamily="34" charset="0"/>
              </a:rPr>
              <a:t> to Gatekeeper, Gatekeeper puts event on the bus, Watchers catch the event and do things, make receipts that create events that drive other watchers.</a:t>
            </a:r>
            <a:endParaRPr lang="en-US" b="0" dirty="0">
              <a:solidFill>
                <a:srgbClr val="C0C5CE"/>
              </a:solidFill>
              <a:effectLst/>
              <a:latin typeface="Arial" panose="020B0604020202020204" pitchFamily="34" charset="0"/>
              <a:cs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
        <p:nvSpPr>
          <p:cNvPr id="76" name="Google Shape;7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3879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b="0" dirty="0">
                <a:solidFill>
                  <a:srgbClr val="78CCF0"/>
                </a:solidFill>
                <a:effectLst/>
                <a:latin typeface="Menlo" panose="020B0609030804020204" pitchFamily="49" charset="0"/>
              </a:rPr>
              <a:t>##</a:t>
            </a:r>
            <a:r>
              <a:rPr lang="en-US" b="0" dirty="0">
                <a:solidFill>
                  <a:srgbClr val="CDD3DE"/>
                </a:solidFill>
                <a:effectLst/>
                <a:latin typeface="Menlo" panose="020B0609030804020204" pitchFamily="49" charset="0"/>
              </a:rPr>
              <a:t> </a:t>
            </a:r>
            <a:r>
              <a:rPr lang="en-US" b="0" dirty="0">
                <a:solidFill>
                  <a:srgbClr val="78CCF0"/>
                </a:solidFill>
                <a:effectLst/>
                <a:latin typeface="Menlo" panose="020B0609030804020204" pitchFamily="49" charset="0"/>
              </a:rPr>
              <a:t>We should wire up our automated test framework.</a:t>
            </a:r>
            <a:endParaRPr lang="en-US" b="0" dirty="0">
              <a:solidFill>
                <a:srgbClr val="C0C5CE"/>
              </a:solidFill>
              <a:effectLst/>
              <a:latin typeface="Menlo" panose="020B0609030804020204" pitchFamily="49" charset="0"/>
            </a:endParaRPr>
          </a:p>
          <a:p>
            <a:pPr marL="158750" indent="0">
              <a:buNone/>
            </a:pPr>
            <a:br>
              <a:rPr lang="en-US" b="0" dirty="0">
                <a:solidFill>
                  <a:srgbClr val="C0C5CE"/>
                </a:solidFill>
                <a:effectLst/>
                <a:latin typeface="Menlo" panose="020B0609030804020204" pitchFamily="49" charset="0"/>
              </a:rPr>
            </a:br>
            <a:r>
              <a:rPr lang="en-US" b="0" dirty="0">
                <a:solidFill>
                  <a:srgbClr val="CDD3DE"/>
                </a:solidFill>
                <a:effectLst/>
                <a:latin typeface="Menlo" panose="020B0609030804020204" pitchFamily="49" charset="0"/>
              </a:rPr>
              <a:t>While we were working on building out our army of watchers our test team was adapting the test automation to be event driven. It took us a couple of months but eventually we had a workflow that was completely event driven. We built all the tests into test containers. </a:t>
            </a:r>
            <a:endParaRPr lang="en-US" b="0" dirty="0">
              <a:solidFill>
                <a:srgbClr val="C0C5CE"/>
              </a:solidFill>
              <a:effectLst/>
              <a:latin typeface="Menlo" panose="020B0609030804020204" pitchFamily="49" charset="0"/>
            </a:endParaRPr>
          </a:p>
          <a:p>
            <a:pPr marL="158750" indent="0">
              <a:buNone/>
            </a:pPr>
            <a:r>
              <a:rPr lang="en-US" b="0" dirty="0">
                <a:solidFill>
                  <a:srgbClr val="CDD3DE"/>
                </a:solidFill>
                <a:effectLst/>
                <a:latin typeface="Menlo" panose="020B0609030804020204" pitchFamily="49" charset="0"/>
              </a:rPr>
              <a:t>Test containers are a containerized set of tests that test a specific software we ship to customers.</a:t>
            </a:r>
            <a:endParaRPr lang="en-US" b="0" dirty="0">
              <a:solidFill>
                <a:srgbClr val="C0C5CE"/>
              </a:solidFill>
              <a:effectLst/>
              <a:latin typeface="Menlo" panose="020B0609030804020204" pitchFamily="49" charset="0"/>
            </a:endParaRPr>
          </a:p>
          <a:p>
            <a:pPr marL="158750" indent="0">
              <a:buNone/>
            </a:pPr>
            <a:r>
              <a:rPr lang="en-US" b="0" dirty="0">
                <a:solidFill>
                  <a:srgbClr val="CDD3DE"/>
                </a:solidFill>
                <a:effectLst/>
                <a:latin typeface="Menlo" panose="020B0609030804020204" pitchFamily="49" charset="0"/>
              </a:rPr>
              <a:t>When we build a test container the build receipt event triggered the test container watcher to make gates for the new test container and register the container and its gates and the units it tested with the test registration service. The test automation service does a deployment of all the units. It then talks to the test container registration service to get a list of all the test containers and their gates and the units they test. It then runs the test containers (with injected configuration) in batches as </a:t>
            </a:r>
            <a:r>
              <a:rPr lang="en-US" b="0" dirty="0" err="1">
                <a:solidFill>
                  <a:srgbClr val="CDD3DE"/>
                </a:solidFill>
                <a:effectLst/>
                <a:latin typeface="Menlo" panose="020B0609030804020204" pitchFamily="49" charset="0"/>
              </a:rPr>
              <a:t>kubernetes</a:t>
            </a:r>
            <a:r>
              <a:rPr lang="en-US" b="0" dirty="0">
                <a:solidFill>
                  <a:srgbClr val="CDD3DE"/>
                </a:solidFill>
                <a:effectLst/>
                <a:latin typeface="Menlo" panose="020B0609030804020204" pitchFamily="49" charset="0"/>
              </a:rPr>
              <a:t> jobs. As each test container runs its tests they record the output of the tests as </a:t>
            </a:r>
            <a:r>
              <a:rPr lang="en-US" b="0" dirty="0" err="1">
                <a:solidFill>
                  <a:srgbClr val="CDD3DE"/>
                </a:solidFill>
                <a:effectLst/>
                <a:latin typeface="Menlo" panose="020B0609030804020204" pitchFamily="49" charset="0"/>
              </a:rPr>
              <a:t>xunit</a:t>
            </a:r>
            <a:r>
              <a:rPr lang="en-US" b="0" dirty="0">
                <a:solidFill>
                  <a:srgbClr val="CDD3DE"/>
                </a:solidFill>
                <a:effectLst/>
                <a:latin typeface="Menlo" panose="020B0609030804020204" pitchFamily="49" charset="0"/>
              </a:rPr>
              <a:t>. Each test container contains a tool that converts the </a:t>
            </a:r>
            <a:r>
              <a:rPr lang="en-US" b="0" dirty="0" err="1">
                <a:solidFill>
                  <a:srgbClr val="CDD3DE"/>
                </a:solidFill>
                <a:effectLst/>
                <a:latin typeface="Menlo" panose="020B0609030804020204" pitchFamily="49" charset="0"/>
              </a:rPr>
              <a:t>xunit</a:t>
            </a:r>
            <a:r>
              <a:rPr lang="en-US" b="0" dirty="0">
                <a:solidFill>
                  <a:srgbClr val="CDD3DE"/>
                </a:solidFill>
                <a:effectLst/>
                <a:latin typeface="Menlo" panose="020B0609030804020204" pitchFamily="49" charset="0"/>
              </a:rPr>
              <a:t> to a receipt with test count and sets the </a:t>
            </a:r>
            <a:r>
              <a:rPr lang="en-US" b="0" dirty="0" err="1">
                <a:solidFill>
                  <a:srgbClr val="CDD3DE"/>
                </a:solidFill>
                <a:effectLst/>
                <a:latin typeface="Menlo" panose="020B0609030804020204" pitchFamily="49" charset="0"/>
              </a:rPr>
              <a:t>multipass</a:t>
            </a:r>
            <a:r>
              <a:rPr lang="en-US" b="0" dirty="0">
                <a:solidFill>
                  <a:srgbClr val="CDD3DE"/>
                </a:solidFill>
                <a:effectLst/>
                <a:latin typeface="Menlo" panose="020B0609030804020204" pitchFamily="49" charset="0"/>
              </a:rPr>
              <a:t> for the receipt true or false based on results from the </a:t>
            </a:r>
            <a:r>
              <a:rPr lang="en-US" b="0" dirty="0" err="1">
                <a:solidFill>
                  <a:srgbClr val="CDD3DE"/>
                </a:solidFill>
                <a:effectLst/>
                <a:latin typeface="Menlo" panose="020B0609030804020204" pitchFamily="49" charset="0"/>
              </a:rPr>
              <a:t>xunit</a:t>
            </a:r>
            <a:r>
              <a:rPr lang="en-US" b="0" dirty="0">
                <a:solidFill>
                  <a:srgbClr val="CDD3DE"/>
                </a:solidFill>
                <a:effectLst/>
                <a:latin typeface="Menlo" panose="020B0609030804020204" pitchFamily="49" charset="0"/>
              </a:rPr>
              <a:t>. The tool posts the receipt to the test containers corresponding gate.</a:t>
            </a:r>
            <a:endParaRPr lang="en-US" b="0" dirty="0">
              <a:solidFill>
                <a:srgbClr val="C0C5CE"/>
              </a:solidFill>
              <a:effectLst/>
              <a:latin typeface="Menlo" panose="020B0609030804020204" pitchFamily="49" charset="0"/>
            </a:endParaRPr>
          </a:p>
          <a:p>
            <a:pPr marL="158750" indent="0">
              <a:buNone/>
            </a:pPr>
            <a:br>
              <a:rPr lang="en-US" b="0" dirty="0">
                <a:solidFill>
                  <a:srgbClr val="C0C5CE"/>
                </a:solidFill>
                <a:effectLst/>
                <a:latin typeface="Menlo" panose="020B0609030804020204" pitchFamily="49" charset="0"/>
              </a:rPr>
            </a:br>
            <a:r>
              <a:rPr lang="en-US" b="0" dirty="0">
                <a:solidFill>
                  <a:srgbClr val="CDD3DE"/>
                </a:solidFill>
                <a:effectLst/>
                <a:latin typeface="Menlo" panose="020B0609030804020204" pitchFamily="49" charset="0"/>
              </a:rPr>
              <a:t>Once all the tests have run and passed for a particular unit the stage around its test gates will emit a message to the </a:t>
            </a:r>
            <a:r>
              <a:rPr lang="en-US" b="0" dirty="0" err="1">
                <a:solidFill>
                  <a:srgbClr val="CDD3DE"/>
                </a:solidFill>
                <a:effectLst/>
                <a:latin typeface="Menlo" panose="020B0609030804020204" pitchFamily="49" charset="0"/>
              </a:rPr>
              <a:t>kafka</a:t>
            </a:r>
            <a:r>
              <a:rPr lang="en-US" b="0" dirty="0">
                <a:solidFill>
                  <a:srgbClr val="CDD3DE"/>
                </a:solidFill>
                <a:effectLst/>
                <a:latin typeface="Menlo" panose="020B0609030804020204" pitchFamily="49" charset="0"/>
              </a:rPr>
              <a:t> topic. We then have a watcher that catches that message and promotes the unit in Pulp to the next level. No humans just robots. This was great for non-destructive testing and not so great for destructive testing.</a:t>
            </a:r>
            <a:endParaRPr lang="en-US" b="0" dirty="0">
              <a:solidFill>
                <a:srgbClr val="C0C5CE"/>
              </a:solidFill>
              <a:effectLst/>
              <a:latin typeface="Menlo" panose="020B0609030804020204" pitchFamily="49" charset="0"/>
            </a:endParaRPr>
          </a:p>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
        <p:nvSpPr>
          <p:cNvPr id="76" name="Google Shape;7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26522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b="0" dirty="0">
                <a:solidFill>
                  <a:srgbClr val="78CCF0"/>
                </a:solidFill>
                <a:effectLst/>
                <a:latin typeface="Arial" panose="020B0604020202020204" pitchFamily="34" charset="0"/>
                <a:cs typeface="Arial" panose="020B0604020202020204" pitchFamily="34" charset="0"/>
              </a:rPr>
              <a:t>##</a:t>
            </a:r>
            <a:r>
              <a:rPr lang="en-US" b="0" dirty="0">
                <a:solidFill>
                  <a:srgbClr val="CDD3DE"/>
                </a:solidFill>
                <a:effectLst/>
                <a:latin typeface="Arial" panose="020B0604020202020204" pitchFamily="34" charset="0"/>
                <a:cs typeface="Arial" panose="020B0604020202020204" pitchFamily="34" charset="0"/>
              </a:rPr>
              <a:t> </a:t>
            </a:r>
            <a:r>
              <a:rPr lang="en-US" b="0" dirty="0">
                <a:solidFill>
                  <a:srgbClr val="78CCF0"/>
                </a:solidFill>
                <a:effectLst/>
                <a:latin typeface="Arial" panose="020B0604020202020204" pitchFamily="34" charset="0"/>
                <a:cs typeface="Arial" panose="020B0604020202020204" pitchFamily="34" charset="0"/>
              </a:rPr>
              <a:t>How did we incorporate destructive testing into the event-driven system?</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So we have this amazing event driven system driving our automated testing that promotes our units towards production. We have teams outside of this framework doing destructive testing. How do we incorporate testing outside the automated framework? </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I mean, we obviously couldn't put it in with the rest of the automation. You can't rip the database out from under the software while test containers are running.</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We set up the teams doing destructive testing outside of the automated framework with their own automation, usually kicked off by some event from the system. And then those teams create their own set gates that represent their destructive testing. As they run their destructive testing for an NVRPP (Name, Version, Release, Platform ID, Package), they post receipts to those gates with the results from the destructive tests.</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So what we ended up with is a test container that gets registered with the unit that we want to test and what it does during the automated testing cycle is it goes out and finds the gates that are outside of the testing framework, asks those gates for the receipts, and checks the results of all of them. And if all the </a:t>
            </a:r>
            <a:r>
              <a:rPr lang="en-US" b="0" dirty="0" err="1">
                <a:solidFill>
                  <a:srgbClr val="CDD3DE"/>
                </a:solidFill>
                <a:effectLst/>
                <a:latin typeface="Arial" panose="020B0604020202020204" pitchFamily="34" charset="0"/>
                <a:cs typeface="Arial" panose="020B0604020202020204" pitchFamily="34" charset="0"/>
              </a:rPr>
              <a:t>multipass</a:t>
            </a:r>
            <a:r>
              <a:rPr lang="en-US" b="0" dirty="0">
                <a:solidFill>
                  <a:srgbClr val="CDD3DE"/>
                </a:solidFill>
                <a:effectLst/>
                <a:latin typeface="Arial" panose="020B0604020202020204" pitchFamily="34" charset="0"/>
                <a:cs typeface="Arial" panose="020B0604020202020204" pitchFamily="34" charset="0"/>
              </a:rPr>
              <a:t> are true it creates a passing test and if they're not true, it creates a failing test, Then the other utility reads the </a:t>
            </a:r>
            <a:r>
              <a:rPr lang="en-US" b="0" dirty="0" err="1">
                <a:solidFill>
                  <a:srgbClr val="CDD3DE"/>
                </a:solidFill>
                <a:effectLst/>
                <a:latin typeface="Arial" panose="020B0604020202020204" pitchFamily="34" charset="0"/>
                <a:cs typeface="Arial" panose="020B0604020202020204" pitchFamily="34" charset="0"/>
              </a:rPr>
              <a:t>xunit</a:t>
            </a:r>
            <a:r>
              <a:rPr lang="en-US" b="0" dirty="0">
                <a:solidFill>
                  <a:srgbClr val="CDD3DE"/>
                </a:solidFill>
                <a:effectLst/>
                <a:latin typeface="Arial" panose="020B0604020202020204" pitchFamily="34" charset="0"/>
                <a:cs typeface="Arial" panose="020B0604020202020204" pitchFamily="34" charset="0"/>
              </a:rPr>
              <a:t> and posts the receipt just like all the other test containers.</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And now we have destructive testing outside of the framework incorporated without destroying the framework.</a:t>
            </a:r>
            <a:endParaRPr lang="en-US" b="0" dirty="0">
              <a:solidFill>
                <a:srgbClr val="C0C5CE"/>
              </a:solidFill>
              <a:effectLst/>
              <a:latin typeface="Arial" panose="020B0604020202020204" pitchFamily="34" charset="0"/>
              <a:cs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
        <p:nvSpPr>
          <p:cNvPr id="76" name="Google Shape;7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70164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b="0" dirty="0">
                <a:solidFill>
                  <a:srgbClr val="78CCF0"/>
                </a:solidFill>
                <a:effectLst/>
                <a:latin typeface="Arial" panose="020B0604020202020204" pitchFamily="34" charset="0"/>
                <a:cs typeface="Arial" panose="020B0604020202020204" pitchFamily="34" charset="0"/>
              </a:rPr>
              <a:t>##</a:t>
            </a:r>
            <a:r>
              <a:rPr lang="en-US" b="0" dirty="0">
                <a:solidFill>
                  <a:srgbClr val="CDD3DE"/>
                </a:solidFill>
                <a:effectLst/>
                <a:latin typeface="Arial" panose="020B0604020202020204" pitchFamily="34" charset="0"/>
                <a:cs typeface="Arial" panose="020B0604020202020204" pitchFamily="34" charset="0"/>
              </a:rPr>
              <a:t> </a:t>
            </a:r>
            <a:r>
              <a:rPr lang="en-US" b="0" dirty="0">
                <a:solidFill>
                  <a:srgbClr val="78CCF0"/>
                </a:solidFill>
                <a:effectLst/>
                <a:latin typeface="Arial" panose="020B0604020202020204" pitchFamily="34" charset="0"/>
                <a:cs typeface="Arial" panose="020B0604020202020204" pitchFamily="34" charset="0"/>
              </a:rPr>
              <a:t>How did we take this one step farther?</a:t>
            </a:r>
          </a:p>
          <a:p>
            <a:pPr marL="158750" indent="0">
              <a:buNone/>
            </a:pPr>
            <a:endParaRPr lang="en-US" b="0" dirty="0">
              <a:solidFill>
                <a:srgbClr val="78CCF0"/>
              </a:solidFill>
              <a:effectLst/>
              <a:latin typeface="Arial" panose="020B0604020202020204" pitchFamily="34" charset="0"/>
              <a:cs typeface="Arial" panose="020B0604020202020204" pitchFamily="34" charset="0"/>
            </a:endParaRPr>
          </a:p>
          <a:p>
            <a:pPr marL="158750" indent="0">
              <a:buNone/>
            </a:pPr>
            <a:r>
              <a:rPr lang="en-US" b="0" dirty="0" err="1">
                <a:solidFill>
                  <a:srgbClr val="78CCF0"/>
                </a:solidFill>
                <a:effectLst/>
                <a:latin typeface="Arial" panose="020B0604020202020204" pitchFamily="34" charset="0"/>
                <a:cs typeface="Arial" panose="020B0604020202020204" pitchFamily="34" charset="0"/>
              </a:rPr>
              <a:t>DevSecOps</a:t>
            </a:r>
            <a:r>
              <a:rPr lang="en-US" b="0" dirty="0">
                <a:solidFill>
                  <a:srgbClr val="78CCF0"/>
                </a:solidFill>
                <a:effectLst/>
                <a:latin typeface="Arial" panose="020B0604020202020204" pitchFamily="34" charset="0"/>
                <a:cs typeface="Arial" panose="020B0604020202020204" pitchFamily="34" charset="0"/>
              </a:rPr>
              <a:t> story </a:t>
            </a:r>
            <a:r>
              <a:rPr lang="en-US" b="0">
                <a:solidFill>
                  <a:srgbClr val="78CCF0"/>
                </a:solidFill>
                <a:effectLst/>
                <a:latin typeface="Arial" panose="020B0604020202020204" pitchFamily="34" charset="0"/>
                <a:cs typeface="Arial" panose="020B0604020202020204" pitchFamily="34" charset="0"/>
              </a:rPr>
              <a:t>for another day.</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So now we get into the </a:t>
            </a:r>
            <a:r>
              <a:rPr lang="en-US" b="0" dirty="0" err="1">
                <a:solidFill>
                  <a:srgbClr val="CDD3DE"/>
                </a:solidFill>
                <a:effectLst/>
                <a:latin typeface="Arial" panose="020B0604020202020204" pitchFamily="34" charset="0"/>
                <a:cs typeface="Arial" panose="020B0604020202020204" pitchFamily="34" charset="0"/>
              </a:rPr>
              <a:t>DevSecOps</a:t>
            </a:r>
            <a:r>
              <a:rPr lang="en-US" b="0" dirty="0">
                <a:solidFill>
                  <a:srgbClr val="CDD3DE"/>
                </a:solidFill>
                <a:effectLst/>
                <a:latin typeface="Arial" panose="020B0604020202020204" pitchFamily="34" charset="0"/>
                <a:cs typeface="Arial" panose="020B0604020202020204" pitchFamily="34" charset="0"/>
              </a:rPr>
              <a:t> workflows. Now that we know how to get stuff outside of the pipeline into the pipeline, we decided that we were going to automate all of our security scans and create receipts for them as we go.</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We went one step further after we run the security scan, we audit the scan and if the results do not meet the criteria for a clean scan we fail the receipt.</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We have a Jira watcher that is watching the security tickets and when the issue is remediated and the the JIRA ticket closed, we post a receipt to the gate that says hey, we did our due diligence, it is now fixed. We are doing this for SAST, SCA, and OCI image scans.</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We haven't turned this on as a gating feature yet, but it will be a gating feature in the future.</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When gating is enabled we will create test containers in the automation framework that go and check the security gates and ask for passing receipts for the units.</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So that's kind of how we're working through all that.</a:t>
            </a:r>
            <a:endParaRPr lang="en-US" b="0" dirty="0">
              <a:solidFill>
                <a:srgbClr val="C0C5CE"/>
              </a:solidFill>
              <a:effectLst/>
              <a:latin typeface="Arial" panose="020B0604020202020204" pitchFamily="34" charset="0"/>
              <a:cs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
        <p:nvSpPr>
          <p:cNvPr id="76" name="Google Shape;7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2723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b="0" dirty="0">
                <a:solidFill>
                  <a:srgbClr val="78CCF0"/>
                </a:solidFill>
                <a:effectLst/>
                <a:latin typeface="Arial" panose="020B0604020202020204" pitchFamily="34" charset="0"/>
                <a:cs typeface="Arial" panose="020B0604020202020204" pitchFamily="34" charset="0"/>
              </a:rPr>
              <a:t>##</a:t>
            </a:r>
            <a:r>
              <a:rPr lang="en-US" b="0" dirty="0">
                <a:solidFill>
                  <a:srgbClr val="CDD3DE"/>
                </a:solidFill>
                <a:effectLst/>
                <a:latin typeface="Arial" panose="020B0604020202020204" pitchFamily="34" charset="0"/>
                <a:cs typeface="Arial" panose="020B0604020202020204" pitchFamily="34" charset="0"/>
              </a:rPr>
              <a:t> </a:t>
            </a:r>
            <a:r>
              <a:rPr lang="en-US" b="0" dirty="0">
                <a:solidFill>
                  <a:srgbClr val="78CCF0"/>
                </a:solidFill>
                <a:effectLst/>
                <a:latin typeface="Arial" panose="020B0604020202020204" pitchFamily="34" charset="0"/>
                <a:cs typeface="Arial" panose="020B0604020202020204" pitchFamily="34" charset="0"/>
              </a:rPr>
              <a:t>Lessons Learned</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78CCF0"/>
                </a:solidFill>
                <a:effectLst/>
                <a:latin typeface="Arial" panose="020B0604020202020204" pitchFamily="34" charset="0"/>
                <a:cs typeface="Arial" panose="020B0604020202020204" pitchFamily="34" charset="0"/>
              </a:rPr>
              <a:t>###</a:t>
            </a:r>
            <a:r>
              <a:rPr lang="en-US" b="0" dirty="0">
                <a:solidFill>
                  <a:srgbClr val="CDD3DE"/>
                </a:solidFill>
                <a:effectLst/>
                <a:latin typeface="Arial" panose="020B0604020202020204" pitchFamily="34" charset="0"/>
                <a:cs typeface="Arial" panose="020B0604020202020204" pitchFamily="34" charset="0"/>
              </a:rPr>
              <a:t> </a:t>
            </a:r>
            <a:r>
              <a:rPr lang="en-US" b="0" dirty="0">
                <a:solidFill>
                  <a:srgbClr val="78CCF0"/>
                </a:solidFill>
                <a:effectLst/>
                <a:latin typeface="Arial" panose="020B0604020202020204" pitchFamily="34" charset="0"/>
                <a:cs typeface="Arial" panose="020B0604020202020204" pitchFamily="34" charset="0"/>
              </a:rPr>
              <a:t>Observability</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Event Driven Asynchronous Systems are really awesome.</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Event Driven Asynchronous Systems have a huge observability challenge. Think about debugging tools and observability early process. A lot of teams will have no idea how to debug event driven pipeline issues. Write tracing tools early and make them easy to understand.</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We found ourselves constantly writing chunks of Python And Go to figure out what's going on, and then those ended up becoming tools.</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We built a UI that could leverage the Gatekeeper </a:t>
            </a:r>
            <a:r>
              <a:rPr lang="en-US" b="0" dirty="0" err="1">
                <a:solidFill>
                  <a:srgbClr val="CDD3DE"/>
                </a:solidFill>
                <a:effectLst/>
                <a:latin typeface="Arial" panose="020B0604020202020204" pitchFamily="34" charset="0"/>
                <a:cs typeface="Arial" panose="020B0604020202020204" pitchFamily="34" charset="0"/>
              </a:rPr>
              <a:t>GraphQL</a:t>
            </a:r>
            <a:r>
              <a:rPr lang="en-US" b="0" dirty="0">
                <a:solidFill>
                  <a:srgbClr val="CDD3DE"/>
                </a:solidFill>
                <a:effectLst/>
                <a:latin typeface="Arial" panose="020B0604020202020204" pitchFamily="34" charset="0"/>
                <a:cs typeface="Arial" panose="020B0604020202020204" pitchFamily="34" charset="0"/>
              </a:rPr>
              <a:t> API. It is great if you know what you are looking for. If you didn't know what you're looking for, you couldn't find it to save your life. So we had to augment it with a service that could discover gates and stages and decipher the business logic.</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78CCF0"/>
                </a:solidFill>
                <a:effectLst/>
                <a:latin typeface="Arial" panose="020B0604020202020204" pitchFamily="34" charset="0"/>
                <a:cs typeface="Arial" panose="020B0604020202020204" pitchFamily="34" charset="0"/>
              </a:rPr>
              <a:t>###</a:t>
            </a:r>
            <a:r>
              <a:rPr lang="en-US" b="0" dirty="0">
                <a:solidFill>
                  <a:srgbClr val="CDD3DE"/>
                </a:solidFill>
                <a:effectLst/>
                <a:latin typeface="Arial" panose="020B0604020202020204" pitchFamily="34" charset="0"/>
                <a:cs typeface="Arial" panose="020B0604020202020204" pitchFamily="34" charset="0"/>
              </a:rPr>
              <a:t> </a:t>
            </a:r>
            <a:r>
              <a:rPr lang="en-US" b="0" dirty="0">
                <a:solidFill>
                  <a:srgbClr val="78CCF0"/>
                </a:solidFill>
                <a:effectLst/>
                <a:latin typeface="Arial" panose="020B0604020202020204" pitchFamily="34" charset="0"/>
                <a:cs typeface="Arial" panose="020B0604020202020204" pitchFamily="34" charset="0"/>
              </a:rPr>
              <a:t>JSON Schema</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If you use JSON for anything write a schema for it and validate it against the schema. I was pretty adamant about this throughout the project and it served us well. One example was when you create a gate you can pass in a JSON schema for the custom section of the payload. Any receipt posted to the gate must pass full schema validation including the Cloud Event envelope, the CNAB payload, and the custom section in the CNAB. It helped eliminate the bad receipts. It did not help with spoofed receipts.</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78CCF0"/>
                </a:solidFill>
                <a:effectLst/>
                <a:latin typeface="Arial" panose="020B0604020202020204" pitchFamily="34" charset="0"/>
                <a:cs typeface="Arial" panose="020B0604020202020204" pitchFamily="34" charset="0"/>
              </a:rPr>
              <a:t>###</a:t>
            </a:r>
            <a:r>
              <a:rPr lang="en-US" b="0" dirty="0">
                <a:solidFill>
                  <a:srgbClr val="CDD3DE"/>
                </a:solidFill>
                <a:effectLst/>
                <a:latin typeface="Arial" panose="020B0604020202020204" pitchFamily="34" charset="0"/>
                <a:cs typeface="Arial" panose="020B0604020202020204" pitchFamily="34" charset="0"/>
              </a:rPr>
              <a:t> </a:t>
            </a:r>
            <a:r>
              <a:rPr lang="en-US" b="0" dirty="0" err="1">
                <a:solidFill>
                  <a:srgbClr val="78CCF0"/>
                </a:solidFill>
                <a:effectLst/>
                <a:latin typeface="Arial" panose="020B0604020202020204" pitchFamily="34" charset="0"/>
                <a:cs typeface="Arial" panose="020B0604020202020204" pitchFamily="34" charset="0"/>
              </a:rPr>
              <a:t>Xunit</a:t>
            </a:r>
            <a:r>
              <a:rPr lang="en-US" b="0" dirty="0">
                <a:solidFill>
                  <a:srgbClr val="78CCF0"/>
                </a:solidFill>
                <a:effectLst/>
                <a:latin typeface="Arial" panose="020B0604020202020204" pitchFamily="34" charset="0"/>
                <a:cs typeface="Arial" panose="020B0604020202020204" pitchFamily="34" charset="0"/>
              </a:rPr>
              <a:t> Schema</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If you use </a:t>
            </a:r>
            <a:r>
              <a:rPr lang="en-US" b="0" dirty="0" err="1">
                <a:solidFill>
                  <a:srgbClr val="CDD3DE"/>
                </a:solidFill>
                <a:effectLst/>
                <a:latin typeface="Arial" panose="020B0604020202020204" pitchFamily="34" charset="0"/>
                <a:cs typeface="Arial" panose="020B0604020202020204" pitchFamily="34" charset="0"/>
              </a:rPr>
              <a:t>Xunit</a:t>
            </a:r>
            <a:r>
              <a:rPr lang="en-US" b="0" dirty="0">
                <a:solidFill>
                  <a:srgbClr val="CDD3DE"/>
                </a:solidFill>
                <a:effectLst/>
                <a:latin typeface="Arial" panose="020B0604020202020204" pitchFamily="34" charset="0"/>
                <a:cs typeface="Arial" panose="020B0604020202020204" pitchFamily="34" charset="0"/>
              </a:rPr>
              <a:t> for anything write a schema for it and validate it against the schema. Sound familiar? Since we have a tool that converts </a:t>
            </a:r>
            <a:r>
              <a:rPr lang="en-US" b="0" dirty="0" err="1">
                <a:solidFill>
                  <a:srgbClr val="CDD3DE"/>
                </a:solidFill>
                <a:effectLst/>
                <a:latin typeface="Arial" panose="020B0604020202020204" pitchFamily="34" charset="0"/>
                <a:cs typeface="Arial" panose="020B0604020202020204" pitchFamily="34" charset="0"/>
              </a:rPr>
              <a:t>Xunit</a:t>
            </a:r>
            <a:r>
              <a:rPr lang="en-US" b="0" dirty="0">
                <a:solidFill>
                  <a:srgbClr val="CDD3DE"/>
                </a:solidFill>
                <a:effectLst/>
                <a:latin typeface="Arial" panose="020B0604020202020204" pitchFamily="34" charset="0"/>
                <a:cs typeface="Arial" panose="020B0604020202020204" pitchFamily="34" charset="0"/>
              </a:rPr>
              <a:t> to a receipt we need the </a:t>
            </a:r>
            <a:r>
              <a:rPr lang="en-US" b="0" dirty="0" err="1">
                <a:solidFill>
                  <a:srgbClr val="CDD3DE"/>
                </a:solidFill>
                <a:effectLst/>
                <a:latin typeface="Arial" panose="020B0604020202020204" pitchFamily="34" charset="0"/>
                <a:cs typeface="Arial" panose="020B0604020202020204" pitchFamily="34" charset="0"/>
              </a:rPr>
              <a:t>xunit</a:t>
            </a:r>
            <a:r>
              <a:rPr lang="en-US" b="0" dirty="0">
                <a:solidFill>
                  <a:srgbClr val="CDD3DE"/>
                </a:solidFill>
                <a:effectLst/>
                <a:latin typeface="Arial" panose="020B0604020202020204" pitchFamily="34" charset="0"/>
                <a:cs typeface="Arial" panose="020B0604020202020204" pitchFamily="34" charset="0"/>
              </a:rPr>
              <a:t> to be valid for a few reasons. One so the conversion works. Second so the data in the receipts is accurate. Sometimes the </a:t>
            </a:r>
            <a:r>
              <a:rPr lang="en-US" b="0" dirty="0" err="1">
                <a:solidFill>
                  <a:srgbClr val="CDD3DE"/>
                </a:solidFill>
                <a:effectLst/>
                <a:latin typeface="Arial" panose="020B0604020202020204" pitchFamily="34" charset="0"/>
                <a:cs typeface="Arial" panose="020B0604020202020204" pitchFamily="34" charset="0"/>
              </a:rPr>
              <a:t>xunit</a:t>
            </a:r>
            <a:r>
              <a:rPr lang="en-US" b="0" dirty="0">
                <a:solidFill>
                  <a:srgbClr val="CDD3DE"/>
                </a:solidFill>
                <a:effectLst/>
                <a:latin typeface="Arial" panose="020B0604020202020204" pitchFamily="34" charset="0"/>
                <a:cs typeface="Arial" panose="020B0604020202020204" pitchFamily="34" charset="0"/>
              </a:rPr>
              <a:t> would skip giving us a final test count and when we were process the data outside the event framework we would end up with negative test counts.</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78CCF0"/>
                </a:solidFill>
                <a:effectLst/>
                <a:latin typeface="Arial" panose="020B0604020202020204" pitchFamily="34" charset="0"/>
                <a:cs typeface="Arial" panose="020B0604020202020204" pitchFamily="34" charset="0"/>
              </a:rPr>
              <a:t>###</a:t>
            </a:r>
            <a:r>
              <a:rPr lang="en-US" b="0" dirty="0">
                <a:solidFill>
                  <a:srgbClr val="CDD3DE"/>
                </a:solidFill>
                <a:effectLst/>
                <a:latin typeface="Arial" panose="020B0604020202020204" pitchFamily="34" charset="0"/>
                <a:cs typeface="Arial" panose="020B0604020202020204" pitchFamily="34" charset="0"/>
              </a:rPr>
              <a:t> </a:t>
            </a:r>
            <a:r>
              <a:rPr lang="en-US" b="0" dirty="0">
                <a:solidFill>
                  <a:srgbClr val="78CCF0"/>
                </a:solidFill>
                <a:effectLst/>
                <a:latin typeface="Arial" panose="020B0604020202020204" pitchFamily="34" charset="0"/>
                <a:cs typeface="Arial" panose="020B0604020202020204" pitchFamily="34" charset="0"/>
              </a:rPr>
              <a:t>Authentication (OIDC)</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When we originally started we planned to implement authentication.</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And we started to write an ACL system for the Gatekeeper.</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As we designed it we realized we would never finish this and hit our goal release dates.</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So we decided to go with the token base authentication and while it worked well enough.</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And we could tell who posted what based on the token.</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If you give a developer a token, they check it into a git repo and now everybody's got the token.</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Last year we added OIDC authentication to all the endpoints in the system.</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It made a big difference. We should have done it from the beginning.</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Always do security first, right?</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78CCF0"/>
                </a:solidFill>
                <a:effectLst/>
                <a:latin typeface="Arial" panose="020B0604020202020204" pitchFamily="34" charset="0"/>
                <a:cs typeface="Arial" panose="020B0604020202020204" pitchFamily="34" charset="0"/>
              </a:rPr>
              <a:t>###</a:t>
            </a:r>
            <a:r>
              <a:rPr lang="en-US" b="0" dirty="0">
                <a:solidFill>
                  <a:srgbClr val="CDD3DE"/>
                </a:solidFill>
                <a:effectLst/>
                <a:latin typeface="Arial" panose="020B0604020202020204" pitchFamily="34" charset="0"/>
                <a:cs typeface="Arial" panose="020B0604020202020204" pitchFamily="34" charset="0"/>
              </a:rPr>
              <a:t> </a:t>
            </a:r>
            <a:r>
              <a:rPr lang="en-US" b="0" dirty="0">
                <a:solidFill>
                  <a:srgbClr val="78CCF0"/>
                </a:solidFill>
                <a:effectLst/>
                <a:latin typeface="Arial" panose="020B0604020202020204" pitchFamily="34" charset="0"/>
                <a:cs typeface="Arial" panose="020B0604020202020204" pitchFamily="34" charset="0"/>
              </a:rPr>
              <a:t>Guardrails</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Guard Rails. They are cool. We should have built some in from the beginning. You don't know what you don't know.</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Basically, we had a box of Legos with no instructions. If you give </a:t>
            </a:r>
            <a:r>
              <a:rPr lang="en-US" b="0" dirty="0" err="1">
                <a:solidFill>
                  <a:srgbClr val="CDD3DE"/>
                </a:solidFill>
                <a:effectLst/>
                <a:latin typeface="Arial" panose="020B0604020202020204" pitchFamily="34" charset="0"/>
                <a:cs typeface="Arial" panose="020B0604020202020204" pitchFamily="34" charset="0"/>
              </a:rPr>
              <a:t>devs</a:t>
            </a:r>
            <a:r>
              <a:rPr lang="en-US" b="0" dirty="0">
                <a:solidFill>
                  <a:srgbClr val="CDD3DE"/>
                </a:solidFill>
                <a:effectLst/>
                <a:latin typeface="Arial" panose="020B0604020202020204" pitchFamily="34" charset="0"/>
                <a:cs typeface="Arial" panose="020B0604020202020204" pitchFamily="34" charset="0"/>
              </a:rPr>
              <a:t> a box of Legos, it doesn't mean they're </a:t>
            </a:r>
            <a:r>
              <a:rPr lang="en-US" b="0" dirty="0" err="1">
                <a:solidFill>
                  <a:srgbClr val="CDD3DE"/>
                </a:solidFill>
                <a:effectLst/>
                <a:latin typeface="Arial" panose="020B0604020202020204" pitchFamily="34" charset="0"/>
                <a:cs typeface="Arial" panose="020B0604020202020204" pitchFamily="34" charset="0"/>
              </a:rPr>
              <a:t>gonna</a:t>
            </a:r>
            <a:r>
              <a:rPr lang="en-US" b="0" dirty="0">
                <a:solidFill>
                  <a:srgbClr val="CDD3DE"/>
                </a:solidFill>
                <a:effectLst/>
                <a:latin typeface="Arial" panose="020B0604020202020204" pitchFamily="34" charset="0"/>
                <a:cs typeface="Arial" panose="020B0604020202020204" pitchFamily="34" charset="0"/>
              </a:rPr>
              <a:t> build something cool.</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78CCF0"/>
                </a:solidFill>
                <a:effectLst/>
                <a:latin typeface="Arial" panose="020B0604020202020204" pitchFamily="34" charset="0"/>
                <a:cs typeface="Arial" panose="020B0604020202020204" pitchFamily="34" charset="0"/>
              </a:rPr>
              <a:t>####</a:t>
            </a:r>
            <a:r>
              <a:rPr lang="en-US" b="0" dirty="0">
                <a:solidFill>
                  <a:srgbClr val="CDD3DE"/>
                </a:solidFill>
                <a:effectLst/>
                <a:latin typeface="Arial" panose="020B0604020202020204" pitchFamily="34" charset="0"/>
                <a:cs typeface="Arial" panose="020B0604020202020204" pitchFamily="34" charset="0"/>
              </a:rPr>
              <a:t> </a:t>
            </a:r>
            <a:r>
              <a:rPr lang="en-US" b="0" dirty="0">
                <a:solidFill>
                  <a:srgbClr val="78CCF0"/>
                </a:solidFill>
                <a:effectLst/>
                <a:latin typeface="Arial" panose="020B0604020202020204" pitchFamily="34" charset="0"/>
                <a:cs typeface="Arial" panose="020B0604020202020204" pitchFamily="34" charset="0"/>
              </a:rPr>
              <a:t>Event Message Size</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Limit message size. At the time the default message size for Kafka out of the box was 1mb. We had a dev learning the system trigger his watcher on the same action as the watchers gate so it basically fork bombed itself into oblivion. We ended up with a 97mb receipt. We then decided to limit receipt size to 1mb and move large data to some other appropriate storage. Then we add the URI to the data in the receipt.</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The fun </a:t>
            </a:r>
            <a:r>
              <a:rPr lang="en-US" b="0" dirty="0" err="1">
                <a:solidFill>
                  <a:srgbClr val="CDD3DE"/>
                </a:solidFill>
                <a:effectLst/>
                <a:latin typeface="Arial" panose="020B0604020202020204" pitchFamily="34" charset="0"/>
                <a:cs typeface="Arial" panose="020B0604020202020204" pitchFamily="34" charset="0"/>
              </a:rPr>
              <a:t>forkbomb</a:t>
            </a:r>
            <a:r>
              <a:rPr lang="en-US" b="0" dirty="0">
                <a:solidFill>
                  <a:srgbClr val="CDD3DE"/>
                </a:solidFill>
                <a:effectLst/>
                <a:latin typeface="Arial" panose="020B0604020202020204" pitchFamily="34" charset="0"/>
                <a:cs typeface="Arial" panose="020B0604020202020204" pitchFamily="34" charset="0"/>
              </a:rPr>
              <a:t> incident prompted us to go into the watchers and put a check so you couldn't watch for the event created by the gate that the watcher was posting its receipts to.</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78CCF0"/>
                </a:solidFill>
                <a:effectLst/>
                <a:latin typeface="Arial" panose="020B0604020202020204" pitchFamily="34" charset="0"/>
                <a:cs typeface="Arial" panose="020B0604020202020204" pitchFamily="34" charset="0"/>
              </a:rPr>
              <a:t>####</a:t>
            </a:r>
            <a:r>
              <a:rPr lang="en-US" b="0" dirty="0">
                <a:solidFill>
                  <a:srgbClr val="CDD3DE"/>
                </a:solidFill>
                <a:effectLst/>
                <a:latin typeface="Arial" panose="020B0604020202020204" pitchFamily="34" charset="0"/>
                <a:cs typeface="Arial" panose="020B0604020202020204" pitchFamily="34" charset="0"/>
              </a:rPr>
              <a:t> </a:t>
            </a:r>
            <a:r>
              <a:rPr lang="en-US" b="0" dirty="0">
                <a:solidFill>
                  <a:srgbClr val="78CCF0"/>
                </a:solidFill>
                <a:effectLst/>
                <a:latin typeface="Arial" panose="020B0604020202020204" pitchFamily="34" charset="0"/>
                <a:cs typeface="Arial" panose="020B0604020202020204" pitchFamily="34" charset="0"/>
              </a:rPr>
              <a:t>Rate Limiting</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Kafka Consumer Groups are great. They keep track of the last message read so if a service drops off it can pick up where it left off. So our promotion watcher went down on a Saturday morning during a maintenance window. The automated testing framework did not and it was running along with no issues. While our promotion service was down the promotion events piled up into the thousands. We came in Monday morning saw the issue with the promotion service and decided that we would just start it back up and let it plow through the events it missed. The promotion watcher has no rate limiting. It just screamed through the thousands of events flooding the downstream services with requests. Eventually it started knocking things over and we had to shut it down. Rate Limiting.</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78CCF0"/>
                </a:solidFill>
                <a:effectLst/>
                <a:latin typeface="Arial" panose="020B0604020202020204" pitchFamily="34" charset="0"/>
                <a:cs typeface="Arial" panose="020B0604020202020204" pitchFamily="34" charset="0"/>
              </a:rPr>
              <a:t>####</a:t>
            </a:r>
            <a:r>
              <a:rPr lang="en-US" b="0" dirty="0">
                <a:solidFill>
                  <a:srgbClr val="CDD3DE"/>
                </a:solidFill>
                <a:effectLst/>
                <a:latin typeface="Arial" panose="020B0604020202020204" pitchFamily="34" charset="0"/>
                <a:cs typeface="Arial" panose="020B0604020202020204" pitchFamily="34" charset="0"/>
              </a:rPr>
              <a:t> </a:t>
            </a:r>
            <a:r>
              <a:rPr lang="en-US" b="0" dirty="0">
                <a:solidFill>
                  <a:srgbClr val="78CCF0"/>
                </a:solidFill>
                <a:effectLst/>
                <a:latin typeface="Arial" panose="020B0604020202020204" pitchFamily="34" charset="0"/>
                <a:cs typeface="Arial" panose="020B0604020202020204" pitchFamily="34" charset="0"/>
              </a:rPr>
              <a:t>Sanitize Inputs</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In the first month we had a dev try to base64 encode a binary into a receipt... give a dev a database and they try to make it into a blob store. Make sure you sanitize the inputs. The system is very much a "garbage in garbage out" paradigm. Make sure your inputs are as good as your output.</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Guardrails.</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We should have guardrails.</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78CCF0"/>
                </a:solidFill>
                <a:effectLst/>
                <a:latin typeface="Arial" panose="020B0604020202020204" pitchFamily="34" charset="0"/>
                <a:cs typeface="Arial" panose="020B0604020202020204" pitchFamily="34" charset="0"/>
              </a:rPr>
              <a:t>###</a:t>
            </a:r>
            <a:r>
              <a:rPr lang="en-US" b="0" dirty="0">
                <a:solidFill>
                  <a:srgbClr val="CDD3DE"/>
                </a:solidFill>
                <a:effectLst/>
                <a:latin typeface="Arial" panose="020B0604020202020204" pitchFamily="34" charset="0"/>
                <a:cs typeface="Arial" panose="020B0604020202020204" pitchFamily="34" charset="0"/>
              </a:rPr>
              <a:t> </a:t>
            </a:r>
            <a:r>
              <a:rPr lang="en-US" b="0" dirty="0">
                <a:solidFill>
                  <a:srgbClr val="78CCF0"/>
                </a:solidFill>
                <a:effectLst/>
                <a:latin typeface="Arial" panose="020B0604020202020204" pitchFamily="34" charset="0"/>
                <a:cs typeface="Arial" panose="020B0604020202020204" pitchFamily="34" charset="0"/>
              </a:rPr>
              <a:t>Watcher SDK</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And that leads to "We should have written a Watcher SDK".</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When we started we didn't think we're </a:t>
            </a:r>
            <a:r>
              <a:rPr lang="en-US" b="0" dirty="0" err="1">
                <a:solidFill>
                  <a:srgbClr val="CDD3DE"/>
                </a:solidFill>
                <a:effectLst/>
                <a:latin typeface="Arial" panose="020B0604020202020204" pitchFamily="34" charset="0"/>
                <a:cs typeface="Arial" panose="020B0604020202020204" pitchFamily="34" charset="0"/>
              </a:rPr>
              <a:t>gonna</a:t>
            </a:r>
            <a:r>
              <a:rPr lang="en-US" b="0" dirty="0">
                <a:solidFill>
                  <a:srgbClr val="CDD3DE"/>
                </a:solidFill>
                <a:effectLst/>
                <a:latin typeface="Arial" panose="020B0604020202020204" pitchFamily="34" charset="0"/>
                <a:cs typeface="Arial" panose="020B0604020202020204" pitchFamily="34" charset="0"/>
              </a:rPr>
              <a:t> have that many watchers.</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So we ended up with a basically example watcher that you could fire up for demo purposes but didn't do anything.</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We added a script to change the names. So if you need to create a new watcher, you downloaded this thing, you ran the script, and boom, you have a new watcher.</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While we do have a library that we keep up to date that most watchers use, if we have written the Watcher SDK and made it really easy for the end users to just put the functions they needed in the task section of the Watcher, we could have kept the watchers up-to-date easier.</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78CCF0"/>
                </a:solidFill>
                <a:effectLst/>
                <a:latin typeface="Arial" panose="020B0604020202020204" pitchFamily="34" charset="0"/>
                <a:cs typeface="Arial" panose="020B0604020202020204" pitchFamily="34" charset="0"/>
              </a:rPr>
              <a:t>###</a:t>
            </a:r>
            <a:r>
              <a:rPr lang="en-US" b="0" dirty="0">
                <a:solidFill>
                  <a:srgbClr val="CDD3DE"/>
                </a:solidFill>
                <a:effectLst/>
                <a:latin typeface="Arial" panose="020B0604020202020204" pitchFamily="34" charset="0"/>
                <a:cs typeface="Arial" panose="020B0604020202020204" pitchFamily="34" charset="0"/>
              </a:rPr>
              <a:t> </a:t>
            </a:r>
            <a:r>
              <a:rPr lang="en-US" b="0" dirty="0">
                <a:solidFill>
                  <a:srgbClr val="78CCF0"/>
                </a:solidFill>
                <a:effectLst/>
                <a:latin typeface="Arial" panose="020B0604020202020204" pitchFamily="34" charset="0"/>
                <a:cs typeface="Arial" panose="020B0604020202020204" pitchFamily="34" charset="0"/>
              </a:rPr>
              <a:t>CNAB</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CNAB I wanted to use specs so I didn't have to write one and at the time CNAB seemed like a good choice at the time. The plan was to use the CNAB tooling to replay the Receipt if we needed to reproduce an action. That didn't go as planned.</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There's a bunch of tooling around it and I was excited it. I was excited to use the CNAB and the CNAB tooling to replay my events. And I don't have to write new tooling. Tooling wasn't finished or polished. I was hoping to contribute upstream and some other stuff and we just didn't get around to it.</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Not many people understood that part of the system as I intended it to work.</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It is hard enough to understand the fact that it was event-driven, asynchronous, it had receipts, gates, and stages, so the intent of the CNAB kind of fell on the floor.</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We proved out it would work during the POC, it never really was adopted well.</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And so now I'm stuck with it until we do a rewrite.</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190136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0" dirty="0">
                <a:solidFill>
                  <a:srgbClr val="78CCF0"/>
                </a:solidFill>
                <a:effectLst/>
                <a:latin typeface="Menlo" panose="020B0609030804020204" pitchFamily="49" charset="0"/>
              </a:rPr>
              <a:t>##</a:t>
            </a:r>
            <a:r>
              <a:rPr lang="en-US" b="0" dirty="0">
                <a:solidFill>
                  <a:srgbClr val="CDD3DE"/>
                </a:solidFill>
                <a:effectLst/>
                <a:latin typeface="Menlo" panose="020B0609030804020204" pitchFamily="49" charset="0"/>
              </a:rPr>
              <a:t> </a:t>
            </a:r>
            <a:r>
              <a:rPr lang="en-US" b="0" dirty="0">
                <a:solidFill>
                  <a:srgbClr val="78CCF0"/>
                </a:solidFill>
                <a:effectLst/>
                <a:latin typeface="Menlo" panose="020B0609030804020204" pitchFamily="49" charset="0"/>
              </a:rPr>
              <a:t>Things I wish I had done</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So, a couple other things that I wish I had done so.</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Cryptographically signed the receipts.</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Had we cryptographically signed the receipts, then I would be almost done with my SLSA provenance.</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I wish we could build an RBAC role-based access control (RBAC) service for the complete pipeline, not just the event driven system, that we could use to control access to all parts of the pipeline based on roles.</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I wish we prioritized observability from the beginning.</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endParaRPr dirty="0">
              <a:latin typeface="Arial" panose="020B0604020202020204" pitchFamily="34" charset="0"/>
              <a:cs typeface="Arial" panose="020B0604020202020204" pitchFamily="34" charset="0"/>
            </a:endParaRPr>
          </a:p>
        </p:txBody>
      </p:sp>
      <p:sp>
        <p:nvSpPr>
          <p:cNvPr id="76" name="Google Shape;7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31362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b="0" dirty="0">
                <a:solidFill>
                  <a:srgbClr val="78CCF0"/>
                </a:solidFill>
                <a:effectLst/>
                <a:latin typeface="Arial" panose="020B0604020202020204" pitchFamily="34" charset="0"/>
                <a:cs typeface="Arial" panose="020B0604020202020204" pitchFamily="34" charset="0"/>
              </a:rPr>
              <a:t>##</a:t>
            </a:r>
            <a:r>
              <a:rPr lang="en-US" b="0" dirty="0">
                <a:solidFill>
                  <a:srgbClr val="CDD3DE"/>
                </a:solidFill>
                <a:effectLst/>
                <a:latin typeface="Arial" panose="020B0604020202020204" pitchFamily="34" charset="0"/>
                <a:cs typeface="Arial" panose="020B0604020202020204" pitchFamily="34" charset="0"/>
              </a:rPr>
              <a:t> </a:t>
            </a:r>
            <a:r>
              <a:rPr lang="en-US" b="0" dirty="0">
                <a:solidFill>
                  <a:srgbClr val="78CCF0"/>
                </a:solidFill>
                <a:effectLst/>
                <a:latin typeface="Arial" panose="020B0604020202020204" pitchFamily="34" charset="0"/>
                <a:cs typeface="Arial" panose="020B0604020202020204" pitchFamily="34" charset="0"/>
              </a:rPr>
              <a:t>Things that went really well</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We increased performance exponentially without having to rebuild the old pipeline.</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It would take a week to get a a new version of a product to a customer. Now it takes 8 hours so.</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All the testing automation increased our confidence in the quality of our software. The confidence allows us to create, update, patch, and ultimately ship software faster.</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All the security automation decreased our time to remediation and increased our security observability.</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The framework continues to allow us to quickly create event driven automation for any set of tasks we need.</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You know a project was a success when teams outside of the pipeline team make use of it for their automation and the framework is transparent. We had a demo the other day showing off some really trick automation and I had a dev reach out to me and say "I remember your talk about event driven at the DevOps Unconference a few years ago... Has to be really satisfying to see how much progress is going on."</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555436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b="0" dirty="0">
                <a:solidFill>
                  <a:srgbClr val="78CCF0"/>
                </a:solidFill>
                <a:effectLst/>
                <a:latin typeface="Arial" panose="020B0604020202020204" pitchFamily="34" charset="0"/>
                <a:cs typeface="Arial" panose="020B0604020202020204" pitchFamily="34" charset="0"/>
              </a:rPr>
              <a:t>##</a:t>
            </a:r>
            <a:r>
              <a:rPr lang="en-US" b="0" dirty="0">
                <a:solidFill>
                  <a:srgbClr val="CDD3DE"/>
                </a:solidFill>
                <a:effectLst/>
                <a:latin typeface="Arial" panose="020B0604020202020204" pitchFamily="34" charset="0"/>
                <a:cs typeface="Arial" panose="020B0604020202020204" pitchFamily="34" charset="0"/>
              </a:rPr>
              <a:t> </a:t>
            </a:r>
            <a:r>
              <a:rPr lang="en-US" b="0" dirty="0">
                <a:solidFill>
                  <a:srgbClr val="78CCF0"/>
                </a:solidFill>
                <a:effectLst/>
                <a:latin typeface="Arial" panose="020B0604020202020204" pitchFamily="34" charset="0"/>
                <a:cs typeface="Arial" panose="020B0604020202020204" pitchFamily="34" charset="0"/>
              </a:rPr>
              <a:t>CD Foundation (part of the Linux Foundation)</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Some stuff that I'm involved in that I think you guys would be interested in if you want to come talk about pipelines and events.</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I'm working with the CD foundation (part of the Linux Foundation).</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We've got the CD events project, which is a common spec for continuous delivery events.</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If I had the CD Events spec when I started this project, I would have used it instead of CNAB.</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I'm working on this in the SIG events to help define the spec. </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I'm also working in the SIG software supply chain and we would love to have you come out and talk to us.</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There are public calendars for the SIGs where you can see the meeting times.</a:t>
            </a:r>
            <a:endParaRPr lang="en-US" b="0" dirty="0">
              <a:solidFill>
                <a:srgbClr val="C0C5CE"/>
              </a:solidFill>
              <a:effectLst/>
              <a:latin typeface="Arial" panose="020B0604020202020204" pitchFamily="34" charset="0"/>
              <a:cs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
        <p:nvSpPr>
          <p:cNvPr id="76" name="Google Shape;7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55429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In review</a:t>
            </a:r>
          </a:p>
        </p:txBody>
      </p:sp>
    </p:spTree>
    <p:extLst>
      <p:ext uri="{BB962C8B-B14F-4D97-AF65-F5344CB8AC3E}">
        <p14:creationId xmlns:p14="http://schemas.microsoft.com/office/powerpoint/2010/main" val="40289761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b="0" dirty="0">
                <a:solidFill>
                  <a:srgbClr val="78CCF0"/>
                </a:solidFill>
                <a:effectLst/>
                <a:latin typeface="Arial" panose="020B0604020202020204" pitchFamily="34" charset="0"/>
                <a:cs typeface="Arial" panose="020B0604020202020204" pitchFamily="34" charset="0"/>
              </a:rPr>
              <a:t>##</a:t>
            </a:r>
            <a:r>
              <a:rPr lang="en-US" b="0" dirty="0">
                <a:solidFill>
                  <a:srgbClr val="CDD3DE"/>
                </a:solidFill>
                <a:effectLst/>
                <a:latin typeface="Arial" panose="020B0604020202020204" pitchFamily="34" charset="0"/>
                <a:cs typeface="Arial" panose="020B0604020202020204" pitchFamily="34" charset="0"/>
              </a:rPr>
              <a:t> </a:t>
            </a:r>
            <a:r>
              <a:rPr lang="en-US" b="0" dirty="0">
                <a:solidFill>
                  <a:srgbClr val="78CCF0"/>
                </a:solidFill>
                <a:effectLst/>
                <a:latin typeface="Arial" panose="020B0604020202020204" pitchFamily="34" charset="0"/>
                <a:cs typeface="Arial" panose="020B0604020202020204" pitchFamily="34" charset="0"/>
              </a:rPr>
              <a:t>Closing</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I'm </a:t>
            </a:r>
            <a:r>
              <a:rPr lang="en-US" b="0" dirty="0" err="1">
                <a:solidFill>
                  <a:srgbClr val="CDD3DE"/>
                </a:solidFill>
                <a:effectLst/>
                <a:latin typeface="Arial" panose="020B0604020202020204" pitchFamily="34" charset="0"/>
                <a:cs typeface="Arial" panose="020B0604020202020204" pitchFamily="34" charset="0"/>
              </a:rPr>
              <a:t>Smitty</a:t>
            </a:r>
            <a:r>
              <a:rPr lang="en-US" b="0" dirty="0">
                <a:solidFill>
                  <a:srgbClr val="CDD3DE"/>
                </a:solidFill>
                <a:effectLst/>
                <a:latin typeface="Arial" panose="020B0604020202020204" pitchFamily="34" charset="0"/>
                <a:cs typeface="Arial" panose="020B0604020202020204" pitchFamily="34" charset="0"/>
              </a:rPr>
              <a:t>, and I'm afraid of robots.</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Thank you.</a:t>
            </a:r>
            <a:endParaRPr lang="en-US" b="0" dirty="0">
              <a:solidFill>
                <a:srgbClr val="C0C5CE"/>
              </a:solidFill>
              <a:effectLst/>
              <a:latin typeface="Arial" panose="020B0604020202020204" pitchFamily="34" charset="0"/>
              <a:cs typeface="Arial" panose="020B0604020202020204" pitchFamily="34" charset="0"/>
            </a:endParaRPr>
          </a:p>
          <a:p>
            <a:pPr marL="158750" indent="0">
              <a:buNone/>
            </a:pPr>
            <a:br>
              <a:rPr lang="en-US" b="0" dirty="0">
                <a:solidFill>
                  <a:srgbClr val="C0C5CE"/>
                </a:solidFill>
                <a:effectLst/>
                <a:latin typeface="Arial" panose="020B0604020202020204" pitchFamily="34" charset="0"/>
                <a:cs typeface="Arial" panose="020B0604020202020204" pitchFamily="34" charset="0"/>
              </a:rPr>
            </a:br>
            <a:r>
              <a:rPr lang="en-US" b="0" dirty="0">
                <a:solidFill>
                  <a:srgbClr val="CDD3DE"/>
                </a:solidFill>
                <a:effectLst/>
                <a:latin typeface="Arial" panose="020B0604020202020204" pitchFamily="34" charset="0"/>
                <a:cs typeface="Arial" panose="020B0604020202020204" pitchFamily="34" charset="0"/>
              </a:rPr>
              <a:t>Questions.</a:t>
            </a:r>
            <a:endParaRPr lang="en-US" b="0" dirty="0">
              <a:solidFill>
                <a:srgbClr val="C0C5CE"/>
              </a:solidFill>
              <a:effectLst/>
              <a:latin typeface="Arial" panose="020B0604020202020204" pitchFamily="34" charset="0"/>
              <a:cs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
        <p:nvSpPr>
          <p:cNvPr id="77" name="Google Shape;7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8176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9" name="Google Shape;19;p3"/>
          <p:cNvPicPr preferRelativeResize="0"/>
          <p:nvPr/>
        </p:nvPicPr>
        <p:blipFill rotWithShape="1">
          <a:blip r:embed="rId2">
            <a:alphaModFix/>
          </a:blip>
          <a:srcRect/>
          <a:stretch/>
        </p:blipFill>
        <p:spPr>
          <a:xfrm>
            <a:off x="-613638" y="2230319"/>
            <a:ext cx="1997801" cy="1198681"/>
          </a:xfrm>
          <a:prstGeom prst="rect">
            <a:avLst/>
          </a:prstGeom>
          <a:noFill/>
          <a:ln>
            <a:noFill/>
          </a:ln>
        </p:spPr>
      </p:pic>
      <p:pic>
        <p:nvPicPr>
          <p:cNvPr id="20" name="Google Shape;20;p3"/>
          <p:cNvPicPr preferRelativeResize="0"/>
          <p:nvPr/>
        </p:nvPicPr>
        <p:blipFill rotWithShape="1">
          <a:blip r:embed="rId2">
            <a:alphaModFix/>
          </a:blip>
          <a:srcRect/>
          <a:stretch/>
        </p:blipFill>
        <p:spPr>
          <a:xfrm>
            <a:off x="9893552" y="3219994"/>
            <a:ext cx="2912086" cy="1747252"/>
          </a:xfrm>
          <a:prstGeom prst="rect">
            <a:avLst/>
          </a:prstGeom>
          <a:noFill/>
          <a:ln>
            <a:noFill/>
          </a:ln>
        </p:spPr>
      </p:pic>
      <p:sp>
        <p:nvSpPr>
          <p:cNvPr id="21" name="Google Shape;21;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400" b="0" i="0" u="none" strike="noStrike" cap="none">
                <a:solidFill>
                  <a:schemeClr val="dk1"/>
                </a:solidFill>
                <a:latin typeface="Montserrat"/>
                <a:ea typeface="Montserrat"/>
                <a:cs typeface="Montserrat"/>
                <a:sym typeface="Montserrat"/>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 name="Google Shape;22;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400" b="0" i="0" u="none" strike="noStrike" cap="none">
                <a:solidFill>
                  <a:srgbClr val="888888"/>
                </a:solidFill>
                <a:latin typeface="Montserrat"/>
                <a:ea typeface="Montserrat"/>
                <a:cs typeface="Montserrat"/>
                <a:sym typeface="Montserrat"/>
              </a:defRPr>
            </a:lvl1pPr>
            <a:lvl2pPr marL="0" lvl="1" indent="0" algn="ctr">
              <a:spcBef>
                <a:spcPts val="0"/>
              </a:spcBef>
              <a:buNone/>
              <a:defRPr sz="1400" b="0" i="0" u="none" strike="noStrike" cap="none">
                <a:solidFill>
                  <a:srgbClr val="888888"/>
                </a:solidFill>
                <a:latin typeface="Montserrat"/>
                <a:ea typeface="Montserrat"/>
                <a:cs typeface="Montserrat"/>
                <a:sym typeface="Montserrat"/>
              </a:defRPr>
            </a:lvl2pPr>
            <a:lvl3pPr marL="0" lvl="2" indent="0" algn="ctr">
              <a:spcBef>
                <a:spcPts val="0"/>
              </a:spcBef>
              <a:buNone/>
              <a:defRPr sz="1400" b="0" i="0" u="none" strike="noStrike" cap="none">
                <a:solidFill>
                  <a:srgbClr val="888888"/>
                </a:solidFill>
                <a:latin typeface="Montserrat"/>
                <a:ea typeface="Montserrat"/>
                <a:cs typeface="Montserrat"/>
                <a:sym typeface="Montserrat"/>
              </a:defRPr>
            </a:lvl3pPr>
            <a:lvl4pPr marL="0" lvl="3" indent="0" algn="ctr">
              <a:spcBef>
                <a:spcPts val="0"/>
              </a:spcBef>
              <a:buNone/>
              <a:defRPr sz="1400" b="0" i="0" u="none" strike="noStrike" cap="none">
                <a:solidFill>
                  <a:srgbClr val="888888"/>
                </a:solidFill>
                <a:latin typeface="Montserrat"/>
                <a:ea typeface="Montserrat"/>
                <a:cs typeface="Montserrat"/>
                <a:sym typeface="Montserrat"/>
              </a:defRPr>
            </a:lvl4pPr>
            <a:lvl5pPr marL="0" lvl="4" indent="0" algn="ctr">
              <a:spcBef>
                <a:spcPts val="0"/>
              </a:spcBef>
              <a:buNone/>
              <a:defRPr sz="1400" b="0" i="0" u="none" strike="noStrike" cap="none">
                <a:solidFill>
                  <a:srgbClr val="888888"/>
                </a:solidFill>
                <a:latin typeface="Montserrat"/>
                <a:ea typeface="Montserrat"/>
                <a:cs typeface="Montserrat"/>
                <a:sym typeface="Montserrat"/>
              </a:defRPr>
            </a:lvl5pPr>
            <a:lvl6pPr marL="0" lvl="5" indent="0" algn="ctr">
              <a:spcBef>
                <a:spcPts val="0"/>
              </a:spcBef>
              <a:buNone/>
              <a:defRPr sz="1400" b="0" i="0" u="none" strike="noStrike" cap="none">
                <a:solidFill>
                  <a:srgbClr val="888888"/>
                </a:solidFill>
                <a:latin typeface="Montserrat"/>
                <a:ea typeface="Montserrat"/>
                <a:cs typeface="Montserrat"/>
                <a:sym typeface="Montserrat"/>
              </a:defRPr>
            </a:lvl6pPr>
            <a:lvl7pPr marL="0" lvl="6" indent="0" algn="ctr">
              <a:spcBef>
                <a:spcPts val="0"/>
              </a:spcBef>
              <a:buNone/>
              <a:defRPr sz="1400" b="0" i="0" u="none" strike="noStrike" cap="none">
                <a:solidFill>
                  <a:srgbClr val="888888"/>
                </a:solidFill>
                <a:latin typeface="Montserrat"/>
                <a:ea typeface="Montserrat"/>
                <a:cs typeface="Montserrat"/>
                <a:sym typeface="Montserrat"/>
              </a:defRPr>
            </a:lvl7pPr>
            <a:lvl8pPr marL="0" lvl="7" indent="0" algn="ctr">
              <a:spcBef>
                <a:spcPts val="0"/>
              </a:spcBef>
              <a:buNone/>
              <a:defRPr sz="1400" b="0" i="0" u="none" strike="noStrike" cap="none">
                <a:solidFill>
                  <a:srgbClr val="888888"/>
                </a:solidFill>
                <a:latin typeface="Montserrat"/>
                <a:ea typeface="Montserrat"/>
                <a:cs typeface="Montserrat"/>
                <a:sym typeface="Montserrat"/>
              </a:defRPr>
            </a:lvl8pPr>
            <a:lvl9pPr marL="0" lvl="8" indent="0" algn="ctr">
              <a:spcBef>
                <a:spcPts val="0"/>
              </a:spcBef>
              <a:buNone/>
              <a:defRPr sz="1400" b="0" i="0" u="none" strike="noStrike" cap="none">
                <a:solidFill>
                  <a:srgbClr val="888888"/>
                </a:solidFill>
                <a:latin typeface="Montserrat"/>
                <a:ea typeface="Montserrat"/>
                <a:cs typeface="Montserrat"/>
                <a:sym typeface="Montserrat"/>
              </a:defRPr>
            </a:lvl9pPr>
          </a:lstStyle>
          <a:p>
            <a:pPr marL="0" lvl="0" indent="0" algn="ctr" rtl="0">
              <a:spcBef>
                <a:spcPts val="0"/>
              </a:spcBef>
              <a:spcAft>
                <a:spcPts val="0"/>
              </a:spcAft>
              <a:buNone/>
            </a:pPr>
            <a:r>
              <a:rPr lang="en-US"/>
              <a:t>#DevOpsDays</a:t>
            </a:r>
            <a:endParaRPr sz="1200">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7" name="Google Shape;37;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6" name="Google Shape;46;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9"/>
          <p:cNvSpPr>
            <a:spLocks noGrp="1"/>
          </p:cNvSpPr>
          <p:nvPr>
            <p:ph type="pic" idx="2"/>
          </p:nvPr>
        </p:nvSpPr>
        <p:spPr>
          <a:xfrm>
            <a:off x="5183188" y="987425"/>
            <a:ext cx="6172200" cy="4873625"/>
          </a:xfrm>
          <a:prstGeom prst="rect">
            <a:avLst/>
          </a:prstGeom>
          <a:noFill/>
          <a:ln>
            <a:noFill/>
          </a:ln>
        </p:spPr>
      </p:sp>
      <p:sp>
        <p:nvSpPr>
          <p:cNvPr id="58" name="Google Shape;58;p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8" name="Google Shape;8;p1" descr="A picture containing gear, transport, wheel, metalware&#10;&#10;Description automatically generated"/>
          <p:cNvPicPr preferRelativeResize="0"/>
          <p:nvPr/>
        </p:nvPicPr>
        <p:blipFill rotWithShape="1">
          <a:blip r:embed="rId9">
            <a:alphaModFix/>
          </a:blip>
          <a:srcRect/>
          <a:stretch/>
        </p:blipFill>
        <p:spPr>
          <a:xfrm>
            <a:off x="10039349" y="-690875"/>
            <a:ext cx="3791471" cy="2274882"/>
          </a:xfrm>
          <a:prstGeom prst="rect">
            <a:avLst/>
          </a:prstGeom>
          <a:noFill/>
          <a:ln>
            <a:noFill/>
          </a:ln>
        </p:spPr>
      </p:pic>
      <p:pic>
        <p:nvPicPr>
          <p:cNvPr id="9" name="Google Shape;9;p1" descr="A picture containing gear, transport, wheel, metalware&#10;&#10;Description automatically generated"/>
          <p:cNvPicPr preferRelativeResize="0"/>
          <p:nvPr/>
        </p:nvPicPr>
        <p:blipFill rotWithShape="1">
          <a:blip r:embed="rId9">
            <a:alphaModFix/>
          </a:blip>
          <a:srcRect/>
          <a:stretch/>
        </p:blipFill>
        <p:spPr>
          <a:xfrm>
            <a:off x="-1448321" y="5349562"/>
            <a:ext cx="4573042" cy="2743825"/>
          </a:xfrm>
          <a:prstGeom prst="rect">
            <a:avLst/>
          </a:prstGeom>
          <a:noFill/>
          <a:ln>
            <a:noFill/>
          </a:ln>
        </p:spPr>
      </p:pic>
      <p:sp>
        <p:nvSpPr>
          <p:cNvPr id="10" name="Google Shape;10;p1"/>
          <p:cNvSpPr txBox="1">
            <a:spLocks noGrp="1"/>
          </p:cNvSpPr>
          <p:nvPr>
            <p:ph type="sldNum" idx="12"/>
          </p:nvPr>
        </p:nvSpPr>
        <p:spPr>
          <a:xfrm>
            <a:off x="4724400" y="6323931"/>
            <a:ext cx="27432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rgbClr val="888888"/>
                </a:solidFill>
                <a:latin typeface="Calibri"/>
                <a:ea typeface="Calibri"/>
                <a:cs typeface="Calibri"/>
                <a:sym typeface="Calibri"/>
              </a:defRPr>
            </a:lvl1pPr>
            <a:lvl2pPr marL="0" marR="0" lvl="1" indent="0" algn="ctr" rtl="0">
              <a:spcBef>
                <a:spcPts val="0"/>
              </a:spcBef>
              <a:buNone/>
              <a:defRPr sz="1200" b="0" i="0" u="none" strike="noStrike" cap="none">
                <a:solidFill>
                  <a:srgbClr val="888888"/>
                </a:solidFill>
                <a:latin typeface="Calibri"/>
                <a:ea typeface="Calibri"/>
                <a:cs typeface="Calibri"/>
                <a:sym typeface="Calibri"/>
              </a:defRPr>
            </a:lvl2pPr>
            <a:lvl3pPr marL="0" marR="0" lvl="2" indent="0" algn="ctr" rtl="0">
              <a:spcBef>
                <a:spcPts val="0"/>
              </a:spcBef>
              <a:buNone/>
              <a:defRPr sz="1200" b="0" i="0" u="none" strike="noStrike" cap="none">
                <a:solidFill>
                  <a:srgbClr val="888888"/>
                </a:solidFill>
                <a:latin typeface="Calibri"/>
                <a:ea typeface="Calibri"/>
                <a:cs typeface="Calibri"/>
                <a:sym typeface="Calibri"/>
              </a:defRPr>
            </a:lvl3pPr>
            <a:lvl4pPr marL="0" marR="0" lvl="3" indent="0" algn="ctr" rtl="0">
              <a:spcBef>
                <a:spcPts val="0"/>
              </a:spcBef>
              <a:buNone/>
              <a:defRPr sz="1200" b="0" i="0" u="none" strike="noStrike" cap="none">
                <a:solidFill>
                  <a:srgbClr val="888888"/>
                </a:solidFill>
                <a:latin typeface="Calibri"/>
                <a:ea typeface="Calibri"/>
                <a:cs typeface="Calibri"/>
                <a:sym typeface="Calibri"/>
              </a:defRPr>
            </a:lvl4pPr>
            <a:lvl5pPr marL="0" marR="0" lvl="4" indent="0" algn="ctr" rtl="0">
              <a:spcBef>
                <a:spcPts val="0"/>
              </a:spcBef>
              <a:buNone/>
              <a:defRPr sz="1200" b="0" i="0" u="none" strike="noStrike" cap="none">
                <a:solidFill>
                  <a:srgbClr val="888888"/>
                </a:solidFill>
                <a:latin typeface="Calibri"/>
                <a:ea typeface="Calibri"/>
                <a:cs typeface="Calibri"/>
                <a:sym typeface="Calibri"/>
              </a:defRPr>
            </a:lvl5pPr>
            <a:lvl6pPr marL="0" marR="0" lvl="5" indent="0" algn="ctr" rtl="0">
              <a:spcBef>
                <a:spcPts val="0"/>
              </a:spcBef>
              <a:buNone/>
              <a:defRPr sz="1200" b="0" i="0" u="none" strike="noStrike" cap="none">
                <a:solidFill>
                  <a:srgbClr val="888888"/>
                </a:solidFill>
                <a:latin typeface="Calibri"/>
                <a:ea typeface="Calibri"/>
                <a:cs typeface="Calibri"/>
                <a:sym typeface="Calibri"/>
              </a:defRPr>
            </a:lvl6pPr>
            <a:lvl7pPr marL="0" marR="0" lvl="6" indent="0" algn="ctr" rtl="0">
              <a:spcBef>
                <a:spcPts val="0"/>
              </a:spcBef>
              <a:buNone/>
              <a:defRPr sz="1200" b="0" i="0" u="none" strike="noStrike" cap="none">
                <a:solidFill>
                  <a:srgbClr val="888888"/>
                </a:solidFill>
                <a:latin typeface="Calibri"/>
                <a:ea typeface="Calibri"/>
                <a:cs typeface="Calibri"/>
                <a:sym typeface="Calibri"/>
              </a:defRPr>
            </a:lvl7pPr>
            <a:lvl8pPr marL="0" marR="0" lvl="7" indent="0" algn="ctr" rtl="0">
              <a:spcBef>
                <a:spcPts val="0"/>
              </a:spcBef>
              <a:buNone/>
              <a:defRPr sz="1200" b="0" i="0" u="none" strike="noStrike" cap="none">
                <a:solidFill>
                  <a:srgbClr val="888888"/>
                </a:solidFill>
                <a:latin typeface="Calibri"/>
                <a:ea typeface="Calibri"/>
                <a:cs typeface="Calibri"/>
                <a:sym typeface="Calibri"/>
              </a:defRPr>
            </a:lvl8pPr>
            <a:lvl9pPr marL="0" marR="0" lvl="8" indent="0" algn="ctr" rtl="0">
              <a:spcBef>
                <a:spcPts val="0"/>
              </a:spcBef>
              <a:buNone/>
              <a:defRPr sz="1200" b="0" i="0" u="none" strike="noStrike" cap="none">
                <a:solidFill>
                  <a:srgbClr val="888888"/>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
        <p:nvSpPr>
          <p:cNvPr id="11" name="Google Shape;11;p1"/>
          <p:cNvSpPr txBox="1"/>
          <p:nvPr/>
        </p:nvSpPr>
        <p:spPr>
          <a:xfrm>
            <a:off x="10166683" y="6384587"/>
            <a:ext cx="1977188" cy="36512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0" i="0" u="none" strike="noStrike" cap="none">
                <a:solidFill>
                  <a:schemeClr val="dk1"/>
                </a:solidFill>
                <a:latin typeface="Montserrat"/>
                <a:ea typeface="Montserrat"/>
                <a:cs typeface="Montserrat"/>
                <a:sym typeface="Montserrat"/>
              </a:rPr>
              <a:t>@DevOpsDaysRDU</a:t>
            </a:r>
            <a:endParaRPr sz="1400" b="0" i="0" u="none" strike="noStrike" cap="none">
              <a:solidFill>
                <a:schemeClr val="dk1"/>
              </a:solidFill>
              <a:latin typeface="Montserrat"/>
              <a:ea typeface="Montserrat"/>
              <a:cs typeface="Montserrat"/>
              <a:sym typeface="Montserrat"/>
            </a:endParaRPr>
          </a:p>
        </p:txBody>
      </p:sp>
      <p:pic>
        <p:nvPicPr>
          <p:cNvPr id="12" name="Google Shape;12;p1" descr="A picture containing logo&#10;&#10;Description automatically generated"/>
          <p:cNvPicPr preferRelativeResize="0"/>
          <p:nvPr/>
        </p:nvPicPr>
        <p:blipFill rotWithShape="1">
          <a:blip r:embed="rId10">
            <a:alphaModFix/>
          </a:blip>
          <a:srcRect/>
          <a:stretch/>
        </p:blipFill>
        <p:spPr>
          <a:xfrm>
            <a:off x="10527656" y="4998368"/>
            <a:ext cx="1255242" cy="132556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cd.foundation/"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hyperlink" Target="https://github.com/cdfoundation/sig-software-supply-chain" TargetMode="External"/><Relationship Id="rId5" Type="http://schemas.openxmlformats.org/officeDocument/2006/relationships/hyperlink" Target="https://github.com/cdfoundation/sig-events" TargetMode="External"/><Relationship Id="rId4" Type="http://schemas.openxmlformats.org/officeDocument/2006/relationships/hyperlink" Target="https://cdevents.dev/"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dirty="0"/>
              <a:t>Event Driven CI/CD Pipelines</a:t>
            </a:r>
            <a:endParaRPr dirty="0"/>
          </a:p>
        </p:txBody>
      </p:sp>
      <p:sp>
        <p:nvSpPr>
          <p:cNvPr id="67" name="Google Shape;67;p1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lnSpcReduction="10000"/>
          </a:bodyPr>
          <a:lstStyle/>
          <a:p>
            <a:pPr marL="0" indent="0">
              <a:spcBef>
                <a:spcPts val="0"/>
              </a:spcBef>
            </a:pPr>
            <a:r>
              <a:rPr lang="en-US" dirty="0"/>
              <a:t>Enable Asynchronous CD without Skynet happening</a:t>
            </a:r>
          </a:p>
          <a:p>
            <a:pPr marL="0" indent="0">
              <a:spcBef>
                <a:spcPts val="0"/>
              </a:spcBef>
            </a:pPr>
            <a:endParaRPr lang="en-US" dirty="0"/>
          </a:p>
          <a:p>
            <a:pPr marL="0" indent="0">
              <a:spcBef>
                <a:spcPts val="0"/>
              </a:spcBef>
            </a:pPr>
            <a:endParaRPr lang="en-US" dirty="0"/>
          </a:p>
          <a:p>
            <a:pPr marL="0" indent="0">
              <a:spcBef>
                <a:spcPts val="0"/>
              </a:spcBef>
            </a:pPr>
            <a:r>
              <a:rPr lang="en-US" dirty="0"/>
              <a:t>Brett Smith</a:t>
            </a:r>
          </a:p>
          <a:p>
            <a:pPr marL="0" lvl="0" indent="0" algn="ctr" rtl="0">
              <a:lnSpc>
                <a:spcPct val="90000"/>
              </a:lnSpc>
              <a:spcBef>
                <a:spcPts val="0"/>
              </a:spcBef>
              <a:spcAft>
                <a:spcPts val="0"/>
              </a:spcAft>
              <a:buClr>
                <a:schemeClr val="dk1"/>
              </a:buClr>
              <a:buSzPts val="2400"/>
              <a:buNone/>
            </a:pPr>
            <a:r>
              <a:rPr lang="en-US" dirty="0" err="1"/>
              <a:t>xbcsmith@gmail.com</a:t>
            </a:r>
            <a:endParaRPr lang="en-US" dirty="0"/>
          </a:p>
          <a:p>
            <a:pPr marL="0" lvl="0" indent="0" algn="ctr" rtl="0">
              <a:lnSpc>
                <a:spcPct val="90000"/>
              </a:lnSpc>
              <a:spcBef>
                <a:spcPts val="0"/>
              </a:spcBef>
              <a:spcAft>
                <a:spcPts val="0"/>
              </a:spcAft>
              <a:buClr>
                <a:schemeClr val="dk1"/>
              </a:buClr>
              <a:buSzPts val="2400"/>
              <a:buNone/>
            </a:pPr>
            <a:endParaRPr dirty="0"/>
          </a:p>
        </p:txBody>
      </p:sp>
      <p:pic>
        <p:nvPicPr>
          <p:cNvPr id="4" name="Picture 3" descr="Icon&#10;&#10;Description automatically generated">
            <a:extLst>
              <a:ext uri="{FF2B5EF4-FFF2-40B4-BE49-F238E27FC236}">
                <a16:creationId xmlns:a16="http://schemas.microsoft.com/office/drawing/2014/main" id="{DE28838F-DF7D-5288-60B8-39699E4CAE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56739" y="4429919"/>
            <a:ext cx="585107" cy="5851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a:off x="838200" y="2766218"/>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dirty="0"/>
              <a:t>The Software Supply Chain</a:t>
            </a:r>
            <a:endParaRPr dirty="0"/>
          </a:p>
        </p:txBody>
      </p:sp>
    </p:spTree>
    <p:extLst>
      <p:ext uri="{BB962C8B-B14F-4D97-AF65-F5344CB8AC3E}">
        <p14:creationId xmlns:p14="http://schemas.microsoft.com/office/powerpoint/2010/main" val="15308251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dirty="0"/>
              <a:t>The pipeline produces…</a:t>
            </a:r>
            <a:endParaRPr dirty="0"/>
          </a:p>
        </p:txBody>
      </p:sp>
      <p:sp>
        <p:nvSpPr>
          <p:cNvPr id="3" name="Text Placeholder 2">
            <a:extLst>
              <a:ext uri="{FF2B5EF4-FFF2-40B4-BE49-F238E27FC236}">
                <a16:creationId xmlns:a16="http://schemas.microsoft.com/office/drawing/2014/main" id="{28E28B17-9493-4BF1-6086-82BCF10C2559}"/>
              </a:ext>
            </a:extLst>
          </p:cNvPr>
          <p:cNvSpPr txBox="1">
            <a:spLocks/>
          </p:cNvSpPr>
          <p:nvPr/>
        </p:nvSpPr>
        <p:spPr>
          <a:xfrm>
            <a:off x="4481951" y="2702379"/>
            <a:ext cx="2978190" cy="2444375"/>
          </a:xfrm>
          <a:prstGeom prst="rect">
            <a:avLst/>
          </a:prstGeom>
        </p:spPr>
        <p:txBody>
          <a:bodyPr vert="horz" lIns="91440" tIns="45720" rIns="91440" bIns="45720" rtlCol="0" anchor="t">
            <a:normAutofit/>
          </a:bodyPr>
          <a:lstStyle>
            <a:lvl1pPr marL="0" indent="0" algn="ctr" defTabSz="685800" rtl="0" eaLnBrk="1" latinLnBrk="0" hangingPunct="1">
              <a:lnSpc>
                <a:spcPct val="85000"/>
              </a:lnSpc>
              <a:spcBef>
                <a:spcPts val="800"/>
              </a:spcBef>
              <a:buFont typeface="Arial" panose="020B0604020202020204" pitchFamily="34" charset="0"/>
              <a:buNone/>
              <a:defRPr sz="2100" kern="1200">
                <a:solidFill>
                  <a:schemeClr val="accent1">
                    <a:lumMod val="60000"/>
                    <a:lumOff val="40000"/>
                  </a:schemeClr>
                </a:solidFill>
                <a:latin typeface="+mj-lt"/>
                <a:ea typeface="+mn-ea"/>
                <a:cs typeface="+mn-cs"/>
              </a:defRPr>
            </a:lvl1pPr>
            <a:lvl2pPr marL="182880" indent="0" algn="l" defTabSz="685800" rtl="0" eaLnBrk="1" latinLnBrk="0" hangingPunct="1">
              <a:lnSpc>
                <a:spcPct val="85000"/>
              </a:lnSpc>
              <a:spcBef>
                <a:spcPts val="800"/>
              </a:spcBef>
              <a:buFont typeface="Calibri Light" panose="020F0302020204030204" pitchFamily="34" charset="0"/>
              <a:buNone/>
              <a:defRPr sz="1800" kern="1200">
                <a:solidFill>
                  <a:schemeClr val="bg1"/>
                </a:solidFill>
                <a:latin typeface="+mj-lt"/>
                <a:ea typeface="+mn-ea"/>
                <a:cs typeface="+mn-cs"/>
              </a:defRPr>
            </a:lvl2pPr>
            <a:lvl3pPr marL="365760" indent="0" algn="l" defTabSz="685800" rtl="0" eaLnBrk="1" latinLnBrk="0" hangingPunct="1">
              <a:lnSpc>
                <a:spcPct val="85000"/>
              </a:lnSpc>
              <a:spcBef>
                <a:spcPts val="800"/>
              </a:spcBef>
              <a:buFont typeface="Arial" panose="020B0604020202020204" pitchFamily="34" charset="0"/>
              <a:buNone/>
              <a:defRPr sz="1500" kern="1200">
                <a:solidFill>
                  <a:schemeClr val="bg1"/>
                </a:solidFill>
                <a:latin typeface="+mj-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350" kern="1200">
                <a:solidFill>
                  <a:schemeClr val="bg2"/>
                </a:solidFill>
                <a:latin typeface="+mj-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350" kern="1200">
                <a:solidFill>
                  <a:schemeClr val="bg2"/>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r>
              <a:rPr lang="en-US" sz="2800" dirty="0">
                <a:solidFill>
                  <a:schemeClr val="tx1"/>
                </a:solidFill>
              </a:rPr>
              <a:t>Architectures</a:t>
            </a:r>
          </a:p>
          <a:p>
            <a:pPr marL="342900" indent="-342900" algn="l">
              <a:buFont typeface="Arial" panose="020B0604020202020204" pitchFamily="34" charset="0"/>
              <a:buChar char="•"/>
            </a:pPr>
            <a:r>
              <a:rPr lang="en-US" sz="2800" dirty="0">
                <a:solidFill>
                  <a:schemeClr val="tx1"/>
                </a:solidFill>
              </a:rPr>
              <a:t>x86_64</a:t>
            </a:r>
          </a:p>
          <a:p>
            <a:pPr marL="342900" indent="-342900" algn="l">
              <a:buFont typeface="Arial" panose="020B0604020202020204" pitchFamily="34" charset="0"/>
              <a:buChar char="•"/>
            </a:pPr>
            <a:r>
              <a:rPr lang="en-US" sz="2800" dirty="0">
                <a:solidFill>
                  <a:schemeClr val="tx1"/>
                </a:solidFill>
              </a:rPr>
              <a:t>aarch64</a:t>
            </a:r>
          </a:p>
          <a:p>
            <a:pPr marL="342900" indent="-342900" algn="l">
              <a:buFont typeface="Arial" panose="020B0604020202020204" pitchFamily="34" charset="0"/>
              <a:buChar char="•"/>
            </a:pPr>
            <a:r>
              <a:rPr lang="en-US" sz="2800" dirty="0">
                <a:solidFill>
                  <a:schemeClr val="tx1"/>
                </a:solidFill>
              </a:rPr>
              <a:t>ppc64le</a:t>
            </a:r>
            <a:endParaRPr lang="en-US" sz="2800" dirty="0"/>
          </a:p>
          <a:p>
            <a:endParaRPr lang="en-US" sz="2800" dirty="0"/>
          </a:p>
        </p:txBody>
      </p:sp>
      <p:sp>
        <p:nvSpPr>
          <p:cNvPr id="4" name="Text Placeholder 2">
            <a:extLst>
              <a:ext uri="{FF2B5EF4-FFF2-40B4-BE49-F238E27FC236}">
                <a16:creationId xmlns:a16="http://schemas.microsoft.com/office/drawing/2014/main" id="{71EFB4F6-ED42-C9F2-B690-A8C0DF248F17}"/>
              </a:ext>
            </a:extLst>
          </p:cNvPr>
          <p:cNvSpPr txBox="1">
            <a:spLocks/>
          </p:cNvSpPr>
          <p:nvPr/>
        </p:nvSpPr>
        <p:spPr>
          <a:xfrm>
            <a:off x="7937146" y="2802301"/>
            <a:ext cx="2595013" cy="2344453"/>
          </a:xfrm>
          <a:prstGeom prst="rect">
            <a:avLst/>
          </a:prstGeom>
        </p:spPr>
        <p:txBody>
          <a:bodyPr vert="horz" lIns="91440" tIns="45720" rIns="91440" bIns="45720" rtlCol="0" anchor="t">
            <a:noAutofit/>
          </a:bodyPr>
          <a:lstStyle>
            <a:lvl1pPr marL="0" indent="0" algn="ctr" defTabSz="685800" rtl="0" eaLnBrk="1" latinLnBrk="0" hangingPunct="1">
              <a:lnSpc>
                <a:spcPct val="85000"/>
              </a:lnSpc>
              <a:spcBef>
                <a:spcPts val="800"/>
              </a:spcBef>
              <a:buFont typeface="Arial" panose="020B0604020202020204" pitchFamily="34" charset="0"/>
              <a:buNone/>
              <a:defRPr sz="2100" kern="1200">
                <a:solidFill>
                  <a:schemeClr val="accent1">
                    <a:lumMod val="60000"/>
                    <a:lumOff val="40000"/>
                  </a:schemeClr>
                </a:solidFill>
                <a:latin typeface="+mj-lt"/>
                <a:ea typeface="+mn-ea"/>
                <a:cs typeface="+mn-cs"/>
              </a:defRPr>
            </a:lvl1pPr>
            <a:lvl2pPr marL="182880" indent="0" algn="l" defTabSz="685800" rtl="0" eaLnBrk="1" latinLnBrk="0" hangingPunct="1">
              <a:lnSpc>
                <a:spcPct val="85000"/>
              </a:lnSpc>
              <a:spcBef>
                <a:spcPts val="800"/>
              </a:spcBef>
              <a:buFont typeface="Calibri Light" panose="020F0302020204030204" pitchFamily="34" charset="0"/>
              <a:buNone/>
              <a:defRPr sz="1800" kern="1200">
                <a:solidFill>
                  <a:schemeClr val="bg1"/>
                </a:solidFill>
                <a:latin typeface="+mj-lt"/>
                <a:ea typeface="+mn-ea"/>
                <a:cs typeface="+mn-cs"/>
              </a:defRPr>
            </a:lvl2pPr>
            <a:lvl3pPr marL="365760" indent="0" algn="l" defTabSz="685800" rtl="0" eaLnBrk="1" latinLnBrk="0" hangingPunct="1">
              <a:lnSpc>
                <a:spcPct val="85000"/>
              </a:lnSpc>
              <a:spcBef>
                <a:spcPts val="800"/>
              </a:spcBef>
              <a:buFont typeface="Arial" panose="020B0604020202020204" pitchFamily="34" charset="0"/>
              <a:buNone/>
              <a:defRPr sz="1500" kern="1200">
                <a:solidFill>
                  <a:schemeClr val="bg1"/>
                </a:solidFill>
                <a:latin typeface="+mj-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350" kern="1200">
                <a:solidFill>
                  <a:schemeClr val="bg2"/>
                </a:solidFill>
                <a:latin typeface="+mj-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350" kern="1200">
                <a:solidFill>
                  <a:schemeClr val="bg2"/>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r>
              <a:rPr lang="en-US" sz="2800" dirty="0">
                <a:solidFill>
                  <a:schemeClr val="tx1"/>
                </a:solidFill>
              </a:rPr>
              <a:t>Deployments</a:t>
            </a:r>
          </a:p>
          <a:p>
            <a:pPr marL="342900" indent="-342900" algn="l">
              <a:buFont typeface="Arial" panose="020B0604020202020204" pitchFamily="34" charset="0"/>
              <a:buChar char="•"/>
            </a:pPr>
            <a:r>
              <a:rPr lang="en-US" sz="2800" dirty="0">
                <a:solidFill>
                  <a:schemeClr val="tx1"/>
                </a:solidFill>
              </a:rPr>
              <a:t>Bare Metal</a:t>
            </a:r>
          </a:p>
          <a:p>
            <a:pPr marL="342900" indent="-342900" algn="l">
              <a:buFont typeface="Arial" panose="020B0604020202020204" pitchFamily="34" charset="0"/>
              <a:buChar char="•"/>
            </a:pPr>
            <a:r>
              <a:rPr lang="en-US" sz="2800" dirty="0">
                <a:solidFill>
                  <a:schemeClr val="tx1"/>
                </a:solidFill>
              </a:rPr>
              <a:t>VMs</a:t>
            </a:r>
          </a:p>
          <a:p>
            <a:pPr marL="342900" indent="-342900" algn="l">
              <a:buFont typeface="Arial" panose="020B0604020202020204" pitchFamily="34" charset="0"/>
              <a:buChar char="•"/>
            </a:pPr>
            <a:r>
              <a:rPr lang="en-US" sz="2800" dirty="0">
                <a:solidFill>
                  <a:schemeClr val="tx1"/>
                </a:solidFill>
              </a:rPr>
              <a:t>Kubernetes</a:t>
            </a:r>
          </a:p>
        </p:txBody>
      </p:sp>
      <p:sp>
        <p:nvSpPr>
          <p:cNvPr id="5" name="Donut 4">
            <a:extLst>
              <a:ext uri="{FF2B5EF4-FFF2-40B4-BE49-F238E27FC236}">
                <a16:creationId xmlns:a16="http://schemas.microsoft.com/office/drawing/2014/main" id="{50AF1E14-E1FA-2701-2A18-B86A7E66442D}"/>
              </a:ext>
            </a:extLst>
          </p:cNvPr>
          <p:cNvSpPr>
            <a:spLocks noChangeAspect="1"/>
          </p:cNvSpPr>
          <p:nvPr/>
        </p:nvSpPr>
        <p:spPr>
          <a:xfrm>
            <a:off x="273543" y="1963082"/>
            <a:ext cx="3400700" cy="3400700"/>
          </a:xfrm>
          <a:prstGeom prst="donut">
            <a:avLst>
              <a:gd name="adj" fmla="val 3261"/>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74BE"/>
              </a:solidFill>
              <a:effectLst/>
              <a:uLnTx/>
              <a:uFillTx/>
              <a:latin typeface="Calibri Light"/>
              <a:ea typeface="+mn-ea"/>
              <a:cs typeface="+mn-cs"/>
            </a:endParaRPr>
          </a:p>
        </p:txBody>
      </p:sp>
      <p:sp>
        <p:nvSpPr>
          <p:cNvPr id="6" name="Donut 5">
            <a:extLst>
              <a:ext uri="{FF2B5EF4-FFF2-40B4-BE49-F238E27FC236}">
                <a16:creationId xmlns:a16="http://schemas.microsoft.com/office/drawing/2014/main" id="{486B3290-40F9-AD44-1629-786718A9AB18}"/>
              </a:ext>
            </a:extLst>
          </p:cNvPr>
          <p:cNvSpPr>
            <a:spLocks noChangeAspect="1"/>
          </p:cNvSpPr>
          <p:nvPr/>
        </p:nvSpPr>
        <p:spPr>
          <a:xfrm>
            <a:off x="3921087" y="1963082"/>
            <a:ext cx="3400700" cy="3400700"/>
          </a:xfrm>
          <a:prstGeom prst="donut">
            <a:avLst>
              <a:gd name="adj" fmla="val 2856"/>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74BE"/>
              </a:solidFill>
              <a:effectLst/>
              <a:uLnTx/>
              <a:uFillTx/>
              <a:latin typeface="Calibri Light"/>
              <a:ea typeface="+mn-ea"/>
              <a:cs typeface="+mn-cs"/>
            </a:endParaRPr>
          </a:p>
        </p:txBody>
      </p:sp>
      <p:sp>
        <p:nvSpPr>
          <p:cNvPr id="7" name="Donut 6">
            <a:extLst>
              <a:ext uri="{FF2B5EF4-FFF2-40B4-BE49-F238E27FC236}">
                <a16:creationId xmlns:a16="http://schemas.microsoft.com/office/drawing/2014/main" id="{C70A56F9-04C0-0550-323A-818D47E4AC73}"/>
              </a:ext>
            </a:extLst>
          </p:cNvPr>
          <p:cNvSpPr>
            <a:spLocks noChangeAspect="1"/>
          </p:cNvSpPr>
          <p:nvPr/>
        </p:nvSpPr>
        <p:spPr>
          <a:xfrm>
            <a:off x="7568631" y="1963082"/>
            <a:ext cx="3400700" cy="3400700"/>
          </a:xfrm>
          <a:prstGeom prst="donut">
            <a:avLst>
              <a:gd name="adj" fmla="val 3059"/>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74BE"/>
              </a:solidFill>
              <a:effectLst/>
              <a:uLnTx/>
              <a:uFillTx/>
              <a:latin typeface="Calibri Light"/>
              <a:ea typeface="+mn-ea"/>
              <a:cs typeface="+mn-cs"/>
            </a:endParaRPr>
          </a:p>
        </p:txBody>
      </p:sp>
      <p:sp>
        <p:nvSpPr>
          <p:cNvPr id="8" name="TextBox 7">
            <a:extLst>
              <a:ext uri="{FF2B5EF4-FFF2-40B4-BE49-F238E27FC236}">
                <a16:creationId xmlns:a16="http://schemas.microsoft.com/office/drawing/2014/main" id="{5CA33341-98D8-A1A9-8AB7-14DD239F6523}"/>
              </a:ext>
            </a:extLst>
          </p:cNvPr>
          <p:cNvSpPr txBox="1"/>
          <p:nvPr/>
        </p:nvSpPr>
        <p:spPr>
          <a:xfrm>
            <a:off x="4373461" y="5636176"/>
            <a:ext cx="3195170" cy="307777"/>
          </a:xfrm>
          <a:prstGeom prst="rect">
            <a:avLst/>
          </a:prstGeom>
          <a:noFill/>
        </p:spPr>
        <p:txBody>
          <a:bodyPr wrap="square" rtlCol="0">
            <a:spAutoFit/>
          </a:bodyPr>
          <a:lstStyle/>
          <a:p>
            <a:pPr algn="l"/>
            <a:r>
              <a:rPr lang="en-US" dirty="0"/>
              <a:t>*</a:t>
            </a:r>
            <a:r>
              <a:rPr lang="en-US" dirty="0" err="1"/>
              <a:t>msi</a:t>
            </a:r>
            <a:r>
              <a:rPr lang="en-US" dirty="0"/>
              <a:t> and </a:t>
            </a:r>
            <a:r>
              <a:rPr lang="en-US" dirty="0" err="1"/>
              <a:t>msm</a:t>
            </a:r>
            <a:r>
              <a:rPr lang="en-US" dirty="0"/>
              <a:t> packages as well</a:t>
            </a:r>
            <a:endParaRPr lang="en-US" dirty="0">
              <a:solidFill>
                <a:schemeClr val="bg1"/>
              </a:solidFill>
              <a:latin typeface="+mj-lt"/>
            </a:endParaRPr>
          </a:p>
        </p:txBody>
      </p:sp>
      <p:sp>
        <p:nvSpPr>
          <p:cNvPr id="16" name="Text Placeholder 2">
            <a:extLst>
              <a:ext uri="{FF2B5EF4-FFF2-40B4-BE49-F238E27FC236}">
                <a16:creationId xmlns:a16="http://schemas.microsoft.com/office/drawing/2014/main" id="{FDA83B53-1F37-3E74-67E0-27E47554195E}"/>
              </a:ext>
            </a:extLst>
          </p:cNvPr>
          <p:cNvSpPr txBox="1">
            <a:spLocks/>
          </p:cNvSpPr>
          <p:nvPr/>
        </p:nvSpPr>
        <p:spPr>
          <a:xfrm>
            <a:off x="888152" y="2627754"/>
            <a:ext cx="2848678" cy="273602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pPr algn="l"/>
            <a:r>
              <a:rPr lang="en-US" sz="2800" dirty="0">
                <a:latin typeface="+mj-lt"/>
              </a:rPr>
              <a:t>Packages</a:t>
            </a:r>
          </a:p>
          <a:p>
            <a:pPr marL="342900" indent="-342900" algn="l">
              <a:buFont typeface="Arial" panose="020B0604020202020204" pitchFamily="34" charset="0"/>
              <a:buChar char="•"/>
            </a:pPr>
            <a:r>
              <a:rPr lang="en-US" sz="2800" dirty="0">
                <a:latin typeface="+mj-lt"/>
              </a:rPr>
              <a:t>RPMS</a:t>
            </a:r>
          </a:p>
          <a:p>
            <a:pPr marL="342900" indent="-342900" algn="l">
              <a:buFont typeface="Arial" panose="020B0604020202020204" pitchFamily="34" charset="0"/>
              <a:buChar char="•"/>
            </a:pPr>
            <a:r>
              <a:rPr lang="en-US" sz="2800" dirty="0">
                <a:latin typeface="+mj-lt"/>
              </a:rPr>
              <a:t>DPKG</a:t>
            </a:r>
          </a:p>
          <a:p>
            <a:pPr marL="342900" indent="-342900" algn="l">
              <a:buFont typeface="Arial" panose="020B0604020202020204" pitchFamily="34" charset="0"/>
              <a:buChar char="•"/>
            </a:pPr>
            <a:r>
              <a:rPr lang="en-US" sz="2800" dirty="0">
                <a:latin typeface="+mj-lt"/>
              </a:rPr>
              <a:t>OCI Images</a:t>
            </a:r>
          </a:p>
          <a:p>
            <a:pPr algn="l"/>
            <a:endParaRPr lang="en-US" sz="2800" dirty="0">
              <a:latin typeface="+mj-lt"/>
            </a:endParaRPr>
          </a:p>
          <a:p>
            <a:endParaRPr lang="en-US" sz="2800"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a:off x="838200" y="2766218"/>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dirty="0"/>
              <a:t>The pipeline before CI/CD Events</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3" name="Picture 2" descr="A picture containing text, electronics&#10;&#10;Description automatically generated">
            <a:extLst>
              <a:ext uri="{FF2B5EF4-FFF2-40B4-BE49-F238E27FC236}">
                <a16:creationId xmlns:a16="http://schemas.microsoft.com/office/drawing/2014/main" id="{DF17821F-89C9-A711-35E8-0C27E1EBBDCB}"/>
              </a:ext>
            </a:extLst>
          </p:cNvPr>
          <p:cNvPicPr>
            <a:picLocks noChangeAspect="1"/>
          </p:cNvPicPr>
          <p:nvPr/>
        </p:nvPicPr>
        <p:blipFill>
          <a:blip r:embed="rId3"/>
          <a:stretch>
            <a:fillRect/>
          </a:stretch>
        </p:blipFill>
        <p:spPr>
          <a:xfrm>
            <a:off x="1994043" y="36369"/>
            <a:ext cx="8203913" cy="6785261"/>
          </a:xfrm>
          <a:prstGeom prst="rect">
            <a:avLst/>
          </a:prstGeom>
        </p:spPr>
      </p:pic>
    </p:spTree>
    <p:extLst>
      <p:ext uri="{BB962C8B-B14F-4D97-AF65-F5344CB8AC3E}">
        <p14:creationId xmlns:p14="http://schemas.microsoft.com/office/powerpoint/2010/main" val="1905108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 name="Picture 6" descr="Graphical user interface&#10;&#10;Description automatically generated">
            <a:extLst>
              <a:ext uri="{FF2B5EF4-FFF2-40B4-BE49-F238E27FC236}">
                <a16:creationId xmlns:a16="http://schemas.microsoft.com/office/drawing/2014/main" id="{D0419310-C48D-1357-6574-DBEA29E8BA0C}"/>
              </a:ext>
            </a:extLst>
          </p:cNvPr>
          <p:cNvPicPr>
            <a:picLocks noChangeAspect="1"/>
          </p:cNvPicPr>
          <p:nvPr/>
        </p:nvPicPr>
        <p:blipFill>
          <a:blip r:embed="rId3"/>
          <a:stretch>
            <a:fillRect/>
          </a:stretch>
        </p:blipFill>
        <p:spPr>
          <a:xfrm>
            <a:off x="-1" y="-1"/>
            <a:ext cx="12244785" cy="5747657"/>
          </a:xfrm>
          <a:prstGeom prst="rect">
            <a:avLst/>
          </a:prstGeom>
        </p:spPr>
      </p:pic>
    </p:spTree>
    <p:extLst>
      <p:ext uri="{BB962C8B-B14F-4D97-AF65-F5344CB8AC3E}">
        <p14:creationId xmlns:p14="http://schemas.microsoft.com/office/powerpoint/2010/main" val="930074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43953-43A9-F6BC-7846-A62A33F42567}"/>
              </a:ext>
            </a:extLst>
          </p:cNvPr>
          <p:cNvSpPr>
            <a:spLocks noGrp="1"/>
          </p:cNvSpPr>
          <p:nvPr>
            <p:ph type="title"/>
          </p:nvPr>
        </p:nvSpPr>
        <p:spPr>
          <a:xfrm>
            <a:off x="838200" y="2766218"/>
            <a:ext cx="10515600" cy="1325563"/>
          </a:xfrm>
        </p:spPr>
        <p:txBody>
          <a:bodyPr/>
          <a:lstStyle/>
          <a:p>
            <a:pPr algn="ctr"/>
            <a:r>
              <a:rPr lang="en-US" dirty="0"/>
              <a:t>Why Event Driven CI/CD?</a:t>
            </a:r>
          </a:p>
        </p:txBody>
      </p:sp>
    </p:spTree>
    <p:extLst>
      <p:ext uri="{BB962C8B-B14F-4D97-AF65-F5344CB8AC3E}">
        <p14:creationId xmlns:p14="http://schemas.microsoft.com/office/powerpoint/2010/main" val="2513453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2822D-92C2-5D84-5450-E76352304822}"/>
              </a:ext>
            </a:extLst>
          </p:cNvPr>
          <p:cNvSpPr>
            <a:spLocks noGrp="1"/>
          </p:cNvSpPr>
          <p:nvPr>
            <p:ph type="title"/>
          </p:nvPr>
        </p:nvSpPr>
        <p:spPr/>
        <p:txBody>
          <a:bodyPr/>
          <a:lstStyle/>
          <a:p>
            <a:r>
              <a:rPr lang="en-US" dirty="0"/>
              <a:t>The Audit Trail and Gating</a:t>
            </a:r>
          </a:p>
        </p:txBody>
      </p:sp>
      <p:sp>
        <p:nvSpPr>
          <p:cNvPr id="3" name="Text Placeholder 2">
            <a:extLst>
              <a:ext uri="{FF2B5EF4-FFF2-40B4-BE49-F238E27FC236}">
                <a16:creationId xmlns:a16="http://schemas.microsoft.com/office/drawing/2014/main" id="{3E6F3790-3B26-EB91-50C3-DDB579EA8E6F}"/>
              </a:ext>
            </a:extLst>
          </p:cNvPr>
          <p:cNvSpPr>
            <a:spLocks noGrp="1"/>
          </p:cNvSpPr>
          <p:nvPr>
            <p:ph type="body" idx="1"/>
          </p:nvPr>
        </p:nvSpPr>
        <p:spPr/>
        <p:txBody>
          <a:bodyPr>
            <a:normAutofit/>
          </a:bodyPr>
          <a:lstStyle/>
          <a:p>
            <a:pPr lvl="7"/>
            <a:r>
              <a:rPr lang="en-US" sz="4400" dirty="0"/>
              <a:t>Actions</a:t>
            </a:r>
          </a:p>
          <a:p>
            <a:pPr lvl="7"/>
            <a:r>
              <a:rPr lang="en-US" sz="4400" dirty="0"/>
              <a:t>Receipts</a:t>
            </a:r>
          </a:p>
          <a:p>
            <a:pPr lvl="7"/>
            <a:r>
              <a:rPr lang="en-US" sz="4400" dirty="0"/>
              <a:t>Gates</a:t>
            </a:r>
          </a:p>
          <a:p>
            <a:pPr lvl="7"/>
            <a:r>
              <a:rPr lang="en-US" sz="4400" dirty="0"/>
              <a:t>Stages</a:t>
            </a:r>
          </a:p>
        </p:txBody>
      </p:sp>
    </p:spTree>
    <p:extLst>
      <p:ext uri="{BB962C8B-B14F-4D97-AF65-F5344CB8AC3E}">
        <p14:creationId xmlns:p14="http://schemas.microsoft.com/office/powerpoint/2010/main" val="4205820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3" name="Picture 2" descr="A screenshot of a computer screen&#10;&#10;Description automatically generated with medium confidence">
            <a:extLst>
              <a:ext uri="{FF2B5EF4-FFF2-40B4-BE49-F238E27FC236}">
                <a16:creationId xmlns:a16="http://schemas.microsoft.com/office/drawing/2014/main" id="{26072D78-3CF8-E849-7132-4927D8CC8943}"/>
              </a:ext>
            </a:extLst>
          </p:cNvPr>
          <p:cNvPicPr>
            <a:picLocks noChangeAspect="1"/>
          </p:cNvPicPr>
          <p:nvPr/>
        </p:nvPicPr>
        <p:blipFill>
          <a:blip r:embed="rId3"/>
          <a:stretch>
            <a:fillRect/>
          </a:stretch>
        </p:blipFill>
        <p:spPr>
          <a:xfrm>
            <a:off x="1907317" y="0"/>
            <a:ext cx="8377366" cy="6858000"/>
          </a:xfrm>
          <a:prstGeom prst="rect">
            <a:avLst/>
          </a:prstGeom>
        </p:spPr>
      </p:pic>
    </p:spTree>
    <p:extLst>
      <p:ext uri="{BB962C8B-B14F-4D97-AF65-F5344CB8AC3E}">
        <p14:creationId xmlns:p14="http://schemas.microsoft.com/office/powerpoint/2010/main" val="1714772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2CFD21ED-8901-A77E-BEA7-4280E270E982}"/>
              </a:ext>
            </a:extLst>
          </p:cNvPr>
          <p:cNvPicPr>
            <a:picLocks noChangeAspect="1"/>
          </p:cNvPicPr>
          <p:nvPr/>
        </p:nvPicPr>
        <p:blipFill>
          <a:blip r:embed="rId3"/>
          <a:stretch>
            <a:fillRect/>
          </a:stretch>
        </p:blipFill>
        <p:spPr>
          <a:xfrm>
            <a:off x="3287746" y="0"/>
            <a:ext cx="5616508" cy="6858000"/>
          </a:xfrm>
          <a:prstGeom prst="rect">
            <a:avLst/>
          </a:prstGeom>
        </p:spPr>
      </p:pic>
    </p:spTree>
    <p:extLst>
      <p:ext uri="{BB962C8B-B14F-4D97-AF65-F5344CB8AC3E}">
        <p14:creationId xmlns:p14="http://schemas.microsoft.com/office/powerpoint/2010/main" val="648827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Graphical user interface, diagram&#10;&#10;Description automatically generated">
            <a:extLst>
              <a:ext uri="{FF2B5EF4-FFF2-40B4-BE49-F238E27FC236}">
                <a16:creationId xmlns:a16="http://schemas.microsoft.com/office/drawing/2014/main" id="{6359FB18-EAB7-37C4-F577-A57A1671E69C}"/>
              </a:ext>
            </a:extLst>
          </p:cNvPr>
          <p:cNvPicPr>
            <a:picLocks noChangeAspect="1"/>
          </p:cNvPicPr>
          <p:nvPr/>
        </p:nvPicPr>
        <p:blipFill>
          <a:blip r:embed="rId3"/>
          <a:stretch>
            <a:fillRect/>
          </a:stretch>
        </p:blipFill>
        <p:spPr>
          <a:xfrm>
            <a:off x="1199108" y="0"/>
            <a:ext cx="9373160" cy="6858000"/>
          </a:xfrm>
          <a:prstGeom prst="rect">
            <a:avLst/>
          </a:prstGeom>
        </p:spPr>
      </p:pic>
    </p:spTree>
    <p:extLst>
      <p:ext uri="{BB962C8B-B14F-4D97-AF65-F5344CB8AC3E}">
        <p14:creationId xmlns:p14="http://schemas.microsoft.com/office/powerpoint/2010/main" val="11930213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a:off x="838200" y="2766218"/>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dirty="0"/>
              <a:t>The pipeline after CI/CD Events</a:t>
            </a:r>
            <a:endParaRPr dirty="0"/>
          </a:p>
        </p:txBody>
      </p:sp>
    </p:spTree>
    <p:extLst>
      <p:ext uri="{BB962C8B-B14F-4D97-AF65-F5344CB8AC3E}">
        <p14:creationId xmlns:p14="http://schemas.microsoft.com/office/powerpoint/2010/main" val="2697000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3" name="Picture 2" descr="Graphical user interface, Teams&#10;&#10;Description automatically generated">
            <a:extLst>
              <a:ext uri="{FF2B5EF4-FFF2-40B4-BE49-F238E27FC236}">
                <a16:creationId xmlns:a16="http://schemas.microsoft.com/office/drawing/2014/main" id="{F7665CB5-4B43-3D78-2684-A91C3759A0C2}"/>
              </a:ext>
            </a:extLst>
          </p:cNvPr>
          <p:cNvPicPr>
            <a:picLocks noChangeAspect="1"/>
          </p:cNvPicPr>
          <p:nvPr/>
        </p:nvPicPr>
        <p:blipFill>
          <a:blip r:embed="rId3"/>
          <a:stretch>
            <a:fillRect/>
          </a:stretch>
        </p:blipFill>
        <p:spPr>
          <a:xfrm>
            <a:off x="-1" y="0"/>
            <a:ext cx="9625693" cy="6836941"/>
          </a:xfrm>
          <a:prstGeom prst="rect">
            <a:avLst/>
          </a:prstGeom>
        </p:spPr>
      </p:pic>
    </p:spTree>
    <p:extLst>
      <p:ext uri="{BB962C8B-B14F-4D97-AF65-F5344CB8AC3E}">
        <p14:creationId xmlns:p14="http://schemas.microsoft.com/office/powerpoint/2010/main" val="23639347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3" name="Picture 2" descr="A screenshot of a computer&#10;&#10;Description automatically generated with medium confidence">
            <a:extLst>
              <a:ext uri="{FF2B5EF4-FFF2-40B4-BE49-F238E27FC236}">
                <a16:creationId xmlns:a16="http://schemas.microsoft.com/office/drawing/2014/main" id="{4B088BC8-64DE-1B13-6AA7-8808FF7DF802}"/>
              </a:ext>
            </a:extLst>
          </p:cNvPr>
          <p:cNvPicPr>
            <a:picLocks noChangeAspect="1"/>
          </p:cNvPicPr>
          <p:nvPr/>
        </p:nvPicPr>
        <p:blipFill>
          <a:blip r:embed="rId3"/>
          <a:stretch>
            <a:fillRect/>
          </a:stretch>
        </p:blipFill>
        <p:spPr>
          <a:xfrm>
            <a:off x="472964" y="0"/>
            <a:ext cx="11488257" cy="6537434"/>
          </a:xfrm>
          <a:prstGeom prst="rect">
            <a:avLst/>
          </a:prstGeom>
        </p:spPr>
      </p:pic>
    </p:spTree>
    <p:extLst>
      <p:ext uri="{BB962C8B-B14F-4D97-AF65-F5344CB8AC3E}">
        <p14:creationId xmlns:p14="http://schemas.microsoft.com/office/powerpoint/2010/main" val="3269083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 name="Picture 6" descr="Graphical user interface&#10;&#10;Description automatically generated">
            <a:extLst>
              <a:ext uri="{FF2B5EF4-FFF2-40B4-BE49-F238E27FC236}">
                <a16:creationId xmlns:a16="http://schemas.microsoft.com/office/drawing/2014/main" id="{0738625F-70E0-9391-49F7-35E29E9A1309}"/>
              </a:ext>
            </a:extLst>
          </p:cNvPr>
          <p:cNvPicPr>
            <a:picLocks noChangeAspect="1"/>
          </p:cNvPicPr>
          <p:nvPr/>
        </p:nvPicPr>
        <p:blipFill>
          <a:blip r:embed="rId3"/>
          <a:stretch>
            <a:fillRect/>
          </a:stretch>
        </p:blipFill>
        <p:spPr>
          <a:xfrm>
            <a:off x="2209800" y="544"/>
            <a:ext cx="7772400" cy="6857456"/>
          </a:xfrm>
          <a:prstGeom prst="rect">
            <a:avLst/>
          </a:prstGeom>
        </p:spPr>
      </p:pic>
    </p:spTree>
    <p:extLst>
      <p:ext uri="{BB962C8B-B14F-4D97-AF65-F5344CB8AC3E}">
        <p14:creationId xmlns:p14="http://schemas.microsoft.com/office/powerpoint/2010/main" val="1046419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 name="Picture 6" descr="A screenshot of a computer&#10;&#10;Description automatically generated with low confidence">
            <a:extLst>
              <a:ext uri="{FF2B5EF4-FFF2-40B4-BE49-F238E27FC236}">
                <a16:creationId xmlns:a16="http://schemas.microsoft.com/office/drawing/2014/main" id="{CEA24135-2B5C-A298-A534-2F2401375ACD}"/>
              </a:ext>
            </a:extLst>
          </p:cNvPr>
          <p:cNvPicPr>
            <a:picLocks noChangeAspect="1"/>
          </p:cNvPicPr>
          <p:nvPr/>
        </p:nvPicPr>
        <p:blipFill>
          <a:blip r:embed="rId3"/>
          <a:stretch>
            <a:fillRect/>
          </a:stretch>
        </p:blipFill>
        <p:spPr>
          <a:xfrm>
            <a:off x="1033667" y="0"/>
            <a:ext cx="10580137" cy="6858000"/>
          </a:xfrm>
          <a:prstGeom prst="rect">
            <a:avLst/>
          </a:prstGeom>
        </p:spPr>
      </p:pic>
    </p:spTree>
    <p:extLst>
      <p:ext uri="{BB962C8B-B14F-4D97-AF65-F5344CB8AC3E}">
        <p14:creationId xmlns:p14="http://schemas.microsoft.com/office/powerpoint/2010/main" val="4075880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222D5-35D6-B263-199F-E356DF807072}"/>
              </a:ext>
            </a:extLst>
          </p:cNvPr>
          <p:cNvSpPr>
            <a:spLocks noGrp="1"/>
          </p:cNvSpPr>
          <p:nvPr>
            <p:ph type="title"/>
          </p:nvPr>
        </p:nvSpPr>
        <p:spPr/>
        <p:txBody>
          <a:bodyPr/>
          <a:lstStyle/>
          <a:p>
            <a:r>
              <a:rPr lang="en-US" dirty="0"/>
              <a:t>Lessons Learned</a:t>
            </a:r>
          </a:p>
        </p:txBody>
      </p:sp>
      <p:sp>
        <p:nvSpPr>
          <p:cNvPr id="3" name="Text Placeholder 2">
            <a:extLst>
              <a:ext uri="{FF2B5EF4-FFF2-40B4-BE49-F238E27FC236}">
                <a16:creationId xmlns:a16="http://schemas.microsoft.com/office/drawing/2014/main" id="{74333C74-CE14-8B74-41AE-2B39ECD50939}"/>
              </a:ext>
            </a:extLst>
          </p:cNvPr>
          <p:cNvSpPr>
            <a:spLocks noGrp="1"/>
          </p:cNvSpPr>
          <p:nvPr>
            <p:ph type="body" idx="1"/>
          </p:nvPr>
        </p:nvSpPr>
        <p:spPr>
          <a:xfrm>
            <a:off x="5800817" y="1825625"/>
            <a:ext cx="4053396" cy="4042515"/>
          </a:xfrm>
        </p:spPr>
        <p:txBody>
          <a:bodyPr>
            <a:normAutofit fontScale="92500" lnSpcReduction="20000"/>
          </a:bodyPr>
          <a:lstStyle/>
          <a:p>
            <a:pPr marL="228600" lvl="0" indent="-50800" algn="ctr" rtl="0">
              <a:spcBef>
                <a:spcPts val="0"/>
              </a:spcBef>
              <a:spcAft>
                <a:spcPts val="600"/>
              </a:spcAft>
              <a:buClr>
                <a:schemeClr val="dk1"/>
              </a:buClr>
              <a:buSzPts val="2800"/>
              <a:buNone/>
            </a:pPr>
            <a:r>
              <a:rPr lang="en-US" sz="2800" dirty="0"/>
              <a:t>JSON Schema</a:t>
            </a:r>
          </a:p>
          <a:p>
            <a:pPr marL="228600" lvl="0" indent="-50800" algn="ctr" rtl="0">
              <a:spcBef>
                <a:spcPts val="0"/>
              </a:spcBef>
              <a:spcAft>
                <a:spcPts val="600"/>
              </a:spcAft>
              <a:buClr>
                <a:schemeClr val="dk1"/>
              </a:buClr>
              <a:buSzPts val="2800"/>
              <a:buNone/>
            </a:pPr>
            <a:endParaRPr lang="en-US" sz="2800" dirty="0"/>
          </a:p>
          <a:p>
            <a:pPr marL="228600" lvl="0" indent="-50800" algn="ctr" rtl="0">
              <a:spcBef>
                <a:spcPts val="0"/>
              </a:spcBef>
              <a:spcAft>
                <a:spcPts val="600"/>
              </a:spcAft>
              <a:buClr>
                <a:schemeClr val="dk1"/>
              </a:buClr>
              <a:buSzPts val="2800"/>
              <a:buNone/>
            </a:pPr>
            <a:r>
              <a:rPr lang="en-US" sz="2800" dirty="0" err="1"/>
              <a:t>Xunit</a:t>
            </a:r>
            <a:r>
              <a:rPr lang="en-US" sz="2800" dirty="0"/>
              <a:t> Schema</a:t>
            </a:r>
          </a:p>
          <a:p>
            <a:pPr marL="228600" lvl="0" indent="-50800" algn="ctr" rtl="0">
              <a:spcBef>
                <a:spcPts val="0"/>
              </a:spcBef>
              <a:spcAft>
                <a:spcPts val="600"/>
              </a:spcAft>
              <a:buClr>
                <a:schemeClr val="dk1"/>
              </a:buClr>
              <a:buSzPts val="2800"/>
              <a:buNone/>
            </a:pPr>
            <a:endParaRPr lang="en-US" sz="2800" dirty="0"/>
          </a:p>
          <a:p>
            <a:pPr marL="228600" lvl="0" indent="-50800" algn="ctr" rtl="0">
              <a:spcBef>
                <a:spcPts val="0"/>
              </a:spcBef>
              <a:spcAft>
                <a:spcPts val="600"/>
              </a:spcAft>
              <a:buClr>
                <a:schemeClr val="dk1"/>
              </a:buClr>
              <a:buSzPts val="2800"/>
              <a:buNone/>
            </a:pPr>
            <a:r>
              <a:rPr lang="en-US" sz="2800" dirty="0"/>
              <a:t>Authentication (OIDC)</a:t>
            </a:r>
          </a:p>
          <a:p>
            <a:pPr marL="228600" lvl="0" indent="-50800" algn="ctr" rtl="0">
              <a:spcBef>
                <a:spcPts val="0"/>
              </a:spcBef>
              <a:spcAft>
                <a:spcPts val="600"/>
              </a:spcAft>
              <a:buClr>
                <a:schemeClr val="dk1"/>
              </a:buClr>
              <a:buSzPts val="2800"/>
              <a:buNone/>
            </a:pPr>
            <a:endParaRPr lang="en-US" sz="2800" dirty="0"/>
          </a:p>
          <a:p>
            <a:pPr marL="228600" lvl="0" indent="-50800" algn="ctr" rtl="0">
              <a:spcBef>
                <a:spcPts val="0"/>
              </a:spcBef>
              <a:spcAft>
                <a:spcPts val="600"/>
              </a:spcAft>
              <a:buClr>
                <a:schemeClr val="dk1"/>
              </a:buClr>
              <a:buSzPts val="2800"/>
              <a:buNone/>
            </a:pPr>
            <a:r>
              <a:rPr lang="en-US" sz="2800" dirty="0"/>
              <a:t>Guardrails</a:t>
            </a:r>
          </a:p>
          <a:p>
            <a:pPr marL="228600" lvl="0" indent="-50800" algn="ctr" rtl="0">
              <a:spcBef>
                <a:spcPts val="0"/>
              </a:spcBef>
              <a:spcAft>
                <a:spcPts val="600"/>
              </a:spcAft>
              <a:buClr>
                <a:schemeClr val="dk1"/>
              </a:buClr>
              <a:buSzPts val="2800"/>
              <a:buNone/>
            </a:pPr>
            <a:endParaRPr lang="en-US" sz="2800" dirty="0"/>
          </a:p>
          <a:p>
            <a:pPr marL="228600" lvl="0" indent="-50800" algn="ctr" rtl="0">
              <a:spcBef>
                <a:spcPts val="0"/>
              </a:spcBef>
              <a:spcAft>
                <a:spcPts val="600"/>
              </a:spcAft>
              <a:buClr>
                <a:schemeClr val="dk1"/>
              </a:buClr>
              <a:buSzPts val="2800"/>
              <a:buNone/>
            </a:pPr>
            <a:r>
              <a:rPr lang="en-US" sz="2800" dirty="0"/>
              <a:t>Watcher SDK</a:t>
            </a:r>
          </a:p>
          <a:p>
            <a:pPr marL="228600" lvl="0" indent="-50800" algn="ctr" rtl="0">
              <a:spcBef>
                <a:spcPts val="0"/>
              </a:spcBef>
              <a:spcAft>
                <a:spcPts val="600"/>
              </a:spcAft>
              <a:buClr>
                <a:schemeClr val="dk1"/>
              </a:buClr>
              <a:buSzPts val="2800"/>
              <a:buNone/>
            </a:pPr>
            <a:endParaRPr lang="en-US" sz="2800" dirty="0"/>
          </a:p>
          <a:p>
            <a:pPr marL="228600" lvl="0" indent="-50800" algn="ctr" rtl="0">
              <a:spcBef>
                <a:spcPts val="0"/>
              </a:spcBef>
              <a:spcAft>
                <a:spcPts val="600"/>
              </a:spcAft>
              <a:buClr>
                <a:schemeClr val="dk1"/>
              </a:buClr>
              <a:buSzPts val="2800"/>
              <a:buNone/>
            </a:pPr>
            <a:r>
              <a:rPr lang="en-US" sz="2800" dirty="0"/>
              <a:t>CNAB</a:t>
            </a:r>
          </a:p>
          <a:p>
            <a:pPr marL="228600" lvl="0" indent="-50800" algn="ctr" rtl="0">
              <a:spcBef>
                <a:spcPts val="0"/>
              </a:spcBef>
              <a:spcAft>
                <a:spcPts val="600"/>
              </a:spcAft>
              <a:buClr>
                <a:schemeClr val="dk1"/>
              </a:buClr>
              <a:buSzPts val="2800"/>
              <a:buNone/>
            </a:pPr>
            <a:endParaRPr lang="en-US" sz="2800" dirty="0"/>
          </a:p>
        </p:txBody>
      </p:sp>
      <p:sp>
        <p:nvSpPr>
          <p:cNvPr id="4" name="TextBox 3">
            <a:extLst>
              <a:ext uri="{FF2B5EF4-FFF2-40B4-BE49-F238E27FC236}">
                <a16:creationId xmlns:a16="http://schemas.microsoft.com/office/drawing/2014/main" id="{EE77DD95-9857-30AE-78F7-BB4F5039B86C}"/>
              </a:ext>
            </a:extLst>
          </p:cNvPr>
          <p:cNvSpPr txBox="1"/>
          <p:nvPr/>
        </p:nvSpPr>
        <p:spPr>
          <a:xfrm>
            <a:off x="838200" y="3210542"/>
            <a:ext cx="3870665" cy="769441"/>
          </a:xfrm>
          <a:prstGeom prst="rect">
            <a:avLst/>
          </a:prstGeom>
          <a:noFill/>
        </p:spPr>
        <p:txBody>
          <a:bodyPr wrap="square" rtlCol="0">
            <a:spAutoFit/>
          </a:bodyPr>
          <a:lstStyle/>
          <a:p>
            <a:pPr algn="ctr"/>
            <a:r>
              <a:rPr lang="en-US" sz="4400" dirty="0"/>
              <a:t>Observability</a:t>
            </a:r>
          </a:p>
        </p:txBody>
      </p:sp>
    </p:spTree>
    <p:extLst>
      <p:ext uri="{BB962C8B-B14F-4D97-AF65-F5344CB8AC3E}">
        <p14:creationId xmlns:p14="http://schemas.microsoft.com/office/powerpoint/2010/main" val="3049026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Had we only…</a:t>
            </a:r>
            <a:endParaRPr dirty="0"/>
          </a:p>
        </p:txBody>
      </p:sp>
      <p:sp>
        <p:nvSpPr>
          <p:cNvPr id="79" name="Google Shape;79;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ctr" rtl="0">
              <a:lnSpc>
                <a:spcPct val="90000"/>
              </a:lnSpc>
              <a:spcBef>
                <a:spcPts val="0"/>
              </a:spcBef>
              <a:spcAft>
                <a:spcPts val="0"/>
              </a:spcAft>
              <a:buClr>
                <a:schemeClr val="dk1"/>
              </a:buClr>
              <a:buSzPts val="2800"/>
              <a:buNone/>
            </a:pPr>
            <a:r>
              <a:rPr lang="en-US" dirty="0"/>
              <a:t>Cryptographic Signing of Receipts</a:t>
            </a:r>
          </a:p>
          <a:p>
            <a:pPr marL="228600" lvl="0" indent="-50800" algn="ctr" rtl="0">
              <a:lnSpc>
                <a:spcPct val="90000"/>
              </a:lnSpc>
              <a:spcBef>
                <a:spcPts val="0"/>
              </a:spcBef>
              <a:spcAft>
                <a:spcPts val="0"/>
              </a:spcAft>
              <a:buClr>
                <a:schemeClr val="dk1"/>
              </a:buClr>
              <a:buSzPts val="2800"/>
              <a:buNone/>
            </a:pPr>
            <a:endParaRPr lang="en-US" dirty="0"/>
          </a:p>
          <a:p>
            <a:pPr marL="228600" lvl="0" indent="-50800" algn="ctr" rtl="0">
              <a:lnSpc>
                <a:spcPct val="90000"/>
              </a:lnSpc>
              <a:spcBef>
                <a:spcPts val="0"/>
              </a:spcBef>
              <a:spcAft>
                <a:spcPts val="0"/>
              </a:spcAft>
              <a:buClr>
                <a:schemeClr val="dk1"/>
              </a:buClr>
              <a:buSzPts val="2800"/>
              <a:buNone/>
            </a:pPr>
            <a:r>
              <a:rPr lang="en-US" dirty="0"/>
              <a:t>RBAC Service</a:t>
            </a:r>
          </a:p>
          <a:p>
            <a:pPr marL="228600" lvl="0" indent="-50800" algn="ctr" rtl="0">
              <a:lnSpc>
                <a:spcPct val="90000"/>
              </a:lnSpc>
              <a:spcBef>
                <a:spcPts val="0"/>
              </a:spcBef>
              <a:spcAft>
                <a:spcPts val="0"/>
              </a:spcAft>
              <a:buClr>
                <a:schemeClr val="dk1"/>
              </a:buClr>
              <a:buSzPts val="2800"/>
              <a:buNone/>
            </a:pPr>
            <a:endParaRPr lang="en-US" dirty="0"/>
          </a:p>
          <a:p>
            <a:pPr marL="228600" lvl="0" indent="-50800" algn="ctr" rtl="0">
              <a:lnSpc>
                <a:spcPct val="90000"/>
              </a:lnSpc>
              <a:spcBef>
                <a:spcPts val="0"/>
              </a:spcBef>
              <a:spcAft>
                <a:spcPts val="0"/>
              </a:spcAft>
              <a:buClr>
                <a:schemeClr val="dk1"/>
              </a:buClr>
              <a:buSzPts val="2800"/>
              <a:buNone/>
            </a:pPr>
            <a:r>
              <a:rPr lang="en-US" dirty="0"/>
              <a:t>Observability</a:t>
            </a:r>
            <a:endParaRPr dirty="0"/>
          </a:p>
        </p:txBody>
      </p:sp>
    </p:spTree>
    <p:extLst>
      <p:ext uri="{BB962C8B-B14F-4D97-AF65-F5344CB8AC3E}">
        <p14:creationId xmlns:p14="http://schemas.microsoft.com/office/powerpoint/2010/main" val="2548040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7D03B-AB3B-8F4F-BCFD-9BB5B466D17C}"/>
              </a:ext>
            </a:extLst>
          </p:cNvPr>
          <p:cNvSpPr>
            <a:spLocks noGrp="1"/>
          </p:cNvSpPr>
          <p:nvPr>
            <p:ph type="title"/>
          </p:nvPr>
        </p:nvSpPr>
        <p:spPr/>
        <p:txBody>
          <a:bodyPr/>
          <a:lstStyle/>
          <a:p>
            <a:r>
              <a:rPr lang="en-US" dirty="0"/>
              <a:t>Things that went well</a:t>
            </a:r>
          </a:p>
        </p:txBody>
      </p:sp>
      <p:sp>
        <p:nvSpPr>
          <p:cNvPr id="3" name="Text Placeholder 2">
            <a:extLst>
              <a:ext uri="{FF2B5EF4-FFF2-40B4-BE49-F238E27FC236}">
                <a16:creationId xmlns:a16="http://schemas.microsoft.com/office/drawing/2014/main" id="{7AD2038A-74C5-10E9-9019-6033AF3A597E}"/>
              </a:ext>
            </a:extLst>
          </p:cNvPr>
          <p:cNvSpPr>
            <a:spLocks noGrp="1"/>
          </p:cNvSpPr>
          <p:nvPr>
            <p:ph type="body" idx="1"/>
          </p:nvPr>
        </p:nvSpPr>
        <p:spPr/>
        <p:txBody>
          <a:bodyPr/>
          <a:lstStyle/>
          <a:p>
            <a:pPr marL="114300" indent="0" algn="ctr">
              <a:buNone/>
            </a:pPr>
            <a:r>
              <a:rPr lang="en-US" dirty="0"/>
              <a:t>Speed</a:t>
            </a:r>
          </a:p>
          <a:p>
            <a:pPr marL="114300" indent="0" algn="ctr">
              <a:buNone/>
            </a:pPr>
            <a:r>
              <a:rPr lang="en-US" dirty="0"/>
              <a:t>Confidence</a:t>
            </a:r>
          </a:p>
          <a:p>
            <a:pPr marL="114300" indent="0" algn="ctr">
              <a:buNone/>
            </a:pPr>
            <a:r>
              <a:rPr lang="en-US" dirty="0"/>
              <a:t>Quality</a:t>
            </a:r>
          </a:p>
          <a:p>
            <a:pPr marL="114300" indent="0" algn="ctr">
              <a:buNone/>
            </a:pPr>
            <a:r>
              <a:rPr lang="en-US" dirty="0"/>
              <a:t>Security</a:t>
            </a:r>
          </a:p>
          <a:p>
            <a:pPr marL="114300" indent="0" algn="ctr">
              <a:buNone/>
            </a:pPr>
            <a:r>
              <a:rPr lang="en-US" dirty="0"/>
              <a:t>Extendibility</a:t>
            </a:r>
          </a:p>
        </p:txBody>
      </p:sp>
    </p:spTree>
    <p:extLst>
      <p:ext uri="{BB962C8B-B14F-4D97-AF65-F5344CB8AC3E}">
        <p14:creationId xmlns:p14="http://schemas.microsoft.com/office/powerpoint/2010/main" val="1269130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CD Foundation</a:t>
            </a:r>
            <a:endParaRPr dirty="0"/>
          </a:p>
        </p:txBody>
      </p:sp>
      <p:sp>
        <p:nvSpPr>
          <p:cNvPr id="79" name="Google Shape;79;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r>
              <a:rPr lang="en-US" dirty="0" err="1"/>
              <a:t>CDFoundation</a:t>
            </a:r>
            <a:endParaRPr lang="en-US" dirty="0"/>
          </a:p>
          <a:p>
            <a:pPr marL="228600" lvl="0" indent="-50800" algn="l" rtl="0">
              <a:lnSpc>
                <a:spcPct val="90000"/>
              </a:lnSpc>
              <a:spcBef>
                <a:spcPts val="0"/>
              </a:spcBef>
              <a:spcAft>
                <a:spcPts val="0"/>
              </a:spcAft>
              <a:buClr>
                <a:schemeClr val="dk1"/>
              </a:buClr>
              <a:buSzPts val="2800"/>
              <a:buNone/>
            </a:pPr>
            <a:r>
              <a:rPr lang="en-US" dirty="0">
                <a:hlinkClick r:id="rId3"/>
              </a:rPr>
              <a:t>https://cd.foundation</a:t>
            </a:r>
            <a:r>
              <a:rPr lang="en-US" dirty="0"/>
              <a:t> </a:t>
            </a:r>
          </a:p>
          <a:p>
            <a:pPr marL="228600" lvl="0" indent="-50800" algn="l" rtl="0">
              <a:lnSpc>
                <a:spcPct val="90000"/>
              </a:lnSpc>
              <a:spcBef>
                <a:spcPts val="0"/>
              </a:spcBef>
              <a:spcAft>
                <a:spcPts val="0"/>
              </a:spcAft>
              <a:buClr>
                <a:schemeClr val="dk1"/>
              </a:buClr>
              <a:buSzPts val="2800"/>
              <a:buNone/>
            </a:pPr>
            <a:endParaRPr lang="en-US" b="1" dirty="0"/>
          </a:p>
          <a:p>
            <a:pPr marL="228600" lvl="0" indent="-50800" algn="l" rtl="0">
              <a:lnSpc>
                <a:spcPct val="90000"/>
              </a:lnSpc>
              <a:spcBef>
                <a:spcPts val="0"/>
              </a:spcBef>
              <a:spcAft>
                <a:spcPts val="0"/>
              </a:spcAft>
              <a:buClr>
                <a:schemeClr val="dk1"/>
              </a:buClr>
              <a:buSzPts val="2800"/>
              <a:buNone/>
            </a:pPr>
            <a:r>
              <a:rPr lang="en-US" b="1" dirty="0" err="1"/>
              <a:t>cd</a:t>
            </a:r>
            <a:r>
              <a:rPr lang="en-US" dirty="0" err="1"/>
              <a:t>events</a:t>
            </a:r>
            <a:r>
              <a:rPr lang="en-US" dirty="0"/>
              <a:t> - A common specification for Continuous Delivery events</a:t>
            </a:r>
          </a:p>
          <a:p>
            <a:pPr marL="228600" lvl="0" indent="-50800" algn="l" rtl="0">
              <a:lnSpc>
                <a:spcPct val="90000"/>
              </a:lnSpc>
              <a:spcBef>
                <a:spcPts val="0"/>
              </a:spcBef>
              <a:spcAft>
                <a:spcPts val="0"/>
              </a:spcAft>
              <a:buClr>
                <a:schemeClr val="dk1"/>
              </a:buClr>
              <a:buSzPts val="2800"/>
              <a:buNone/>
            </a:pPr>
            <a:r>
              <a:rPr lang="en-US" dirty="0">
                <a:hlinkClick r:id="rId4"/>
              </a:rPr>
              <a:t>https://cdevents.dev</a:t>
            </a:r>
            <a:endParaRPr lang="en-US" dirty="0"/>
          </a:p>
          <a:p>
            <a:pPr marL="228600" lvl="0" indent="-50800" algn="l" rtl="0">
              <a:lnSpc>
                <a:spcPct val="90000"/>
              </a:lnSpc>
              <a:spcBef>
                <a:spcPts val="0"/>
              </a:spcBef>
              <a:spcAft>
                <a:spcPts val="0"/>
              </a:spcAft>
              <a:buClr>
                <a:schemeClr val="dk1"/>
              </a:buClr>
              <a:buSzPts val="2800"/>
              <a:buNone/>
            </a:pPr>
            <a:r>
              <a:rPr lang="en-US" dirty="0"/>
              <a:t> </a:t>
            </a:r>
          </a:p>
          <a:p>
            <a:pPr marL="228600" indent="-50800">
              <a:spcBef>
                <a:spcPts val="0"/>
              </a:spcBef>
              <a:buSzPts val="2800"/>
              <a:buNone/>
            </a:pPr>
            <a:r>
              <a:rPr lang="en-US" dirty="0"/>
              <a:t>SIG Events</a:t>
            </a:r>
          </a:p>
          <a:p>
            <a:pPr marL="228600" lvl="0" indent="-50800" algn="l" rtl="0">
              <a:lnSpc>
                <a:spcPct val="90000"/>
              </a:lnSpc>
              <a:spcBef>
                <a:spcPts val="0"/>
              </a:spcBef>
              <a:spcAft>
                <a:spcPts val="0"/>
              </a:spcAft>
              <a:buClr>
                <a:schemeClr val="dk1"/>
              </a:buClr>
              <a:buSzPts val="2800"/>
              <a:buNone/>
            </a:pPr>
            <a:r>
              <a:rPr lang="en-US" dirty="0">
                <a:hlinkClick r:id="rId5"/>
              </a:rPr>
              <a:t>https://github.com/cdfoundation/sig-events</a:t>
            </a:r>
            <a:r>
              <a:rPr lang="en-US" dirty="0"/>
              <a:t> </a:t>
            </a:r>
          </a:p>
          <a:p>
            <a:pPr marL="228600" lvl="0" indent="-50800" algn="l" rtl="0">
              <a:lnSpc>
                <a:spcPct val="90000"/>
              </a:lnSpc>
              <a:spcBef>
                <a:spcPts val="0"/>
              </a:spcBef>
              <a:spcAft>
                <a:spcPts val="0"/>
              </a:spcAft>
              <a:buClr>
                <a:schemeClr val="dk1"/>
              </a:buClr>
              <a:buSzPts val="2800"/>
              <a:buNone/>
            </a:pPr>
            <a:endParaRPr lang="en-US" dirty="0"/>
          </a:p>
          <a:p>
            <a:pPr marL="228600" lvl="0" indent="-50800" algn="l" rtl="0">
              <a:lnSpc>
                <a:spcPct val="90000"/>
              </a:lnSpc>
              <a:spcBef>
                <a:spcPts val="0"/>
              </a:spcBef>
              <a:spcAft>
                <a:spcPts val="0"/>
              </a:spcAft>
              <a:buClr>
                <a:schemeClr val="dk1"/>
              </a:buClr>
              <a:buSzPts val="2800"/>
              <a:buNone/>
            </a:pPr>
            <a:r>
              <a:rPr lang="en-US" dirty="0"/>
              <a:t>SIG Software Supply Chain</a:t>
            </a:r>
          </a:p>
          <a:p>
            <a:pPr marL="228600" lvl="0" indent="-50800" algn="l" rtl="0">
              <a:lnSpc>
                <a:spcPct val="90000"/>
              </a:lnSpc>
              <a:spcBef>
                <a:spcPts val="0"/>
              </a:spcBef>
              <a:spcAft>
                <a:spcPts val="0"/>
              </a:spcAft>
              <a:buClr>
                <a:schemeClr val="dk1"/>
              </a:buClr>
              <a:buSzPts val="2800"/>
              <a:buNone/>
            </a:pPr>
            <a:r>
              <a:rPr lang="en-US" dirty="0">
                <a:hlinkClick r:id="rId6"/>
              </a:rPr>
              <a:t>https://github.com/cdfoundation/sig-software-supply-chain</a:t>
            </a:r>
            <a:r>
              <a:rPr lang="en-US" dirty="0"/>
              <a:t> </a:t>
            </a:r>
          </a:p>
          <a:p>
            <a:pPr marL="228600" lvl="0" indent="-50800" algn="l" rtl="0">
              <a:lnSpc>
                <a:spcPct val="90000"/>
              </a:lnSpc>
              <a:spcBef>
                <a:spcPts val="0"/>
              </a:spcBef>
              <a:spcAft>
                <a:spcPts val="0"/>
              </a:spcAft>
              <a:buClr>
                <a:schemeClr val="dk1"/>
              </a:buClr>
              <a:buSzPts val="2800"/>
              <a:buNone/>
            </a:pPr>
            <a:endParaRPr lang="en-US" dirty="0"/>
          </a:p>
        </p:txBody>
      </p:sp>
      <p:sp>
        <p:nvSpPr>
          <p:cNvPr id="3" name="AutoShape 2" descr="CDEvents">
            <a:extLst>
              <a:ext uri="{FF2B5EF4-FFF2-40B4-BE49-F238E27FC236}">
                <a16:creationId xmlns:a16="http://schemas.microsoft.com/office/drawing/2014/main" id="{8D15CFE3-458D-10C3-8BB0-E602C9C5CD1C}"/>
              </a:ext>
            </a:extLst>
          </p:cNvPr>
          <p:cNvSpPr>
            <a:spLocks noChangeAspect="1" noChangeArrowheads="1"/>
          </p:cNvSpPr>
          <p:nvPr/>
        </p:nvSpPr>
        <p:spPr bwMode="auto">
          <a:xfrm>
            <a:off x="5943600" y="305684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1945756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AEBA647-EDB2-1A41-60A2-7DA4E5965891}"/>
              </a:ext>
            </a:extLst>
          </p:cNvPr>
          <p:cNvSpPr>
            <a:spLocks noGrp="1"/>
          </p:cNvSpPr>
          <p:nvPr>
            <p:ph type="body" idx="1"/>
          </p:nvPr>
        </p:nvSpPr>
        <p:spPr>
          <a:xfrm>
            <a:off x="1542392" y="529704"/>
            <a:ext cx="9882352" cy="5798591"/>
          </a:xfrm>
        </p:spPr>
        <p:txBody>
          <a:bodyPr>
            <a:normAutofit fontScale="92500" lnSpcReduction="20000"/>
          </a:bodyPr>
          <a:lstStyle/>
          <a:p>
            <a:r>
              <a:rPr lang="en-US" dirty="0"/>
              <a:t>Hope is not a strategy (truth)</a:t>
            </a:r>
          </a:p>
          <a:p>
            <a:r>
              <a:rPr lang="en-US" dirty="0"/>
              <a:t>Electric Sheep harmed (0)</a:t>
            </a:r>
          </a:p>
          <a:p>
            <a:r>
              <a:rPr lang="en-US" dirty="0"/>
              <a:t>Receipts, Gates, Stages (done)</a:t>
            </a:r>
          </a:p>
          <a:p>
            <a:r>
              <a:rPr lang="en-US" dirty="0"/>
              <a:t>Everything gets a receipt (mostly done)</a:t>
            </a:r>
          </a:p>
          <a:p>
            <a:r>
              <a:rPr lang="en-US" dirty="0"/>
              <a:t>Robots promote the units (done)</a:t>
            </a:r>
          </a:p>
          <a:p>
            <a:r>
              <a:rPr lang="en-US" dirty="0"/>
              <a:t>Letter to Deckard (written)</a:t>
            </a:r>
          </a:p>
          <a:p>
            <a:r>
              <a:rPr lang="en-US" dirty="0"/>
              <a:t>Automatic not just Automated (mostly done)</a:t>
            </a:r>
          </a:p>
          <a:p>
            <a:r>
              <a:rPr lang="en-US" dirty="0"/>
              <a:t>Reproduce actions from Receipts (not quite how I wanted but close)</a:t>
            </a:r>
          </a:p>
          <a:p>
            <a:r>
              <a:rPr lang="en-US" dirty="0"/>
              <a:t>Trace the lifecycle of </a:t>
            </a:r>
            <a:r>
              <a:rPr lang="en-US"/>
              <a:t>a binary </a:t>
            </a:r>
            <a:r>
              <a:rPr lang="en-US" dirty="0"/>
              <a:t>and how it got there (done)</a:t>
            </a:r>
          </a:p>
          <a:p>
            <a:r>
              <a:rPr lang="en-US" dirty="0"/>
              <a:t>Machine learning to Optimize (not yet)</a:t>
            </a:r>
          </a:p>
          <a:p>
            <a:r>
              <a:rPr lang="en-US" dirty="0"/>
              <a:t>Predictive test selection (not yet)</a:t>
            </a:r>
          </a:p>
          <a:p>
            <a:r>
              <a:rPr lang="en-US" dirty="0"/>
              <a:t>Deployment Risk Prediction (not yet)</a:t>
            </a:r>
          </a:p>
          <a:p>
            <a:r>
              <a:rPr lang="en-US" dirty="0"/>
              <a:t>Afraid of robots (true)</a:t>
            </a:r>
          </a:p>
          <a:p>
            <a:endParaRPr lang="en-US" dirty="0"/>
          </a:p>
        </p:txBody>
      </p:sp>
    </p:spTree>
    <p:extLst>
      <p:ext uri="{BB962C8B-B14F-4D97-AF65-F5344CB8AC3E}">
        <p14:creationId xmlns:p14="http://schemas.microsoft.com/office/powerpoint/2010/main" val="4603044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dirty="0"/>
              <a:t>I am </a:t>
            </a:r>
            <a:r>
              <a:rPr lang="en-US" dirty="0" err="1"/>
              <a:t>Smitty</a:t>
            </a:r>
            <a:r>
              <a:rPr lang="en-US" dirty="0"/>
              <a:t> and I am afraid of Robots</a:t>
            </a:r>
            <a:endParaRPr dirty="0"/>
          </a:p>
        </p:txBody>
      </p:sp>
      <p:sp>
        <p:nvSpPr>
          <p:cNvPr id="80" name="Google Shape;80;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indent="0" algn="ctr">
              <a:spcBef>
                <a:spcPts val="0"/>
              </a:spcBef>
              <a:buNone/>
            </a:pPr>
            <a:r>
              <a:rPr lang="en-US" sz="4000" dirty="0"/>
              <a:t>Brett Smith</a:t>
            </a:r>
          </a:p>
          <a:p>
            <a:pPr marL="0" lvl="0" indent="0" algn="ctr" rtl="0">
              <a:lnSpc>
                <a:spcPct val="90000"/>
              </a:lnSpc>
              <a:spcBef>
                <a:spcPts val="0"/>
              </a:spcBef>
              <a:spcAft>
                <a:spcPts val="0"/>
              </a:spcAft>
              <a:buClr>
                <a:schemeClr val="dk1"/>
              </a:buClr>
              <a:buSzPts val="2400"/>
              <a:buNone/>
            </a:pPr>
            <a:r>
              <a:rPr lang="en-US" sz="4000" dirty="0" err="1"/>
              <a:t>xbcsmith@gmail.com</a:t>
            </a:r>
            <a:endParaRPr lang="en-US" sz="4000" dirty="0"/>
          </a:p>
          <a:p>
            <a:pPr marL="228600" lvl="0" indent="-50800" algn="ctr" rtl="0">
              <a:lnSpc>
                <a:spcPct val="90000"/>
              </a:lnSpc>
              <a:spcBef>
                <a:spcPts val="0"/>
              </a:spcBef>
              <a:spcAft>
                <a:spcPts val="0"/>
              </a:spcAft>
              <a:buClr>
                <a:schemeClr val="dk1"/>
              </a:buClr>
              <a:buSzPts val="2800"/>
              <a:buNone/>
            </a:pPr>
            <a:endParaRPr sz="4400" dirty="0"/>
          </a:p>
        </p:txBody>
      </p:sp>
      <p:pic>
        <p:nvPicPr>
          <p:cNvPr id="2" name="Picture 1" descr="Icon&#10;&#10;Description automatically generated">
            <a:extLst>
              <a:ext uri="{FF2B5EF4-FFF2-40B4-BE49-F238E27FC236}">
                <a16:creationId xmlns:a16="http://schemas.microsoft.com/office/drawing/2014/main" id="{8F045A37-9C4A-C491-4DEB-289783A4E5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3446" y="3708740"/>
            <a:ext cx="585107" cy="585107"/>
          </a:xfrm>
          <a:prstGeom prst="rect">
            <a:avLst/>
          </a:prstGeom>
        </p:spPr>
      </p:pic>
    </p:spTree>
    <p:extLst>
      <p:ext uri="{BB962C8B-B14F-4D97-AF65-F5344CB8AC3E}">
        <p14:creationId xmlns:p14="http://schemas.microsoft.com/office/powerpoint/2010/main" val="1854285000"/>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12984</TotalTime>
  <Words>4296</Words>
  <Application>Microsoft Macintosh PowerPoint</Application>
  <PresentationFormat>Widescreen</PresentationFormat>
  <Paragraphs>270</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Calibri Light</vt:lpstr>
      <vt:lpstr>Arial</vt:lpstr>
      <vt:lpstr>Calibri</vt:lpstr>
      <vt:lpstr>Montserrat</vt:lpstr>
      <vt:lpstr>Menlo</vt:lpstr>
      <vt:lpstr>Office Theme</vt:lpstr>
      <vt:lpstr>Event Driven CI/CD Pipelines</vt:lpstr>
      <vt:lpstr>The Software Supply Chain</vt:lpstr>
      <vt:lpstr>The pipeline produces…</vt:lpstr>
      <vt:lpstr>The pipeline before CI/CD Events</vt:lpstr>
      <vt:lpstr>PowerPoint Presentation</vt:lpstr>
      <vt:lpstr>PowerPoint Presentation</vt:lpstr>
      <vt:lpstr>Why Event Driven CI/CD?</vt:lpstr>
      <vt:lpstr>The Audit Trail and Gating</vt:lpstr>
      <vt:lpstr>PowerPoint Presentation</vt:lpstr>
      <vt:lpstr>PowerPoint Presentation</vt:lpstr>
      <vt:lpstr>PowerPoint Presentation</vt:lpstr>
      <vt:lpstr>The pipeline after CI/CD Events</vt:lpstr>
      <vt:lpstr>PowerPoint Presentation</vt:lpstr>
      <vt:lpstr>PowerPoint Presentation</vt:lpstr>
      <vt:lpstr>PowerPoint Presentation</vt:lpstr>
      <vt:lpstr>PowerPoint Presentation</vt:lpstr>
      <vt:lpstr>Lessons Learned</vt:lpstr>
      <vt:lpstr>Had we only…</vt:lpstr>
      <vt:lpstr>Things that went well</vt:lpstr>
      <vt:lpstr>CD Foundation</vt:lpstr>
      <vt:lpstr>PowerPoint Presentation</vt:lpstr>
      <vt:lpstr>I am Smitty and I am afraid of Robots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Microsoft Office User</cp:lastModifiedBy>
  <cp:revision>13</cp:revision>
  <dcterms:modified xsi:type="dcterms:W3CDTF">2023-04-11T14:53:10Z</dcterms:modified>
</cp:coreProperties>
</file>