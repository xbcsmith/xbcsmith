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6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Montserrat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2"/>
    <p:restoredTop sz="78848"/>
  </p:normalViewPr>
  <p:slideViewPr>
    <p:cSldViewPr snapToGrid="0">
      <p:cViewPr varScale="1">
        <p:scale>
          <a:sx n="124" d="100"/>
          <a:sy n="124" d="100"/>
        </p:scale>
        <p:origin x="1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Continuous Integration, Continuous Testing, Continuous Deployments, Continuous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Delivery...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I am going to need an army of robots.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And I hope they don't run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amuck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158750" indent="0">
              <a:buNone/>
            </a:pPr>
            <a:br>
              <a:rPr lang="en-US" b="0" dirty="0">
                <a:solidFill>
                  <a:srgbClr val="C0C5CE"/>
                </a:solidFill>
                <a:effectLst/>
                <a:latin typeface="Menlo" panose="020B0609030804020204" pitchFamily="49" charset="0"/>
              </a:rPr>
            </a:br>
            <a:endParaRPr lang="en-US" b="0" dirty="0">
              <a:solidFill>
                <a:srgbClr val="C0C5CE"/>
              </a:solidFill>
              <a:effectLst/>
              <a:latin typeface="Menl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Hope is not a strategy.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cannot hope the robots do the right thing.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can not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hope the robots don't chase my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80CBC4"/>
                </a:solidFill>
                <a:effectLst/>
                <a:latin typeface="+mn-lt"/>
              </a:rPr>
              <a:t>Electric Sheep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need a strategy.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158750" indent="0">
              <a:buNone/>
            </a:pPr>
            <a:br>
              <a:rPr lang="en-US" b="0" dirty="0">
                <a:solidFill>
                  <a:srgbClr val="C0C5CE"/>
                </a:solidFill>
                <a:effectLst/>
                <a:latin typeface="+mn-lt"/>
              </a:rPr>
            </a:b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Why?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Because Continuous Delivery at scale is hard.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Continuous anything at large companies is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going to be difficult.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What do we do about this new world?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 future is automatic.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Automation will not be enough.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I need the developers to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check out code.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Make their changes.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Submit their pull requests.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2227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Just Commit.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And the robots do the work.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158750" indent="0">
              <a:buNone/>
            </a:pPr>
            <a:br>
              <a:rPr lang="en-US" b="0" dirty="0">
                <a:solidFill>
                  <a:srgbClr val="C0C5CE"/>
                </a:solidFill>
                <a:effectLst/>
                <a:latin typeface="+mn-lt"/>
              </a:rPr>
            </a:b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How can we accomplish this?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I have a few ideas.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5356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What if we create receipts for the actions we automate?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What if receipts payloads follow a spec?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What if the receipts have all the metadata collected from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 actions?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5218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create receipts for Builds, Unit tests, Component Test, System Integration,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Regression Tests, Staging.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Everything gets a receipt.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What do we do with all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these receipts?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9029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collect all the receipts.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tie them to gates.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collect,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validate and store the receipts.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What do all these receipts do?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1586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Receipts check the box.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 box is the gate.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5655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What if we use the receipts to satisfy gates and trigger the next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steps in the pipeline?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 receipts satisfy the gates.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 gates enable flow through the pipeline.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158750" indent="0">
              <a:buNone/>
            </a:pPr>
            <a:br>
              <a:rPr lang="en-US" b="0" dirty="0">
                <a:solidFill>
                  <a:srgbClr val="C0C5CE"/>
                </a:solidFill>
                <a:effectLst/>
                <a:latin typeface="Menlo" panose="020B0609030804020204" pitchFamily="49" charset="0"/>
              </a:rPr>
            </a:br>
            <a:endParaRPr lang="en-US" b="0" dirty="0">
              <a:solidFill>
                <a:srgbClr val="C0C5CE"/>
              </a:solidFill>
              <a:effectLst/>
              <a:latin typeface="Menl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3901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 watchers are listening for events.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emit a message to the watchers.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watcher hears the message it queries the gates for the receipts.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It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validates the gate is satisfied.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0371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 robots promote the unit.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ship by readiness.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This is my letter to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FF5370"/>
                </a:solidFill>
                <a:effectLst/>
                <a:latin typeface="+mn-lt"/>
              </a:rPr>
              <a:t>Deckard</a:t>
            </a:r>
          </a:p>
          <a:p>
            <a:pPr marL="158750" indent="0">
              <a:buNone/>
            </a:pPr>
            <a:endParaRPr lang="en-US" b="0" dirty="0">
              <a:solidFill>
                <a:srgbClr val="FF5370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Automatic not just Automated. Because automation is not enough.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158750" indent="0">
              <a:buNone/>
            </a:pPr>
            <a:br>
              <a:rPr lang="en-US" b="0" dirty="0">
                <a:solidFill>
                  <a:srgbClr val="C0C5CE"/>
                </a:solidFill>
                <a:effectLst/>
                <a:latin typeface="Menlo" panose="020B0609030804020204" pitchFamily="49" charset="0"/>
              </a:rPr>
            </a:br>
            <a:endParaRPr lang="en-US" b="0" dirty="0">
              <a:solidFill>
                <a:srgbClr val="C0C5CE"/>
              </a:solidFill>
              <a:effectLst/>
              <a:latin typeface="Menlo" panose="020B0609030804020204" pitchFamily="49" charset="0"/>
            </a:endParaRPr>
          </a:p>
          <a:p>
            <a:pPr marL="158750" indent="0">
              <a:buNone/>
            </a:pPr>
            <a:endParaRPr lang="en-US" b="0" dirty="0">
              <a:solidFill>
                <a:srgbClr val="C0C5CE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2084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What value do we get from all the receipts and gates?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158750" indent="0">
              <a:buNone/>
            </a:pPr>
            <a:br>
              <a:rPr lang="en-US" b="0" dirty="0">
                <a:solidFill>
                  <a:srgbClr val="C0C5CE"/>
                </a:solidFill>
                <a:effectLst/>
                <a:latin typeface="+mn-lt"/>
              </a:rPr>
            </a:b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I can trace the lifecycle of source to a binary running in production.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3465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So, when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they find a bug I can trace how it got there. Once I trace how it got there...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158750" indent="0">
              <a:buNone/>
            </a:pPr>
            <a:br>
              <a:rPr lang="en-US" b="0" dirty="0">
                <a:solidFill>
                  <a:srgbClr val="C0C5CE"/>
                </a:solidFill>
                <a:effectLst/>
                <a:latin typeface="+mn-lt"/>
              </a:rPr>
            </a:br>
            <a:endParaRPr dirty="0">
              <a:latin typeface="+mn-lt"/>
            </a:endParaRPr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703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I can reproduce the actions for the things the automation did with the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receipts...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2305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use machine learning to Optimize.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make our tests better, we make our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deployments better, we make everything faster.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9010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do predictive test selection so when a Developer changes the README I don’t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run six hours of regression tests.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I run the README test.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6617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do Deployment Risk Prediction.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Automation does 40,000 deployments a year.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10,000 of them fail.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We use that data to flag source that is risky for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deployments and come up with another plan.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116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This is the event driven asynchronous pipeline. </a:t>
            </a:r>
          </a:p>
          <a:p>
            <a:pPr marL="158750" indent="0">
              <a:buNone/>
            </a:pPr>
            <a:endParaRPr lang="en-US" b="0" dirty="0">
              <a:solidFill>
                <a:srgbClr val="CDD3DE"/>
              </a:solidFill>
              <a:effectLst/>
              <a:latin typeface="+mn-lt"/>
            </a:endParaRPr>
          </a:p>
          <a:p>
            <a:pPr marL="158750" indent="0">
              <a:buNone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I like to refer to It is a</a:t>
            </a:r>
            <a:r>
              <a:rPr lang="en-US" b="0" dirty="0">
                <a:solidFill>
                  <a:srgbClr val="C0C5CE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series of bad decisions wrapped in go.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423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I am </a:t>
            </a:r>
            <a:r>
              <a:rPr lang="en-US" b="0" dirty="0" err="1">
                <a:solidFill>
                  <a:srgbClr val="CDD3DE"/>
                </a:solidFill>
                <a:effectLst/>
                <a:latin typeface="+mn-lt"/>
              </a:rPr>
              <a:t>Smitty</a:t>
            </a:r>
            <a:r>
              <a:rPr lang="en-US" b="0" dirty="0">
                <a:solidFill>
                  <a:srgbClr val="CDD3DE"/>
                </a:solidFill>
                <a:effectLst/>
                <a:latin typeface="+mn-lt"/>
              </a:rPr>
              <a:t> and I am afraid of robots.</a:t>
            </a:r>
            <a:endParaRPr lang="en-US" b="0" dirty="0">
              <a:solidFill>
                <a:srgbClr val="C0C5CE"/>
              </a:solidFill>
              <a:effectLst/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817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13638" y="2230319"/>
            <a:ext cx="1997801" cy="119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93552" y="3219994"/>
            <a:ext cx="2912086" cy="174725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0" i="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ctr">
              <a:spcBef>
                <a:spcPts val="0"/>
              </a:spcBef>
              <a:buNone/>
              <a:defRPr sz="1400" b="0" i="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ctr">
              <a:spcBef>
                <a:spcPts val="0"/>
              </a:spcBef>
              <a:buNone/>
              <a:defRPr sz="1400" b="0" i="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ctr">
              <a:spcBef>
                <a:spcPts val="0"/>
              </a:spcBef>
              <a:buNone/>
              <a:defRPr sz="1400" b="0" i="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ctr">
              <a:spcBef>
                <a:spcPts val="0"/>
              </a:spcBef>
              <a:buNone/>
              <a:defRPr sz="1400" b="0" i="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ctr">
              <a:spcBef>
                <a:spcPts val="0"/>
              </a:spcBef>
              <a:buNone/>
              <a:defRPr sz="1400" b="0" i="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ctr">
              <a:spcBef>
                <a:spcPts val="0"/>
              </a:spcBef>
              <a:buNone/>
              <a:defRPr sz="1400" b="0" i="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ctr">
              <a:spcBef>
                <a:spcPts val="0"/>
              </a:spcBef>
              <a:buNone/>
              <a:defRPr sz="1400" b="0" i="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ctr">
              <a:spcBef>
                <a:spcPts val="0"/>
              </a:spcBef>
              <a:buNone/>
              <a:defRPr sz="1400" b="0" i="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#DevOpsDays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1" descr="A picture containing gear, transport, wheel, metalwar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39349" y="-690875"/>
            <a:ext cx="3791471" cy="2274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 descr="A picture containing gear, transport, wheel, metalwar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448321" y="5349562"/>
            <a:ext cx="4573042" cy="27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724400" y="63239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0166683" y="6384587"/>
            <a:ext cx="19771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@DevOpsDaysRDU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" name="Google Shape;12;p1" descr="A picture containing logo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27656" y="4998368"/>
            <a:ext cx="1255242" cy="132556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Event Driven CI/CD Pipelines</a:t>
            </a:r>
            <a:br>
              <a:rPr lang="en-US" dirty="0"/>
            </a:br>
            <a:r>
              <a:rPr lang="en-US" dirty="0"/>
              <a:t>with an Audit Trail</a:t>
            </a:r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8977162" cy="251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Enable Asynchronous CD without Skynet happening</a:t>
            </a:r>
          </a:p>
          <a:p>
            <a:pPr marL="0" indent="0"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</a:pPr>
            <a:r>
              <a:rPr lang="en-US" dirty="0"/>
              <a:t>Brett Smith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err="1"/>
              <a:t>xbcsmith@gmail.com</a:t>
            </a:r>
            <a:endParaRPr dirty="0"/>
          </a:p>
        </p:txBody>
      </p:sp>
      <p:sp>
        <p:nvSpPr>
          <p:cNvPr id="68" name="Google Shape;68;p10"/>
          <p:cNvSpPr txBox="1"/>
          <p:nvPr/>
        </p:nvSpPr>
        <p:spPr>
          <a:xfrm>
            <a:off x="421341" y="519953"/>
            <a:ext cx="49036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This is the Ignite Auto-Advancing Template</a:t>
            </a:r>
            <a:endParaRPr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81613B73-E4EA-BFBD-2F55-07418CC89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246" y="4569297"/>
            <a:ext cx="585107" cy="585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Strategy</a:t>
            </a:r>
            <a:endParaRPr dirty="0"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ctr">
              <a:buNone/>
            </a:pPr>
            <a:r>
              <a:rPr lang="en-US" sz="4000" dirty="0"/>
              <a:t>Hope is not a strategy.</a:t>
            </a:r>
          </a:p>
          <a:p>
            <a:pPr marL="114300" indent="0" algn="ctr">
              <a:buNone/>
            </a:pPr>
            <a:r>
              <a:rPr lang="en-US" dirty="0"/>
              <a:t>		-- The SRE --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1EBCA1-48B3-335F-49CB-43117B40D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85973"/>
            <a:ext cx="4215161" cy="23136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Truth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50800" algn="ctr">
              <a:spcBef>
                <a:spcPts val="0"/>
              </a:spcBef>
              <a:buSzPts val="2800"/>
              <a:buNone/>
            </a:pPr>
            <a:r>
              <a:rPr lang="en-US" sz="4400" dirty="0"/>
              <a:t>Continuous Delivery at scale is Hard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20D570-ADA8-1583-4FF4-D0D7F4ECD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657" y="2819580"/>
            <a:ext cx="4775426" cy="28652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Truth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The Future is Automatic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94620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gitOps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#</a:t>
            </a:r>
            <a:r>
              <a:rPr lang="en-US" sz="4400" dirty="0" err="1"/>
              <a:t>JustCommit</a:t>
            </a:r>
            <a:endParaRPr sz="4400" dirty="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B3E42632-AEC3-DBB2-444C-A5889466A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079" y="3643897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9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Idea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50800" algn="ctr">
              <a:spcBef>
                <a:spcPts val="0"/>
              </a:spcBef>
              <a:buSzPts val="2800"/>
              <a:buNone/>
            </a:pPr>
            <a:r>
              <a:rPr lang="en-US" sz="4400" dirty="0"/>
              <a:t>Create receipts for Actions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129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Idea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3467100" y="1690688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4400" dirty="0"/>
              <a:t>Dev (Build/Unit test)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4400" dirty="0"/>
              <a:t>Component Test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4400" dirty="0"/>
              <a:t>System Integration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4400" dirty="0"/>
              <a:t>Regression test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4400" dirty="0"/>
              <a:t>Staging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811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Idea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Collect Receipts for Actions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698649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Idea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Receipts satisfy Gates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242346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Idea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Gates produce Events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762184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Idea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Query the Gates for Receipts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2377148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Idea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Automatic not just Automated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2495450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Value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Reduce Engineering Forensics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489466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Value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Map Dev Source to Prod Binary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353605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Value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Reproduce Actions with a Receipt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656478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Future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Machine Learning to Optimize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788222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Future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Predictive Test Selection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241934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Future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 dirty="0"/>
              <a:t>Deployment Risk Prediction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646259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1E11272F-9C09-38A6-5CCE-AB9141275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72" y="0"/>
            <a:ext cx="11749261" cy="668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55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 am </a:t>
            </a:r>
            <a:r>
              <a:rPr lang="en-US" dirty="0" err="1"/>
              <a:t>Smitty</a:t>
            </a:r>
            <a:r>
              <a:rPr lang="en-US" dirty="0"/>
              <a:t> and I am afraid of Robots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000" dirty="0"/>
              <a:t>Brett Smith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4000" dirty="0" err="1"/>
              <a:t>xbcsmith@gmail.com</a:t>
            </a:r>
            <a:endParaRPr lang="en-US" sz="4000" dirty="0"/>
          </a:p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400" dirty="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8F045A37-9C4A-C491-4DEB-289783A4E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446" y="3708740"/>
            <a:ext cx="585107" cy="58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85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10189</TotalTime>
  <Words>685</Words>
  <Application>Microsoft Macintosh PowerPoint</Application>
  <PresentationFormat>Widescreen</PresentationFormat>
  <Paragraphs>146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Montserrat</vt:lpstr>
      <vt:lpstr>Wingdings</vt:lpstr>
      <vt:lpstr>Arial</vt:lpstr>
      <vt:lpstr>Menlo</vt:lpstr>
      <vt:lpstr>Office Theme</vt:lpstr>
      <vt:lpstr>Event Driven CI/CD Pipelines with an Audit Trail</vt:lpstr>
      <vt:lpstr>Strategy</vt:lpstr>
      <vt:lpstr>Truth</vt:lpstr>
      <vt:lpstr>Truth</vt:lpstr>
      <vt:lpstr>gitOps</vt:lpstr>
      <vt:lpstr>Idea</vt:lpstr>
      <vt:lpstr>Idea</vt:lpstr>
      <vt:lpstr>Idea</vt:lpstr>
      <vt:lpstr>Idea</vt:lpstr>
      <vt:lpstr>Idea</vt:lpstr>
      <vt:lpstr>Idea</vt:lpstr>
      <vt:lpstr>Idea</vt:lpstr>
      <vt:lpstr>Value</vt:lpstr>
      <vt:lpstr>Value</vt:lpstr>
      <vt:lpstr>Value</vt:lpstr>
      <vt:lpstr>Future</vt:lpstr>
      <vt:lpstr>Future</vt:lpstr>
      <vt:lpstr>Future</vt:lpstr>
      <vt:lpstr>PowerPoint Presentation</vt:lpstr>
      <vt:lpstr>I am Smitty and I am afraid of Robots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4</cp:revision>
  <dcterms:modified xsi:type="dcterms:W3CDTF">2023-04-03T17:10:06Z</dcterms:modified>
</cp:coreProperties>
</file>